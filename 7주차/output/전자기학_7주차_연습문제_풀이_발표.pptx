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7주차 연습문제 세트(P1–P8)를 1부에서 출제하고 2부에서 풀이한다. 도식은 접지 평면과 영상전하를 예고한다.</a:t>
            </a:r>
          </a:p>
          <a:p/>
          <a:p>
            <a:r>
              <a:t>[Sources]</a:t>
            </a:r>
          </a:p>
          <a:p>
            <a:r>
              <a:t>- Griffiths, Introduction to Electrodynamics, 4e, §3.1–§3.3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시간 운영: 1부의 문제 화면을 띄워 두고 학생이 먼저 풀게 한 뒤 2부 풀이로 넘어간다. 진공의 유전율은 ε₀.</a:t>
            </a:r>
          </a:p>
          <a:p/>
          <a:p>
            <a:r>
              <a:t>[Sources]</a:t>
            </a:r>
          </a:p>
          <a:p>
            <a:r>
              <a:t>- Griffiths, Introduction to Electrodynamics, 4e, §3.1–§3.3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 출제 구간. 각 문제 화면에는 완전한 문제 문장을 싣는다.</a:t>
            </a:r>
          </a:p>
          <a:p/>
          <a:p>
            <a:r>
              <a:t>[Sources]</a:t>
            </a:r>
          </a:p>
          <a:p>
            <a:r>
              <a:t>- Griffiths, Introduction to Electrodynamics, 4e, §3.1–§3.3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출제 화면. 학생이 먼저 실제 영역과 경계조건을 적도록 안내한다.</a:t>
            </a:r>
          </a:p>
          <a:p/>
          <a:p>
            <a:r>
              <a:t>[Sources]</a:t>
            </a:r>
          </a:p>
          <a:p>
            <a:r>
              <a:t>- Griffiths, Introduction to Electrodynamics, 4e, §3.1, §3.2.1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 출제 화면. 학생이 먼저 실제 영역과 경계조건을 적도록 안내한다.</a:t>
            </a:r>
          </a:p>
          <a:p/>
          <a:p>
            <a:r>
              <a:t>[Equation source]</a:t>
            </a:r>
          </a:p>
          <a:p>
            <a:r>
              <a:t>- \sigma(\rho)=-\epsilon_0\left.\frac{\partial V}{\partial z}\right|_{z=0^+}</a:t>
            </a:r>
          </a:p>
          <a:p>
            <a:r>
              <a:t>- Q_{\rm ind}=\int_0^\infty\sigma(\rho)\,2\pi\rho\,\mathrm d\rho</a:t>
            </a:r>
          </a:p>
          <a:p/>
          <a:p>
            <a:r>
              <a:t>[Sources]</a:t>
            </a:r>
          </a:p>
          <a:p>
            <a:r>
              <a:t>- Griffiths, Introduction to Electrodynamics, 4e, §3.2.1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 출제 화면. 학생이 먼저 실제 영역과 경계조건을 적도록 안내한다.</a:t>
            </a:r>
          </a:p>
          <a:p/>
          <a:p>
            <a:r>
              <a:t>[Sources]</a:t>
            </a:r>
          </a:p>
          <a:p>
            <a:r>
              <a:t>- Griffiths, Introduction to Electrodynamics, 4e, §3.2.1, §3.2.3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 출제 화면. 학생이 먼저 실제 영역과 경계조건을 적도록 안내한다.</a:t>
            </a:r>
          </a:p>
          <a:p/>
          <a:p>
            <a:r>
              <a:t>[Sources]</a:t>
            </a:r>
          </a:p>
          <a:p>
            <a:r>
              <a:t>- Griffiths, Introduction to Electrodynamics, 4e, §3.2.2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 출제 화면. 학생이 먼저 실제 영역과 경계조건을 적도록 안내한다.</a:t>
            </a:r>
          </a:p>
          <a:p/>
          <a:p>
            <a:r>
              <a:t>[Sources]</a:t>
            </a:r>
          </a:p>
          <a:p>
            <a:r>
              <a:t>- Griffiths, Introduction to Electrodynamics, 4e, §3.2.2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P6 출제 화면. 학생이 먼저 실제 영역과 경계조건을 적도록 안내한다.</a:t>
            </a:r>
          </a:p>
          <a:p/>
          <a:p>
            <a:r>
              <a:t>[Equation source]</a:t>
            </a:r>
          </a:p>
          <a:p>
            <a:r>
              <a:t>- V(0,y)=V(x,0)=V(x,a)=0,\qquad V(b,y)=V_0\sin\frac{\pi y}{a}</a:t>
            </a:r>
          </a:p>
          <a:p/>
          <a:p>
            <a:r>
              <a:t>[Sources]</a:t>
            </a:r>
          </a:p>
          <a:p>
            <a:r>
              <a:t>- Griffiths, Introduction to Electrodynamics, 4e, §3.3.1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P7 출제 화면. 학생이 먼저 실제 영역과 경계조건을 적도록 안내한다.</a:t>
            </a:r>
          </a:p>
          <a:p/>
          <a:p>
            <a:r>
              <a:t>[Sources]</a:t>
            </a:r>
          </a:p>
          <a:p>
            <a:r>
              <a:t>- Griffiths, Introduction to Electrodynamics, 4e, §3.3.1, Example 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P8 출제 화면. 학생이 먼저 실제 영역과 경계조건을 적도록 안내한다.</a:t>
            </a:r>
          </a:p>
          <a:p/>
          <a:p>
            <a:r>
              <a:t>[Sources]</a:t>
            </a:r>
          </a:p>
          <a:p>
            <a:r>
              <a:t>- Griffiths, Introduction to Electrodynamics, 4e, §3.3.2, Example 3.6–3.7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풀이 공개 구간. 각 장표는 상단 핵심식, 중앙 단계, 하단 결과 순서로 읽는다.</a:t>
            </a:r>
          </a:p>
          <a:p/>
          <a:p>
            <a:r>
              <a:t>[Sources]</a:t>
            </a:r>
          </a:p>
          <a:p>
            <a:r>
              <a:t>- Griffiths, Introduction to Electrodynamics, 4e, §3.1–§3.3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영상전하는 실제 영역 밖(z&lt;0)에 있으므로 z&gt;0의 전하분포를 바꾸지 않는다. 평면의 모든 점은 두 전하에서 같은 거리에 있다.</a:t>
            </a:r>
          </a:p>
          <a:p/>
          <a:p>
            <a:r>
              <a:t>[Equation source]</a:t>
            </a:r>
          </a:p>
          <a:p>
            <a:r>
              <a:t>- \sqrt{\rho^2+a^2}\;=\;\sqrt{\rho^2+(-a)^2}</a:t>
            </a:r>
          </a:p>
          <a:p>
            <a:r>
              <a:t>- q'=-q,\qquad \mathbf r_{q'}=(0,0,-a)</a:t>
            </a:r>
          </a:p>
          <a:p/>
          <a:p>
            <a:r>
              <a:t>[Sources]</a:t>
            </a:r>
          </a:p>
          <a:p>
            <a:r>
              <a:t>- Griffiths, Introduction to Electrodynamics, 4e, §3.2.1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z&lt;0(도체 쪽)의 전위는 0이다. 무한대 거동은 쌍극자형 1/r^2 감소. 유일성 정리로 후보해를 실제 해로 확정한다.</a:t>
            </a:r>
          </a:p>
          <a:p/>
          <a:p>
            <a:r>
              <a:t>[Equation source]</a:t>
            </a:r>
          </a:p>
          <a:p>
            <a:r>
              <a:t>- V(\rho,z)=\frac{q}{4\pi\epsilon_0}\left[\frac{1}{\sqrt{\rho^2+(z-a)^2}}-\frac{1}{\sqrt{\rho^2+(z+a)^2}}\right]\quad(z\ge 0)</a:t>
            </a:r>
          </a:p>
          <a:p>
            <a:r>
              <a:t>- V\simeq\frac{1}{4\pi\epsilon_0}\frac{2qa\,z}{r^3}\to 0</a:t>
            </a:r>
          </a:p>
          <a:p>
            <a:r>
              <a:t>- V(\rho,0)=0,\qquad V\to0\ \ (r\to\infty)</a:t>
            </a:r>
          </a:p>
          <a:p/>
          <a:p>
            <a:r>
              <a:t>[Sources]</a:t>
            </a:r>
          </a:p>
          <a:p>
            <a:r>
              <a:t>- Griffiths, Introduction to Electrodynamics, 4e, §3.1, §3.2.1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 = −ε0 ∂V/∂n. 표면 바로 위의 장 E_z(0+) = σ/ε0 와 부호가 일치하는지 확인한다(장선이 평면을 향해 아래로).</a:t>
            </a:r>
          </a:p>
          <a:p/>
          <a:p>
            <a:r>
              <a:t>[Equation source]</a:t>
            </a:r>
          </a:p>
          <a:p>
            <a:r>
              <a:t>- \frac{\partial}{\partial z}\frac{1}{\sqrt{\rho^2+(z\mp a)^2}}=-\frac{z\mp a}{[\rho^2+(z\mp a)^2]^{3/2}}</a:t>
            </a:r>
          </a:p>
          <a:p>
            <a:r>
              <a:t>- \left.\frac{\partial V}{\partial z}\right|_{0^+}=\frac{q}{4\pi\epsilon_0}\left[\frac{a}{(\rho^2+a^2)^{3/2}}+\frac{a}{(\rho^2+a^2)^{3/2}}\right]</a:t>
            </a:r>
          </a:p>
          <a:p>
            <a:r>
              <a:t>- \sigma(\rho)=-\frac{qa}{2\pi(\rho^2+a^2)^{3/2}}</a:t>
            </a:r>
          </a:p>
          <a:p/>
          <a:p>
            <a:r>
              <a:t>[Sources]</a:t>
            </a:r>
          </a:p>
          <a:p>
            <a:r>
              <a:t>- Griffiths, Introduction to Electrodynamics, 4e, §3.2.1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총 유도전하 −q는 접지선을 통해 땅에서 공급된다. +q에서 나간 선속이 z&lt;0으로 새지 않고 모두 평면에서 끝난다.</a:t>
            </a:r>
          </a:p>
          <a:p/>
          <a:p>
            <a:r>
              <a:t>[Equation source]</a:t>
            </a:r>
          </a:p>
          <a:p>
            <a:r>
              <a:t>- |\sigma|_{\max}=\frac{q}{2\pi a^2},\qquad \sigma\approx-\frac{qa}{2\pi\rho^3}\ \ (\rho\gg a)</a:t>
            </a:r>
          </a:p>
          <a:p>
            <a:r>
              <a:t>- Q_{\rm ind}=-qa\int_0^\infty\frac{\rho\,\mathrm d\rho}{(\rho^2+a^2)^{3/2}}=-qa\cdot\frac1a=-q</a:t>
            </a:r>
          </a:p>
          <a:p>
            <a:r>
              <a:t>- |\sigma|_{\max}=\frac{q}{2\pi a^2}\ (\rho=0),\qquad \sigma\propto\rho^{-3},\qquad Q_{\rm ind}=-q</a:t>
            </a:r>
          </a:p>
          <a:p/>
          <a:p>
            <a:r>
              <a:t>[Sources]</a:t>
            </a:r>
          </a:p>
          <a:p>
            <a:r>
              <a:t>- Griffiths, Introduction to Electrodynamics, 4e, §3.2.1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z&gt;0에서 유도전하가 만드는 장 = 영상전하의 장. 높이 z에서 외력은 전기력과 반대 방향으로 같은 크기.</a:t>
            </a:r>
          </a:p>
          <a:p/>
          <a:p>
            <a:r>
              <a:t>[Equation source]</a:t>
            </a:r>
          </a:p>
          <a:p>
            <a:r>
              <a:t>- \mathbf F=q\,\mathbf E_{\rm image}=-\frac{1}{4\pi\epsilon_0}\frac{q^2}{(2a)^2}\,\hat{\mathbf z}</a:t>
            </a:r>
          </a:p>
          <a:p>
            <a:r>
              <a:t>- W=\int_\infty^a\frac{q^2}{16\pi\epsilon_0 z^2}\,\mathrm dz=-\frac{q^2}{16\pi\epsilon_0 a}</a:t>
            </a:r>
          </a:p>
          <a:p>
            <a:r>
              <a:t>- \mathbf F=-\frac{q^2}{16\pi\epsilon_0a^2}\hat{\mathbf z},\qquad W=-\frac{q^2}{16\pi\epsilon_0a}</a:t>
            </a:r>
          </a:p>
          <a:p/>
          <a:p>
            <a:r>
              <a:t>[Sources]</a:t>
            </a:r>
          </a:p>
          <a:p>
            <a:r>
              <a:t>- Griffiths, Introduction to Electrodynamics, 4e, §3.2.1, §3.2.3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점전하계 에너지는 전 공간에 장이 있을 때의 값. 실제로는 z&lt;0에 장이 없어 (ε0/2)∫E^2 가 절반. 또한 영상전하는 실제 전하를 따라 저절로 움직이므로 일을 받지 않는다.</a:t>
            </a:r>
          </a:p>
          <a:p/>
          <a:p>
            <a:r>
              <a:t>[Equation source]</a:t>
            </a:r>
          </a:p>
          <a:p>
            <a:r>
              <a:t>- W_{qq'}=-\frac{1}{4\pi\epsilon_0}\frac{q^2}{2a}=-\frac{q^2}{8\pi\epsilon_0 a}</a:t>
            </a:r>
          </a:p>
          <a:p>
            <a:r>
              <a:t>- W=\frac12\,W_{qq'}=-\frac{q^2}{16\pi\epsilon_0a}</a:t>
            </a:r>
          </a:p>
          <a:p/>
          <a:p>
            <a:r>
              <a:t>[Sources]</a:t>
            </a:r>
          </a:p>
          <a:p>
            <a:r>
              <a:t>- Griffiths, Introduction to Electrodynamics, 4e, §3.2.3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θ=0과 θ=π 두 점의 조건으로 미지수 b, q′를 정한다. 이후 (b)에서 모든 θ에 대해 성립함을 확인한다.</a:t>
            </a:r>
          </a:p>
          <a:p/>
          <a:p>
            <a:r>
              <a:t>[Equation source]</a:t>
            </a:r>
          </a:p>
          <a:p>
            <a:r>
              <a:t>- \frac{q}{a-R}+\frac{q'}{R-b}=0,\qquad \frac{q}{a+R}+\frac{q'}{R+b}=0</a:t>
            </a:r>
          </a:p>
          <a:p>
            <a:r>
              <a:t>- b=\frac{R^2}{a}&lt;R,\qquad q'=-\frac{R}{a}\,q</a:t>
            </a:r>
          </a:p>
          <a:p>
            <a:r>
              <a:t>- b=\frac{R^2}{a},\qquad q'=-\frac{R}{a}q</a:t>
            </a:r>
          </a:p>
          <a:p/>
          <a:p>
            <a:r>
              <a:t>[Sources]</a:t>
            </a:r>
          </a:p>
          <a:p>
            <a:r>
              <a:t>- Griffiths, Introduction to Electrodynamics, 4e, §3.2.2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r=R에서 영상전하까지의 거리는 실제 전하까지 거리의 R/a배이므로 모든 θ에서 상쇄된다.</a:t>
            </a:r>
          </a:p>
          <a:p/>
          <a:p>
            <a:r>
              <a:t>[Equation source]</a:t>
            </a:r>
          </a:p>
          <a:p>
            <a:r>
              <a:t>- V(r,\theta)=\frac{q}{4\pi\epsilon_0}\left[\frac{1}{\sqrt{r^2+a^2-2ar\cos\theta}}-\frac{R}{\sqrt{a^2r^2+R^4-2aR^2r\cos\theta}}\right]\ \ (r\ge R)</a:t>
            </a:r>
          </a:p>
          <a:p>
            <a:r>
              <a:t>- \sqrt{a^2R^2+R^4-2aR^3\cos\theta}=R\sqrt{a^2+R^2-2aR\cos\theta}</a:t>
            </a:r>
          </a:p>
          <a:p>
            <a:r>
              <a:t>- V(R,\theta)=\frac{q}{4\pi\epsilon_0}\left[\frac{1}{\sqrt{R^2+a^2-2aR\cos\theta}}-\frac{1}{\sqrt{a^2+R^2-2aR\cos\theta}}\right]=0</a:t>
            </a:r>
          </a:p>
          <a:p/>
          <a:p>
            <a:r>
              <a:t>[Sources]</a:t>
            </a:r>
          </a:p>
          <a:p>
            <a:r>
              <a:t>- Griffiths, Introduction to Electrodynamics, 4e, §3.2.2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구를 감싸는 가우스 곡면(q 제외)의 선속 = q′/ε0. 접지되어 있으므로 유도 총전하가 −q일 필요는 없다. 검산: R→∞, a−R=d 고정이면 평면의 결과 q^2/[4πε0(2d)^2]로 돌아간다.</a:t>
            </a:r>
          </a:p>
          <a:p/>
          <a:p>
            <a:r>
              <a:t>[Equation source]</a:t>
            </a:r>
          </a:p>
          <a:p>
            <a:r>
              <a:t>- Q_{\rm ind}=q'=-\frac{R}{a}\,q</a:t>
            </a:r>
          </a:p>
          <a:p>
            <a:r>
              <a:t>- \mathbf F=\frac{1}{4\pi\epsilon_0}\frac{qq'}{(a-b)^2}\hat{\mathbf z}=-\frac{1}{4\pi\epsilon_0}\frac{q^2Ra}{(a^2-R^2)^2}\hat{\mathbf z}</a:t>
            </a:r>
          </a:p>
          <a:p>
            <a:r>
              <a:t>- |\mathbf F|=\frac{q^2Ra}{4\pi\epsilon_0(a^2-R^2)^2}</a:t>
            </a:r>
          </a:p>
          <a:p/>
          <a:p>
            <a:r>
              <a:t>[Sources]</a:t>
            </a:r>
          </a:p>
          <a:p>
            <a:r>
              <a:t>- Griffiths, Introduction to Electrodynamics, 4e, §3.2.2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중심의 점전하는 구면 위 모든 점에서 같은 전위를 주므로 등전위 조건을 유지한다. 구면 전위 q/(4πε0 a)는 q가 중심에 만드는 전위와 같다.</a:t>
            </a:r>
          </a:p>
          <a:p/>
          <a:p>
            <a:r>
              <a:t>[Equation source]</a:t>
            </a:r>
          </a:p>
          <a:p>
            <a:r>
              <a:t>- q_0'=-q'=+\frac{R}{a}\,q\quad(\text{at }r=0)</a:t>
            </a:r>
          </a:p>
          <a:p>
            <a:r>
              <a:t>- V=V_{\rm P4}(r,\theta)+\frac{1}{4\pi\epsilon_0}\frac{qR/a}{r}</a:t>
            </a:r>
          </a:p>
          <a:p>
            <a:r>
              <a:t>- V(R,\theta)=\frac{q}{4\pi\epsilon_0 a}=\text{const.}</a:t>
            </a:r>
          </a:p>
          <a:p/>
          <a:p>
            <a:r>
              <a:t>[Sources]</a:t>
            </a:r>
          </a:p>
          <a:p>
            <a:r>
              <a:t>- Griffiths, Introduction to Electrodynamics, 4e, §3.2.2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낮은 차수 항은 홀극 항 Q_total/(4πε0 r). 다중극 전개는 §3.4에서 다루므로 여기서는 예고로 언급한다.</a:t>
            </a:r>
          </a:p>
          <a:p/>
          <a:p>
            <a:r>
              <a:t>[Equation source]</a:t>
            </a:r>
          </a:p>
          <a:p>
            <a:r>
              <a:t>- V\simeq\frac{1}{4\pi\epsilon_0}\frac{Q_{\rm total}}{r}\qquad(r\to\infty)</a:t>
            </a:r>
          </a:p>
          <a:p>
            <a:r>
              <a:t>- Q_{\rm total}=q+q'=q\left(1-\frac{R}{a}\right)</a:t>
            </a:r>
          </a:p>
          <a:p>
            <a:r>
              <a:t>- Q_{\rm total}=q+q'+q_0'=q</a:t>
            </a:r>
          </a:p>
          <a:p>
            <a:r>
              <a:t>- \frac{q(1-R/a)}{4\pi\epsilon_0\,r}\ \longrightarrow\ \frac{q}{4\pi\epsilon_0\,r}</a:t>
            </a:r>
          </a:p>
          <a:p/>
          <a:p>
            <a:r>
              <a:t>[Sources]</a:t>
            </a:r>
          </a:p>
          <a:p>
            <a:r>
              <a:t>- Griffiths, Introduction to Electrodynamics, 4e, §3.2.2, §3.4 예고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방향 경계조건 Y(0)=Y(a)=0을 만족하려면 Y가 진동해야 하므로 Y 쪽 분리상수를 −k^2로 둔다.</a:t>
            </a:r>
          </a:p>
          <a:p/>
          <a:p>
            <a:r>
              <a:t>[Equation source]</a:t>
            </a:r>
          </a:p>
          <a:p>
            <a:r>
              <a:t>- \frac{\partial^2V}{\partial x^2}+\frac{\partial^2V}{\partial y^2}=0,\qquad V=X(x)Y(y)</a:t>
            </a:r>
          </a:p>
          <a:p>
            <a:r>
              <a:t>- \frac{1}{X}\frac{\mathrm d^2X}{\mathrm dx^2}+\frac{1}{Y}\frac{\mathrm d^2Y}{\mathrm dy^2}=0</a:t>
            </a:r>
          </a:p>
          <a:p>
            <a:r>
              <a:t>- \frac{\mathrm d^2X}{\mathrm dx^2}=k^2X,\qquad \frac{\mathrm d^2Y}{\mathrm dy^2}=-k^2Y</a:t>
            </a:r>
          </a:p>
          <a:p/>
          <a:p>
            <a:r>
              <a:t>[Sources]</a:t>
            </a:r>
          </a:p>
          <a:p>
            <a:r>
              <a:t>- Griffiths, Introduction to Electrodynamics, 4e, §3.3.1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Y(0)=Y(a)=0 → sin(nπy/a). X(0)=0 → sinh(kx). x=b 경계가 n=1 모드뿐이므로 계수 하나만 남는다.</a:t>
            </a:r>
          </a:p>
          <a:p/>
          <a:p>
            <a:r>
              <a:t>[Equation source]</a:t>
            </a:r>
          </a:p>
          <a:p>
            <a:r>
              <a:t>- A_1\sinh\frac{\pi b}{a}=V_0</a:t>
            </a:r>
          </a:p>
          <a:p>
            <a:r>
              <a:t>- V(x,y)=V_0\,\frac{\sinh(\pi x/a)}{\sinh(\pi b/a)}\,\sin\frac{\pi y}{a}</a:t>
            </a:r>
          </a:p>
          <a:p/>
          <a:p>
            <a:r>
              <a:t>[Sources]</a:t>
            </a:r>
          </a:p>
          <a:p>
            <a:r>
              <a:t>- Griffiths, Introduction to Electrodynamics, 4e, §3.3.1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sinh 2u = 2 sinh u cosh u (u = πb/2a). y=a/2에서 ∂V/∂y ∝ cos(π/2)=0. 0 &lt; V(중심) &lt; V0/2로 최대·최소 원리와 부합.</a:t>
            </a:r>
          </a:p>
          <a:p/>
          <a:p>
            <a:r>
              <a:t>[Equation source]</a:t>
            </a:r>
          </a:p>
          <a:p>
            <a:r>
              <a:t>- V\!\left(\frac b2,\frac a2\right)=V_0\frac{\sinh(\pi b/2a)}{\sinh(\pi b/a)}=\frac{V_0}{2\cosh(\pi b/2a)}</a:t>
            </a:r>
          </a:p>
          <a:p>
            <a:r>
              <a:t>- \frac{\partial V}{\partial x}=\frac{\pi V_0}{a}\frac{\cosh(\pi x/a)}{\sinh(\pi b/a)}\sin\frac{\pi y}{a}\ \to\ \frac{\pi V_0}{2a\,\sinh(\pi b/2a)}</a:t>
            </a:r>
          </a:p>
          <a:p>
            <a:r>
              <a:t>- \mathbf E\!\left(\frac b2,\frac a2\right)=-\frac{\pi V_0}{2a\,\sinh(\pi b/2a)}\,\hat{\mathbf x}</a:t>
            </a:r>
          </a:p>
          <a:p/>
          <a:p>
            <a:r>
              <a:t>[Sources]</a:t>
            </a:r>
          </a:p>
          <a:p>
            <a:r>
              <a:t>- Griffiths, Introduction to Electrodynamics, 4e, §3.3.1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직교성 ∫ sin(nπy/a) sin(n′πy/a) dy = (a/2)δ_nn′ 로 계수를 구한다. 상수 함수는 y=a/2에 대해 대칭이고 짝수 모드는 반대칭.</a:t>
            </a:r>
          </a:p>
          <a:p/>
          <a:p>
            <a:r>
              <a:t>[Equation source]</a:t>
            </a:r>
          </a:p>
          <a:p>
            <a:r>
              <a:t>- V_0=\sum_{n=1}^{\infty}c_n\sin\frac{n\pi y}{a}</a:t>
            </a:r>
          </a:p>
          <a:p>
            <a:r>
              <a:t>- c_n=\frac{2}{a}\int_0^a V_0\sin\frac{n\pi y}{a}\,\mathrm dy=\frac{2V_0}{n\pi}\,(1-\cos n\pi)</a:t>
            </a:r>
          </a:p>
          <a:p>
            <a:r>
              <a:t>- c_n=\begin{cases}\dfrac{4V_0}{n\pi}, &amp; n=1,3,5,\dots\\[4pt] 0, &amp; n=2,4,6,\dots\end{cases}</a:t>
            </a:r>
          </a:p>
          <a:p/>
          <a:p>
            <a:r>
              <a:t>[Sources]</a:t>
            </a:r>
          </a:p>
          <a:p>
            <a:r>
              <a:t>- Griffiths, Introduction to Electrodynamics, 4e, §3.3.1, Example 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라플라스 방정식은 선형이므로 각 항이 만족하면 합도 만족한다. x=b에서는 (a)의 급수가 되어 V0를 재현한다.</a:t>
            </a:r>
          </a:p>
          <a:p/>
          <a:p>
            <a:r>
              <a:t>[Equation source]</a:t>
            </a:r>
          </a:p>
          <a:p>
            <a:r>
              <a:t>- V(x,y)=\frac{4V_0}{\pi}\sum_{n=1,3,5,\dots}\frac{1}{n}\,\frac{\sinh(n\pi x/a)}{\sinh(n\pi b/a)}\,\sin\frac{n\pi y}{a}</a:t>
            </a:r>
          </a:p>
          <a:p>
            <a:r>
              <a:t>- \nabla^2\!\left[\sinh(k_nx)\sin(k_ny)\right]=(k_n^2-k_n^2)\,(\cdots)=0</a:t>
            </a:r>
          </a:p>
          <a:p>
            <a:r>
              <a:t>- x=0:\ \sinh0=0,\quad y=0:\ \sin0=0,\quad y=a:\ \sin n\pi=0</a:t>
            </a:r>
          </a:p>
          <a:p>
            <a:r>
              <a:t>- \nabla^2V=0,\qquad V(0,y)=V(x,0)=V(x,a)=0</a:t>
            </a:r>
          </a:p>
          <a:p/>
          <a:p>
            <a:r>
              <a:t>[Sources]</a:t>
            </a:r>
          </a:p>
          <a:p>
            <a:r>
              <a:t>- Griffiths, Introduction to Electrodynamics, 4e, §3.3.1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사인 급수는 [−a, a]로의 홀함수 연장의 푸리에 급수. y=0, a에서 (V0 + (−V0))/2 = 0. 불연속점 근처의 약 9% 넘침은 깁스 현상. 물리적으로는 모서리에 가는 절연 간격이 있다고 본다.</a:t>
            </a:r>
          </a:p>
          <a:p/>
          <a:p>
            <a:r>
              <a:t>[Equation source]</a:t>
            </a:r>
          </a:p>
          <a:p>
            <a:r>
              <a:t>- \tfrac12\left[V_0+(-V_0)\right]=0</a:t>
            </a:r>
          </a:p>
          <a:p>
            <a:r>
              <a:t>- \frac12\left[f(y^-)+f(y^+)\right]</a:t>
            </a:r>
          </a:p>
          <a:p/>
          <a:p>
            <a:r>
              <a:t>[Sources]</a:t>
            </a:r>
          </a:p>
          <a:p>
            <a:r>
              <a:t>- Griffiths, Introduction to Electrodynamics, 4e, §3.3.1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르장드르 다항식의 직교성으로 ℓ=1 계수만 0이 아니다. 안쪽은 원점 유한 조건으로 B_ℓ=0, 바깥은 무한대 조건으로 A_ℓ=0.</a:t>
            </a:r>
          </a:p>
          <a:p/>
          <a:p>
            <a:r>
              <a:t>[Equation source]</a:t>
            </a:r>
          </a:p>
          <a:p>
            <a:r>
              <a:t>- V=\sum_{\ell}\left(A_\ell r^\ell+\frac{B_\ell}{r^{\ell+1}}\right)P_\ell(\cos\theta)</a:t>
            </a:r>
          </a:p>
          <a:p>
            <a:r>
              <a:t>- V=V_0\frac{r}{R}\cos\theta=\frac{V_0}{R}\,z,\qquad \mathbf E=-\frac{V_0}{R}\hat{\mathbf z}</a:t>
            </a:r>
          </a:p>
          <a:p>
            <a:r>
              <a:t>- V=V_0\frac{R^2}{r^2}\cos\theta</a:t>
            </a:r>
          </a:p>
          <a:p>
            <a:r>
              <a:t>- \mathbf E_{\rm in}=-\frac{V_0}{R}\hat{\mathbf z},\qquad V_{\rm out}=V_0\frac{R^2}{r^2}\cos\theta</a:t>
            </a:r>
          </a:p>
          <a:p/>
          <a:p>
            <a:r>
              <a:t>[Sources]</a:t>
            </a:r>
          </a:p>
          <a:p>
            <a:r>
              <a:t>- Griffiths, Introduction to Electrodynamics, 4e, §3.3.2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바깥 장은 쌍극자 장. 구면의 면전하는 σ = ε0(E_r^out − E_r^in) = 3ε0V0 cosθ / R 로 검산할 수 있다.</a:t>
            </a:r>
          </a:p>
          <a:p/>
          <a:p>
            <a:r>
              <a:t>[Equation source]</a:t>
            </a:r>
          </a:p>
          <a:p>
            <a:r>
              <a:t>- V_{\rm dip}=\frac{1}{4\pi\epsilon_0}\frac{p\cos\theta}{r^2}\quad\Longleftrightarrow\quad V_0\frac{R^2}{r^2}\cos\theta</a:t>
            </a:r>
          </a:p>
          <a:p>
            <a:r>
              <a:t>- r=R:\ V_{\rm in}=V_{\rm out}=V_0\cos\theta,\qquad \sigma=\epsilon_0\left(E_r^{\rm out}-E_r^{\rm in}\right)\Big|_R=\frac{3\epsilon_0V_0}{R}\cos\theta</a:t>
            </a:r>
          </a:p>
          <a:p>
            <a:r>
              <a:t>- \ell=1,\qquad \mathbf p=4\pi\epsilon_0R^2V_0\,\hat{\mathbf z}</a:t>
            </a:r>
          </a:p>
          <a:p/>
          <a:p>
            <a:r>
              <a:t>[Sources]</a:t>
            </a:r>
          </a:p>
          <a:p>
            <a:r>
              <a:t>- Griffiths, Introduction to Electrodynamics, 4e, §3.3.2, §3.4.3 예고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마무리. 영상법과 변수 분리법의 공통 점검 항목을 정리한다. 다음 주 다중극 전개(§3.4)로 연결.</a:t>
            </a:r>
          </a:p>
          <a:p/>
          <a:p>
            <a:r>
              <a:t>[Sources]</a:t>
            </a:r>
          </a:p>
          <a:p>
            <a:r>
              <a:t>- Griffiths, Introduction to Electrodynamics, 4e, §3.1–§3.3</a:t>
            </a:r>
          </a:p>
          <a:p>
            <a:r>
              <a:t>- 사용자 지정 7주차 범위: §3.1 복습, §3.2, §3.3 · 7주차_연습문제_세트.pdf (10월 19일 연습)</a:t>
            </a:r>
          </a:p>
          <a:p>
            <a:r>
              <a:t>- 전자기학 강의안 PPT·PDF 제작 지침 v1.8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ELECTROMAGNETISM 2026 · WEEK 07 ·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428750"/>
            <a:ext cx="78105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7주차 연습문제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영상법과 변수 분리법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050" y="3738562"/>
            <a:ext cx="581025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4048125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Griffiths §3.1 복습 · §3.2 · §3.3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0"/>
            <a:ext cx="7620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10월 19일 연습 · 1부 문제 → 2부 풀이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8250" y="3781425"/>
            <a:ext cx="276225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53625" y="2190750"/>
            <a:ext cx="571500" cy="5715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67875" y="23145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0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9382125" y="2731247"/>
            <a:ext cx="689898" cy="983503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cxnSp>
        <p:nvCxnSpPr>
          <p:cNvPr id="12" name="Connector 11"/>
          <p:cNvCxnSpPr/>
          <p:nvPr/>
        </p:nvCxnSpPr>
        <p:spPr>
          <a:xfrm flipH="1">
            <a:off x="9810750" y="2766079"/>
            <a:ext cx="333508" cy="948671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cxnSp>
        <p:nvCxnSpPr>
          <p:cNvPr id="13" name="Connector 12"/>
          <p:cNvCxnSpPr/>
          <p:nvPr/>
        </p:nvCxnSpPr>
        <p:spPr>
          <a:xfrm>
            <a:off x="10239375" y="2781300"/>
            <a:ext cx="0" cy="933450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cxnSp>
        <p:nvCxnSpPr>
          <p:cNvPr id="14" name="Connector 13"/>
          <p:cNvCxnSpPr/>
          <p:nvPr/>
        </p:nvCxnSpPr>
        <p:spPr>
          <a:xfrm>
            <a:off x="10334492" y="2766079"/>
            <a:ext cx="333508" cy="948671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cxnSp>
        <p:nvCxnSpPr>
          <p:cNvPr id="15" name="Connector 14"/>
          <p:cNvCxnSpPr/>
          <p:nvPr/>
        </p:nvCxnSpPr>
        <p:spPr>
          <a:xfrm>
            <a:off x="10406727" y="2731247"/>
            <a:ext cx="689898" cy="983503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sp>
        <p:nvSpPr>
          <p:cNvPr id="16" name="Oval 15"/>
          <p:cNvSpPr/>
          <p:nvPr/>
        </p:nvSpPr>
        <p:spPr>
          <a:xfrm>
            <a:off x="9953625" y="4857750"/>
            <a:ext cx="571500" cy="571500"/>
          </a:xfrm>
          <a:prstGeom prst="ellipse">
            <a:avLst/>
          </a:prstGeom>
          <a:solidFill>
            <a:srgbClr val="050505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7875" y="49815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0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0" y="39052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900" b="0" i="1">
                <a:solidFill>
                  <a:srgbClr val="E0F0FE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W07 / PRACTICE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연습 진행 방법과 풀이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4953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원칙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1924050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9240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1905000"/>
            <a:ext cx="4572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영역과 경계조건을 먼저 적는다.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2509114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509114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490064"/>
            <a:ext cx="4572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영상전하는 반드시 실제 영역 밖에 둔다.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3469691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3469691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450641"/>
            <a:ext cx="4572000" cy="116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변수 분리법에서는 각 항이 라플라스 방정식과 모든 경계조건을 만족하는지 확인한다.</a:t>
            </a:r>
          </a:p>
        </p:txBody>
      </p:sp>
      <p:sp>
        <p:nvSpPr>
          <p:cNvPr id="17" name="Oval 16"/>
          <p:cNvSpPr/>
          <p:nvPr/>
        </p:nvSpPr>
        <p:spPr>
          <a:xfrm>
            <a:off x="609600" y="4805782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805782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4786732"/>
            <a:ext cx="4572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부호·차원·극한으로 최종 답을 검산한다.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1428750"/>
            <a:ext cx="52959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문제 구성 (100점)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6500" y="1871662"/>
            <a:ext cx="52959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500" y="19526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1952625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접지된 무한 평면의 영상법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6000" y="1952625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P1–P3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63250" y="195262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34점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6500" y="2462212"/>
            <a:ext cx="52959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500" y="25431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4650" y="2543175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구면 경계의 영상법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0" y="2543175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P4–P5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0" y="25431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25점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6500" y="3052762"/>
            <a:ext cx="52959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6500" y="3133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4650" y="3133725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직교좌표계의 변수 분리법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6000" y="3133725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P6–P7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3250" y="313372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27점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6500" y="3643312"/>
            <a:ext cx="52959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6500" y="37242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4650" y="3724275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좌표계의 변수 분리법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6000" y="3724275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P8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63250" y="37242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14점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500" y="4233862"/>
            <a:ext cx="52959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6500" y="4648200"/>
            <a:ext cx="5295900" cy="12192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5100" y="4819650"/>
            <a:ext cx="495300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1부 (3–11장)  문제만 제시 → 각자 풀이</a:t>
            </a:r>
          </a:p>
          <a:p>
            <a:pPr algn="l">
              <a:lnSpc>
                <a:spcPct val="135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2부 (12장부터)  문제별 풀이·검산 공개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PART 1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190750"/>
            <a:ext cx="109728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8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1부 ·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0" y="3262312"/>
            <a:ext cx="28575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361950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먼저 스스로 풀어 봅시다. 풀이는 2부에서 공개합니다.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A. 접지된 무한 평면의 영상법 · P1 · 12점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점전하와 접지된 평면의 전위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1234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접지된 무한 도체평면이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있고, 점전하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+q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(0, 0, a)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놓여 있다. 실제 영역은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z&gt;0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2720797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720797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영상전하의 위치와 크기를 쓰고 그 선택 이유를 설명하시오.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362026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620262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원통좌표계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(ρ, φ, z)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 실제 영역의 전위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V(ρ, z)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구하시오.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4519727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4519727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V(ρ, 0)=0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V→0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(r→∞)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확인하고 유일성 정리로 결과를 정당화하시오.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952750" y="1857375"/>
            <a:ext cx="0" cy="3000375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5" name="TextBox 14"/>
          <p:cNvSpPr txBox="1"/>
          <p:nvPr/>
        </p:nvSpPr>
        <p:spPr>
          <a:xfrm>
            <a:off x="3067050" y="1666875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4448175"/>
            <a:ext cx="4191000" cy="57150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895350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>
            <a:off x="1245177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1595005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1944832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H="1">
            <a:off x="2294659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2644486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2994314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4" name="Connector 23"/>
          <p:cNvCxnSpPr/>
          <p:nvPr/>
        </p:nvCxnSpPr>
        <p:spPr>
          <a:xfrm flipH="1">
            <a:off x="3344141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>
            <a:off x="3693968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6" name="Connector 25"/>
          <p:cNvCxnSpPr/>
          <p:nvPr/>
        </p:nvCxnSpPr>
        <p:spPr>
          <a:xfrm flipH="1">
            <a:off x="4043795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4393623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8" name="Connector 27"/>
          <p:cNvCxnSpPr/>
          <p:nvPr/>
        </p:nvCxnSpPr>
        <p:spPr>
          <a:xfrm flipH="1">
            <a:off x="4743450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619500" y="4724400"/>
            <a:ext cx="1428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0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30" name="Oval 29"/>
          <p:cNvSpPr/>
          <p:nvPr/>
        </p:nvSpPr>
        <p:spPr>
          <a:xfrm>
            <a:off x="2695575" y="240982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0" y="25050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286000" y="2667000"/>
            <a:ext cx="0" cy="175260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33" name="TextBox 32"/>
          <p:cNvSpPr txBox="1"/>
          <p:nvPr/>
        </p:nvSpPr>
        <p:spPr>
          <a:xfrm>
            <a:off x="1847850" y="34099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52750" y="4267200"/>
            <a:ext cx="1428750" cy="0"/>
          </a:xfrm>
          <a:prstGeom prst="line">
            <a:avLst/>
          </a:prstGeom>
          <a:ln w="25400">
            <a:solidFill>
              <a:srgbClr val="2563EB"/>
            </a:solidFill>
            <a:tailEnd type="triangle" w="lg" len="lg"/>
          </a:ln>
        </p:spPr>
      </p:cxnSp>
      <p:sp>
        <p:nvSpPr>
          <p:cNvPr id="35" name="TextBox 34"/>
          <p:cNvSpPr txBox="1"/>
          <p:nvPr/>
        </p:nvSpPr>
        <p:spPr>
          <a:xfrm>
            <a:off x="4429125" y="4076700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A. 접지된 무한 평면의 영상법 · P2 · 12점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평면의 유도 면전하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09700"/>
            <a:ext cx="10972800" cy="449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P1의 전위를 사용한다.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3563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935632"/>
            <a:ext cx="10515600" cy="449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식으로 면전하밀도를 계산하시오.</a:t>
            </a:r>
          </a:p>
        </p:txBody>
      </p:sp>
      <p:pic>
        <p:nvPicPr>
          <p:cNvPr id="10" name="eq:p2sig" descr="\sigma(\rho)=-\epsilon_0\left.\frac{\partial V}{\partial z}\right|_{z=0^+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544" y="2442515"/>
            <a:ext cx="3028112" cy="9483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4861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486150"/>
            <a:ext cx="10515600" cy="449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|σ|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 가장 큰 위치와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ρ≫a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에서의 감소율을 구하시오.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9303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93032"/>
            <a:ext cx="10515600" cy="449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적분으로 유도된 총전하를 구하고 전하 보존의 관점에서 해석하시오.</a:t>
            </a:r>
          </a:p>
        </p:txBody>
      </p:sp>
      <p:pic>
        <p:nvPicPr>
          <p:cNvPr id="15" name="eq:p2Q" descr="Q_{\rm ind}=\int_0^\infty\sigma(\rho)\,2\pi\rho\,\mathrm d\rh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257" y="4499915"/>
            <a:ext cx="3356686" cy="907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A. 접지된 무한 평면의 영상법 · P3 · 10점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전하가 받는 힘과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449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P1의 점전하에 대하여 다음을 구하시오.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193563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935632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전하가 받는 힘을 영상전하가 만드는 장으로부터 구하시오.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2835097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835097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전하를 무한대에서 높이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 천천히 가져올 때 외력이 한 일을 구하시오.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373456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734562"/>
            <a:ext cx="5257800" cy="1234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점전하의 상호작용 에너지를 그대로 사용하면 에너지가 두 배가 되는 이유를 설명하시오.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952750" y="1857375"/>
            <a:ext cx="0" cy="3000375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5" name="TextBox 14"/>
          <p:cNvSpPr txBox="1"/>
          <p:nvPr/>
        </p:nvSpPr>
        <p:spPr>
          <a:xfrm>
            <a:off x="3067050" y="1666875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4448175"/>
            <a:ext cx="4191000" cy="57150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895350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>
            <a:off x="1245177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1595005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1944832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H="1">
            <a:off x="2294659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2644486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2994314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4" name="Connector 23"/>
          <p:cNvCxnSpPr/>
          <p:nvPr/>
        </p:nvCxnSpPr>
        <p:spPr>
          <a:xfrm flipH="1">
            <a:off x="3344141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>
            <a:off x="3693968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6" name="Connector 25"/>
          <p:cNvCxnSpPr/>
          <p:nvPr/>
        </p:nvCxnSpPr>
        <p:spPr>
          <a:xfrm flipH="1">
            <a:off x="4043795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4393623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8" name="Connector 27"/>
          <p:cNvCxnSpPr/>
          <p:nvPr/>
        </p:nvCxnSpPr>
        <p:spPr>
          <a:xfrm flipH="1">
            <a:off x="4743450" y="450532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619500" y="4724400"/>
            <a:ext cx="1428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0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30" name="Oval 29"/>
          <p:cNvSpPr/>
          <p:nvPr/>
        </p:nvSpPr>
        <p:spPr>
          <a:xfrm>
            <a:off x="2695575" y="240982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0" y="25050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286000" y="2667000"/>
            <a:ext cx="0" cy="175260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33" name="TextBox 32"/>
          <p:cNvSpPr txBox="1"/>
          <p:nvPr/>
        </p:nvSpPr>
        <p:spPr>
          <a:xfrm>
            <a:off x="1847850" y="34099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B. 구면 경계의 영상법 · P4 · 15점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점전하와 접지된 도체구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11836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반지름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 접지된 도체구의 중심을 원점에 두고, 점전하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+q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축 위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z=a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놓는다. 단,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a&gt;R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2669591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669591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안에 놓을 영상전하의 위치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와 크기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q′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구하시오.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353491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534918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r≥R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에서의 전위를 쓰고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r=R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모든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대해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임을 보이시오.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440024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4400245"/>
            <a:ext cx="5257800" cy="432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구에 유도된 총전하를 구하시오.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4890059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4890059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전하가 받는 힘의 크기와 방향을 구하시오.</a:t>
            </a:r>
          </a:p>
        </p:txBody>
      </p:sp>
      <p:sp>
        <p:nvSpPr>
          <p:cNvPr id="16" name="Oval 15"/>
          <p:cNvSpPr/>
          <p:nvPr/>
        </p:nvSpPr>
        <p:spPr>
          <a:xfrm>
            <a:off x="1095375" y="2428875"/>
            <a:ext cx="2571750" cy="2571750"/>
          </a:xfrm>
          <a:prstGeom prst="ellipse">
            <a:avLst/>
          </a:prstGeom>
          <a:solidFill>
            <a:srgbClr val="F7F8FA"/>
          </a:solidFill>
          <a:ln w="317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14375" y="3714750"/>
            <a:ext cx="4524375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8" name="TextBox 17"/>
          <p:cNvSpPr txBox="1"/>
          <p:nvPr/>
        </p:nvSpPr>
        <p:spPr>
          <a:xfrm>
            <a:off x="5105400" y="32956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9" name="Oval 18"/>
          <p:cNvSpPr/>
          <p:nvPr/>
        </p:nvSpPr>
        <p:spPr>
          <a:xfrm>
            <a:off x="2343150" y="3676650"/>
            <a:ext cx="76200" cy="7620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643702" y="2661423"/>
            <a:ext cx="737548" cy="1053327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21" name="TextBox 20"/>
          <p:cNvSpPr txBox="1"/>
          <p:nvPr/>
        </p:nvSpPr>
        <p:spPr>
          <a:xfrm>
            <a:off x="2069626" y="2940436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2" name="Oval 21"/>
          <p:cNvSpPr/>
          <p:nvPr/>
        </p:nvSpPr>
        <p:spPr>
          <a:xfrm>
            <a:off x="4410075" y="345757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5750" y="35528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81250" y="3810000"/>
            <a:ext cx="0" cy="1590675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4667250" y="4000500"/>
            <a:ext cx="0" cy="1400175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381250" y="5324475"/>
            <a:ext cx="2286000" cy="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27" name="TextBox 26"/>
          <p:cNvSpPr txBox="1"/>
          <p:nvPr/>
        </p:nvSpPr>
        <p:spPr>
          <a:xfrm>
            <a:off x="3352800" y="5362575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100138" y="4627721"/>
            <a:ext cx="381000" cy="38100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795338" y="5008721"/>
            <a:ext cx="3429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52488" y="5084921"/>
            <a:ext cx="2286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09638" y="5161121"/>
            <a:ext cx="1143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81038" y="5237321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접지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B. 구면 경계의 영상법 · P5 · 10점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중성인 고립 도체구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P4의 접지선을 제거하고 도체구의 총전하를 0으로 유지한다.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232821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328215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P4의 영상전하에 더하여 구 중심에 놓아야 할 영상전하 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23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3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′</a:t>
            </a: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구하시오.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322768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227680"/>
            <a:ext cx="5257800" cy="842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바깥의 전위를 쓰고 구면이 등전위임을 확인하시오.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4127144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4127144"/>
            <a:ext cx="5257800" cy="1234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접지된 경우와 비교하여 무한대에서 전위의 가장 낮은 차수 항이 어떻게 달라지는지 설명하시오.</a:t>
            </a:r>
          </a:p>
        </p:txBody>
      </p:sp>
      <p:sp>
        <p:nvSpPr>
          <p:cNvPr id="14" name="Oval 13"/>
          <p:cNvSpPr/>
          <p:nvPr/>
        </p:nvSpPr>
        <p:spPr>
          <a:xfrm>
            <a:off x="1095375" y="2428875"/>
            <a:ext cx="2571750" cy="2571750"/>
          </a:xfrm>
          <a:prstGeom prst="ellipse">
            <a:avLst/>
          </a:prstGeom>
          <a:solidFill>
            <a:srgbClr val="F7F8FA"/>
          </a:solidFill>
          <a:ln w="317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4375" y="3714750"/>
            <a:ext cx="4524375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6" name="TextBox 15"/>
          <p:cNvSpPr txBox="1"/>
          <p:nvPr/>
        </p:nvSpPr>
        <p:spPr>
          <a:xfrm>
            <a:off x="5105400" y="32956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7" name="Oval 16"/>
          <p:cNvSpPr/>
          <p:nvPr/>
        </p:nvSpPr>
        <p:spPr>
          <a:xfrm>
            <a:off x="2343150" y="3676650"/>
            <a:ext cx="76200" cy="7620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1643702" y="2661423"/>
            <a:ext cx="737548" cy="1053327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19" name="TextBox 18"/>
          <p:cNvSpPr txBox="1"/>
          <p:nvPr/>
        </p:nvSpPr>
        <p:spPr>
          <a:xfrm>
            <a:off x="2069626" y="2940436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0" name="Oval 19"/>
          <p:cNvSpPr/>
          <p:nvPr/>
        </p:nvSpPr>
        <p:spPr>
          <a:xfrm>
            <a:off x="4410075" y="345757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5750" y="35528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81250" y="3810000"/>
            <a:ext cx="0" cy="1590675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4667250" y="4000500"/>
            <a:ext cx="0" cy="1400175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2381250" y="5324475"/>
            <a:ext cx="2286000" cy="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25" name="TextBox 24"/>
          <p:cNvSpPr txBox="1"/>
          <p:nvPr/>
        </p:nvSpPr>
        <p:spPr>
          <a:xfrm>
            <a:off x="3352800" y="5362575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20002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총전하 0 (고립)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C. 직교좌표계의 변수 분리법 · P6 · 13점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하나의 사인 모드로 주어진 경계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전하가 없는 직사각형 영역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0&lt;x&lt;b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0&lt;y&lt;a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다음 경계조건이 주어진다.</a:t>
            </a:r>
          </a:p>
        </p:txBody>
      </p:sp>
      <p:pic>
        <p:nvPicPr>
          <p:cNvPr id="8" name="eq:p6bc" descr="V(0,y)=V(x,0)=V(x,a)=0,\qquad V(b,y)=V_0\sin\frac{\pi y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294077"/>
            <a:ext cx="5715000" cy="545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67400" y="295383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2953838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V=XY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대입하여 분리된 두 상미분방정식을 구하시오.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381916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3819165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네 경계조건을 만족하는 전위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V(x, y)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구하시오.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400" y="468449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4684492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x=b/2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y=a/2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전위와 전기장을 구하시오.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8250" y="2381250"/>
            <a:ext cx="2667000" cy="2476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238250" y="4857750"/>
            <a:ext cx="3238500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238250" y="1905000"/>
            <a:ext cx="0" cy="295275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8" name="TextBox 17"/>
          <p:cNvSpPr txBox="1"/>
          <p:nvPr/>
        </p:nvSpPr>
        <p:spPr>
          <a:xfrm>
            <a:off x="4495800" y="468630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50495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8250" y="2381250"/>
            <a:ext cx="2667000" cy="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238250" y="4857750"/>
            <a:ext cx="2667000" cy="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238250" y="2381250"/>
            <a:ext cx="0" cy="247650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3905250" y="2381250"/>
            <a:ext cx="0" cy="2476500"/>
          </a:xfrm>
          <a:prstGeom prst="line">
            <a:avLst/>
          </a:prstGeom>
          <a:ln w="57150">
            <a:solidFill>
              <a:srgbClr val="2563EB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2000250" y="19431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0250" y="49530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" y="3457575"/>
            <a:ext cx="8191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8600" y="345757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100" b="0" i="1" baseline="-2500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0" i="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sin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(πy/a)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491490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0950" y="523875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222885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C. 직교좌표계의 변수 분리법 · P7 · 14점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일정한 경계전위의 푸리에 전개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P6과 같은 영역에서 세 경계는 0이고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V(b, y)=V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(0&lt;y&lt;a)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2294077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294077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사인 급수로 전개하여 짝수 모드가 사라짐을 보이시오.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3159404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159404"/>
            <a:ext cx="5257800" cy="432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영역 안의 전위를 무한급수로 나타내시오.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364921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649218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급수의 각 항이 라플라스 방정식과 세 영 경계를 만족함을 확인하시오.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451454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4514545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모서리에서 경계값이 불연속일 때 급수가 어떤 값으로 수렴하는지 설명하시오.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8250" y="2381250"/>
            <a:ext cx="2667000" cy="2476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238250" y="4857750"/>
            <a:ext cx="3238500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cxnSp>
        <p:nvCxnSpPr>
          <p:cNvPr id="18" name="Connector 17"/>
          <p:cNvCxnSpPr/>
          <p:nvPr/>
        </p:nvCxnSpPr>
        <p:spPr>
          <a:xfrm flipV="1">
            <a:off x="1238250" y="1905000"/>
            <a:ext cx="0" cy="295275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9" name="TextBox 18"/>
          <p:cNvSpPr txBox="1"/>
          <p:nvPr/>
        </p:nvSpPr>
        <p:spPr>
          <a:xfrm>
            <a:off x="4495800" y="468630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50495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8250" y="2381250"/>
            <a:ext cx="2667000" cy="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238250" y="4857750"/>
            <a:ext cx="2667000" cy="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238250" y="2381250"/>
            <a:ext cx="0" cy="247650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3905250" y="2381250"/>
            <a:ext cx="0" cy="2476500"/>
          </a:xfrm>
          <a:prstGeom prst="line">
            <a:avLst/>
          </a:prstGeom>
          <a:ln w="57150">
            <a:solidFill>
              <a:srgbClr val="2563E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2000250" y="19431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0250" y="49530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750" y="3457575"/>
            <a:ext cx="8191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38600" y="345757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100" b="0" i="1" baseline="-2500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" y="491490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0950" y="523875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450" y="222885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D. 구 좌표계의 변수 분리법 · P8 · 14점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 θ 경계가 고르는 모드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400" y="1409700"/>
            <a:ext cx="57150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반지름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 구면의 경계전위가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V(R, θ)=V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 θ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 주어진다.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2294077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294077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안쪽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r&lt;R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원점에 유한한 전위를 구하고 전기장을 해석하시오.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3159404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159404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바깥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r&gt;R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V→0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(r→∞)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 전위를 구하시오.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402473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4024732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해에서 필요한 르장드르 다항식의 차수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을 밝히시오.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4890059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(d)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4890059"/>
            <a:ext cx="5257800" cy="808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바깥 해의 먼 거리 거동으로부터 등가 쌍극자 모멘트를 구하시오.</a:t>
            </a:r>
          </a:p>
        </p:txBody>
      </p:sp>
      <p:sp>
        <p:nvSpPr>
          <p:cNvPr id="16" name="Oval 15"/>
          <p:cNvSpPr/>
          <p:nvPr/>
        </p:nvSpPr>
        <p:spPr>
          <a:xfrm>
            <a:off x="1333500" y="2381250"/>
            <a:ext cx="2857500" cy="2857500"/>
          </a:xfrm>
          <a:prstGeom prst="ellipse">
            <a:avLst/>
          </a:prstGeom>
          <a:solidFill>
            <a:srgbClr val="F7F8FA"/>
          </a:solidFill>
          <a:ln w="381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762250" y="1714500"/>
            <a:ext cx="0" cy="390525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8" name="TextBox 17"/>
          <p:cNvSpPr txBox="1"/>
          <p:nvPr/>
        </p:nvSpPr>
        <p:spPr>
          <a:xfrm>
            <a:off x="2857500" y="1504950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762250" y="2639637"/>
            <a:ext cx="819497" cy="1170363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20" name="TextBox 19"/>
          <p:cNvSpPr txBox="1"/>
          <p:nvPr/>
        </p:nvSpPr>
        <p:spPr>
          <a:xfrm>
            <a:off x="2838450" y="29337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8199" y="3148618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9525" y="4953000"/>
            <a:ext cx="2286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V(R,θ)=V</a:t>
            </a:r>
            <a:r>
              <a:rPr sz="2100" b="0" i="1" baseline="-2500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0" i="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 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PART 2 /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190750"/>
            <a:ext cx="109728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48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2부 · 풀이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0" y="3262312"/>
            <a:ext cx="28575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361950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실제 영역 → 경계조건 → 풀이 → 검산 순서로 확인합니다.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P1 (a) · 영상전하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거울 위치의 반대 전하가 평면 전위를 0으로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952750" y="1381125"/>
            <a:ext cx="0" cy="381000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8" name="TextBox 7"/>
          <p:cNvSpPr txBox="1"/>
          <p:nvPr/>
        </p:nvSpPr>
        <p:spPr>
          <a:xfrm>
            <a:off x="3067050" y="1190625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" y="3590925"/>
            <a:ext cx="4191000" cy="57150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95350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1" name="Connector 10"/>
          <p:cNvCxnSpPr/>
          <p:nvPr/>
        </p:nvCxnSpPr>
        <p:spPr>
          <a:xfrm flipH="1">
            <a:off x="1245177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1595005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944832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2294659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2644486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2994314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3344141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>
            <a:off x="3693968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4043795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4393623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H="1">
            <a:off x="4743450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3619500" y="3867150"/>
            <a:ext cx="1428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0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3" name="Oval 22"/>
          <p:cNvSpPr/>
          <p:nvPr/>
        </p:nvSpPr>
        <p:spPr>
          <a:xfrm>
            <a:off x="2695575" y="193357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0288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286000" y="2190750"/>
            <a:ext cx="0" cy="137160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26" name="TextBox 25"/>
          <p:cNvSpPr txBox="1"/>
          <p:nvPr/>
        </p:nvSpPr>
        <p:spPr>
          <a:xfrm>
            <a:off x="1847850" y="27432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2695575" y="47910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0" y="48863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3676650"/>
            <a:ext cx="0" cy="1371600"/>
          </a:xfrm>
          <a:prstGeom prst="line">
            <a:avLst/>
          </a:prstGeom>
          <a:ln w="15875">
            <a:solidFill>
              <a:srgbClr val="667085"/>
            </a:solidFill>
            <a:headEnd type="triangle" w="lg" len="lg"/>
            <a:tailEnd type="triangle" w="lg" len="lg"/>
          </a:ln>
        </p:spPr>
      </p:cxnSp>
      <p:sp>
        <p:nvSpPr>
          <p:cNvPr id="30" name="TextBox 29"/>
          <p:cNvSpPr txBox="1"/>
          <p:nvPr/>
        </p:nvSpPr>
        <p:spPr>
          <a:xfrm>
            <a:off x="1847850" y="41719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7400" y="1428750"/>
            <a:ext cx="5715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영역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z&gt;0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· 경계조건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V(z=0)=0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V(∞)=0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400" y="1937614"/>
            <a:ext cx="5715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평면 위의 점은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(0,0,a)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(0,0,−a)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거리가 같다:</a:t>
            </a:r>
          </a:p>
        </p:txBody>
      </p:sp>
      <p:pic>
        <p:nvPicPr>
          <p:cNvPr id="33" name="eq:p1d" descr="\sqrt{\rho^2+a^2}\;=\;\sqrt{\rho^2+(-a)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821991"/>
            <a:ext cx="3838346" cy="5787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67400" y="3534080"/>
            <a:ext cx="5715000" cy="116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크기가 같고 부호가 반대인 전하를 두면 두 전위가 평면 전체에서 상쇄된다. 영상전하는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z&lt;0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있어 실제 영역의 전하분포를 바꾸지 않는다.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67400" y="5391150"/>
            <a:ext cx="57150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674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41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8" name="eq:p1res" descr="q'=-q,\qquad \mathbf r_{q'}=(0,0,-a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5566067"/>
            <a:ext cx="3998900" cy="5264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P1 (b)–(c) · 전위와 정당화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영역의 전위는 두 점전하 전위의 합이다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pic>
        <p:nvPicPr>
          <p:cNvPr id="7" name="eq:p1V" descr="V(\rho,z)=\frac{q}{4\pi\epsilon_0}\left[\frac{1}{\sqrt{\rho^2+(z-a)^2}}-\frac{1}{\sqrt{\rho^2+(z+a)^2}}\right]\quad(z\ge 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60" y="1381125"/>
            <a:ext cx="8636279" cy="11164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2664219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9600" y="2859481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859481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840431"/>
            <a:ext cx="4953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: 두 분모가 모두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√(ρ</a:t>
            </a:r>
            <a:r>
              <a:rPr sz="2200" b="0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+a</a:t>
            </a:r>
            <a:r>
              <a:rPr sz="2200" b="0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V(ρ,0)=0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526231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526231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507181"/>
            <a:ext cx="4953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r→∞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: 두 항의 차가 남는다</a:t>
            </a:r>
          </a:p>
        </p:txBody>
      </p:sp>
      <p:pic>
        <p:nvPicPr>
          <p:cNvPr id="15" name="eq:p1far" descr="V\simeq\frac{1}{4\pi\epsilon_0}\frac{2qa\,z}{r^3}\to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016045"/>
            <a:ext cx="2923565" cy="85504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86500" y="2859481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6500" y="2859481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2840431"/>
            <a:ext cx="48768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제1 유일성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349295"/>
            <a:ext cx="4876800" cy="15401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z&gt;0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점전하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대한 푸아송 방정식을 만족하고 모든 경계조건(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무한대)을 만족하므로 이 후보해가 유일한 실제 해이다.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23" name="eq:p1res2" descr="V(\rho,0)=0,\qquad V\to0\ \ (r\to\inft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581002"/>
            <a:ext cx="4734458" cy="49659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29958" y="5391150"/>
            <a:ext cx="4638142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→ 유일성 정리에 따라 </a:t>
            </a:r>
            <a:r>
              <a:rPr sz="2100" b="1" i="1">
                <a:solidFill>
                  <a:srgbClr val="0B1F3A"/>
                </a:solidFill>
                <a:latin typeface="Times New Roman"/>
                <a:ea typeface="Times New Roman"/>
                <a:cs typeface="Times New Roman"/>
              </a:rPr>
              <a:t>z&gt;0</a:t>
            </a: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의 유일한 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P2 (a) · 유도 면전하밀도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법선 미분이 면전하밀도를 결정한다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609600" y="1447800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44780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428750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σ=−ε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(∂V/∂z)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z=0+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계산: 각 항을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 미분한다</a:t>
            </a:r>
          </a:p>
        </p:txBody>
      </p:sp>
      <p:pic>
        <p:nvPicPr>
          <p:cNvPr id="10" name="eq:p2d1" descr="\frac{\partial}{\partial z}\frac{1}{\sqrt{\rho^2+(z\mp a)^2}}=-\frac{z\mp a}{[\rho^2+(z\mp a)^2]^{3/2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937614"/>
            <a:ext cx="5794858" cy="9633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09600" y="3110484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110484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091434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을 대입하면 두 항이 같은 값을 준다</a:t>
            </a:r>
          </a:p>
        </p:txBody>
      </p:sp>
      <p:pic>
        <p:nvPicPr>
          <p:cNvPr id="14" name="eq:p2d2" descr="\left.\frac{\partial V}{\partial z}\right|_{0^+}=\frac{q}{4\pi\epsilon_0}\left[\frac{a}{(\rho^2+a^2)^{3/2}}+\frac{a}{(\rho^2+a^2)^{3/2}}\righ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600298"/>
            <a:ext cx="6373597" cy="94838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8" name="eq:p2res" descr="\sigma(\rho)=-\frac{qa}{2\pi(\rho^2+a^2)^{3/2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29250"/>
            <a:ext cx="3356076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P2 (b)–(c) · 분포와 총전하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유도전하는 전하 바로 아래에 모이고 총량은 −q이다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3114675"/>
            <a:ext cx="4476750" cy="57150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4900" y="3200400"/>
            <a:ext cx="95250" cy="812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8750" y="3200400"/>
            <a:ext cx="95250" cy="12779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52600" y="3200400"/>
            <a:ext cx="95250" cy="21270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76450" y="3200400"/>
            <a:ext cx="95250" cy="3748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3200400"/>
            <a:ext cx="95250" cy="6802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150" y="3200400"/>
            <a:ext cx="95250" cy="11435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3200400"/>
            <a:ext cx="95250" cy="1428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1850" y="3200400"/>
            <a:ext cx="95250" cy="11435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5700" y="3200400"/>
            <a:ext cx="95250" cy="6802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9550" y="3200400"/>
            <a:ext cx="95250" cy="37486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200400"/>
            <a:ext cx="95250" cy="21270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7250" y="3200400"/>
            <a:ext cx="95250" cy="12779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91100" y="3200400"/>
            <a:ext cx="95250" cy="8129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4750" y="371475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|σ(ρ)|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4625" y="2705100"/>
            <a:ext cx="762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ρ=0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4810125"/>
            <a:ext cx="4476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막대 길이 ∝ 면전하밀도의 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7400" y="1428750"/>
            <a:ext cx="5715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(b)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|σ|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ρ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 대해 단조 감소 → 최대는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ρ=0</a:t>
            </a:r>
          </a:p>
        </p:txBody>
      </p:sp>
      <p:pic>
        <p:nvPicPr>
          <p:cNvPr id="25" name="eq:p2max" descr="|\sigma|_{\max}=\frac{q}{2\pi a^2},\qquad \sigma\approx-\frac{qa}{2\pi\rho^3}\ \ (\rho\gg 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937614"/>
            <a:ext cx="5715000" cy="80151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67400" y="2872480"/>
            <a:ext cx="5715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(c)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u=ρ</a:t>
            </a:r>
            <a:r>
              <a:rPr sz="2200" b="1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+a</a:t>
            </a:r>
            <a:r>
              <a:rPr sz="2200" b="1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 치환</a:t>
            </a:r>
          </a:p>
        </p:txBody>
      </p:sp>
      <p:pic>
        <p:nvPicPr>
          <p:cNvPr id="27" name="eq:p2Qi" descr="Q_{\rm ind}=-qa\int_0^\infty\frac{\rho\,\mathrm d\rho}{(\rho^2+a^2)^{3/2}}=-qa\cdot\frac1a=-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381344"/>
            <a:ext cx="5715000" cy="8293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1" name="eq:p2res2" descr="|\sigma|_{\max}=\frac{q}{2\pi a^2}\ (\rho=0),\qquad \sigma\propto\rho^{-3},\qquad Q_{\rm ind}=-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57787"/>
            <a:ext cx="7247306" cy="74302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342806" y="5391150"/>
            <a:ext cx="2125294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(접지선으로 공급)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P3 (a)–(b) · 힘과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전하는 영상전하 쪽으로 끌린다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952750" y="1381125"/>
            <a:ext cx="0" cy="381000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8" name="TextBox 7"/>
          <p:cNvSpPr txBox="1"/>
          <p:nvPr/>
        </p:nvSpPr>
        <p:spPr>
          <a:xfrm>
            <a:off x="3067050" y="1190625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" y="3590925"/>
            <a:ext cx="4191000" cy="57150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95350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1" name="Connector 10"/>
          <p:cNvCxnSpPr/>
          <p:nvPr/>
        </p:nvCxnSpPr>
        <p:spPr>
          <a:xfrm flipH="1">
            <a:off x="1245177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1595005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944832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2294659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2644486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2994314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3344141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>
            <a:off x="3693968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4043795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4393623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H="1">
            <a:off x="4743450" y="3648075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3619500" y="3867150"/>
            <a:ext cx="1428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0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3" name="Oval 22"/>
          <p:cNvSpPr/>
          <p:nvPr/>
        </p:nvSpPr>
        <p:spPr>
          <a:xfrm>
            <a:off x="2695575" y="193357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0288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286000" y="2190750"/>
            <a:ext cx="0" cy="137160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26" name="TextBox 25"/>
          <p:cNvSpPr txBox="1"/>
          <p:nvPr/>
        </p:nvSpPr>
        <p:spPr>
          <a:xfrm>
            <a:off x="1847850" y="27432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2695575" y="4791075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0" y="48863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3676650"/>
            <a:ext cx="0" cy="1371600"/>
          </a:xfrm>
          <a:prstGeom prst="line">
            <a:avLst/>
          </a:prstGeom>
          <a:ln w="15875">
            <a:solidFill>
              <a:srgbClr val="667085"/>
            </a:solidFill>
            <a:headEnd type="triangle" w="lg" len="lg"/>
            <a:tailEnd type="triangle" w="lg" len="lg"/>
          </a:ln>
        </p:spPr>
      </p:cxnSp>
      <p:sp>
        <p:nvSpPr>
          <p:cNvPr id="30" name="TextBox 29"/>
          <p:cNvSpPr txBox="1"/>
          <p:nvPr/>
        </p:nvSpPr>
        <p:spPr>
          <a:xfrm>
            <a:off x="1847850" y="41719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29000" y="2190750"/>
            <a:ext cx="0" cy="666750"/>
          </a:xfrm>
          <a:prstGeom prst="line">
            <a:avLst/>
          </a:prstGeom>
          <a:ln w="38100">
            <a:solidFill>
              <a:srgbClr val="2563EB"/>
            </a:solidFill>
            <a:tailEnd type="triangle" w="lg" len="lg"/>
          </a:ln>
        </p:spPr>
      </p:cxnSp>
      <p:sp>
        <p:nvSpPr>
          <p:cNvPr id="32" name="TextBox 31"/>
          <p:cNvSpPr txBox="1"/>
          <p:nvPr/>
        </p:nvSpPr>
        <p:spPr>
          <a:xfrm>
            <a:off x="3543300" y="2552700"/>
            <a:ext cx="381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7400" y="1428750"/>
            <a:ext cx="5715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(a) 영상전하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−q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 거리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2a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만드는 장</a:t>
            </a:r>
          </a:p>
        </p:txBody>
      </p:sp>
      <p:pic>
        <p:nvPicPr>
          <p:cNvPr id="34" name="eq:p3F" descr="\mathbf F=q\,\mathbf E_{\rm image}=-\frac{1}{4\pi\epsilon_0}\frac{q^2}{(2a)^2}\,\hat{\mathbf z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937614"/>
            <a:ext cx="4226662" cy="9409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67400" y="3011881"/>
            <a:ext cx="5715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(b) 높이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외력은 전기력과 크기가 같고 방향은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+z</a:t>
            </a:r>
          </a:p>
        </p:txBody>
      </p:sp>
      <p:pic>
        <p:nvPicPr>
          <p:cNvPr id="36" name="eq:p3W" descr="W=\int_\infty^a\frac{q^2}{16\pi\epsilon_0 z^2}\,\mathrm dz=-\frac{q^2}{16\pi\epsilon_0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896258"/>
            <a:ext cx="4618711" cy="93345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867400" y="5391150"/>
            <a:ext cx="57150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674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41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40" name="eq:p3res" descr="\mathbf F=-\frac{q^2}{16\pi\epsilon_0a^2}\hat{\mathbf z},\qquad W=-\frac{q^2}{16\pi\epsilon_0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5457616"/>
            <a:ext cx="4191000" cy="7433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P3 (c) · 에너지 계수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장이 반공간에만 있으므로 에너지는 절반이다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3629025"/>
            <a:ext cx="4191000" cy="14287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3750" y="4638675"/>
            <a:ext cx="1714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도체 쪽: 장 없음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952750" y="1524000"/>
            <a:ext cx="0" cy="361950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0" name="TextBox 9"/>
          <p:cNvSpPr txBox="1"/>
          <p:nvPr/>
        </p:nvSpPr>
        <p:spPr>
          <a:xfrm>
            <a:off x="3067050" y="1333500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3543300"/>
            <a:ext cx="4191000" cy="57150"/>
          </a:xfrm>
          <a:prstGeom prst="rect">
            <a:avLst/>
          </a:prstGeom>
          <a:solidFill>
            <a:srgbClr val="3440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895350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245177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595005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944832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2294659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2644486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>
            <a:off x="2994314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3344141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3693968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H="1">
            <a:off x="4043795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4393623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4743450" y="3600450"/>
            <a:ext cx="133350" cy="161925"/>
          </a:xfrm>
          <a:prstGeom prst="line">
            <a:avLst/>
          </a:prstGeom>
          <a:ln w="15875">
            <a:solidFill>
              <a:srgbClr val="344054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3619500" y="3819525"/>
            <a:ext cx="1428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z=0</a:t>
            </a:r>
            <a:r>
              <a:rPr sz="20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0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25" name="Oval 24"/>
          <p:cNvSpPr/>
          <p:nvPr/>
        </p:nvSpPr>
        <p:spPr>
          <a:xfrm>
            <a:off x="2695575" y="2076450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81250" y="21717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286000" y="2333625"/>
            <a:ext cx="0" cy="118110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28" name="TextBox 27"/>
          <p:cNvSpPr txBox="1"/>
          <p:nvPr/>
        </p:nvSpPr>
        <p:spPr>
          <a:xfrm>
            <a:off x="1847850" y="2790825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2695575" y="4552950"/>
            <a:ext cx="514350" cy="514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6482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3629025"/>
            <a:ext cx="0" cy="1181100"/>
          </a:xfrm>
          <a:prstGeom prst="line">
            <a:avLst/>
          </a:prstGeom>
          <a:ln w="15875">
            <a:solidFill>
              <a:srgbClr val="667085"/>
            </a:solidFill>
            <a:headEnd type="triangle" w="lg" len="lg"/>
            <a:tailEnd type="triangle" w="lg" len="lg"/>
          </a:ln>
        </p:spPr>
      </p:cxnSp>
      <p:sp>
        <p:nvSpPr>
          <p:cNvPr id="32" name="TextBox 31"/>
          <p:cNvSpPr txBox="1"/>
          <p:nvPr/>
        </p:nvSpPr>
        <p:spPr>
          <a:xfrm>
            <a:off x="1847850" y="4029075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pic>
        <p:nvPicPr>
          <p:cNvPr id="33" name="eq:p3U2" descr="W_{qq'}=-\frac{1}{4\pi\epsilon_0}\frac{q^2}{2a}=-\frac{q^2}{8\pi\epsilon_0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428750"/>
            <a:ext cx="4051173" cy="90731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67400" y="2507513"/>
            <a:ext cx="5715000" cy="116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① 두 점전하계의 장은 전 공간에 있지만 실제 장은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z&gt;0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에만 있다. 장은 평면에 대해 대칭이므로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(ε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/2)∫E</a:t>
            </a:r>
            <a:r>
              <a:rPr sz="2200" b="0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dτ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 절반만 남는다.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7400" y="3767404"/>
            <a:ext cx="5715000" cy="116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② 실제 전하를 옮기면 영상전하는 저절로 따라 움직인다. 외력의 일은 실제 전하 하나에 대한 것뿐이다.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67400" y="5391150"/>
            <a:ext cx="57150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674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41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9" name="eq:p3res2" descr="W=\frac12\,W_{qq'}=-\frac{q^2}{16\pi\epsilon_0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5429250"/>
            <a:ext cx="3095037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P4 (a) · 영상전하의 위치와 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구면의 두 점에서 V = 0을 요구한다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952500" y="2190750"/>
            <a:ext cx="2476500" cy="2476500"/>
          </a:xfrm>
          <a:prstGeom prst="ellipse">
            <a:avLst/>
          </a:prstGeom>
          <a:solidFill>
            <a:srgbClr val="F7F8FA"/>
          </a:solidFill>
          <a:ln w="317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71500" y="3429000"/>
            <a:ext cx="4572000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9" name="TextBox 8"/>
          <p:cNvSpPr txBox="1"/>
          <p:nvPr/>
        </p:nvSpPr>
        <p:spPr>
          <a:xfrm>
            <a:off x="5010150" y="30099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0" name="Oval 9"/>
          <p:cNvSpPr/>
          <p:nvPr/>
        </p:nvSpPr>
        <p:spPr>
          <a:xfrm>
            <a:off x="2152650" y="3390900"/>
            <a:ext cx="76200" cy="7620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480519" y="2414685"/>
            <a:ext cx="710231" cy="1014315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12" name="TextBox 11"/>
          <p:cNvSpPr txBox="1"/>
          <p:nvPr/>
        </p:nvSpPr>
        <p:spPr>
          <a:xfrm>
            <a:off x="1892784" y="2674192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" name="Oval 12"/>
          <p:cNvSpPr/>
          <p:nvPr/>
        </p:nvSpPr>
        <p:spPr>
          <a:xfrm>
            <a:off x="4314825" y="317182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500" y="32670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0750" y="3524250"/>
            <a:ext cx="0" cy="1543050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572000" y="3714750"/>
            <a:ext cx="0" cy="1352550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190750" y="4991100"/>
            <a:ext cx="2381250" cy="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18" name="TextBox 17"/>
          <p:cNvSpPr txBox="1"/>
          <p:nvPr/>
        </p:nvSpPr>
        <p:spPr>
          <a:xfrm>
            <a:off x="3209925" y="50292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2606040" y="320040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3140" y="32670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q′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0750" y="3048000"/>
            <a:ext cx="643890" cy="0"/>
          </a:xfrm>
          <a:prstGeom prst="line">
            <a:avLst/>
          </a:prstGeom>
          <a:ln w="15875">
            <a:solidFill>
              <a:srgbClr val="667085"/>
            </a:solidFill>
            <a:headEnd type="triangle" w="lg" len="lg"/>
            <a:tailEnd type="triangle" w="lg" len="lg"/>
          </a:ln>
        </p:spPr>
      </p:cxnSp>
      <p:sp>
        <p:nvSpPr>
          <p:cNvPr id="22" name="TextBox 21"/>
          <p:cNvSpPr txBox="1"/>
          <p:nvPr/>
        </p:nvSpPr>
        <p:spPr>
          <a:xfrm>
            <a:off x="2341245" y="26860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42975" y="4308158"/>
            <a:ext cx="381000" cy="38100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38175" y="4689158"/>
            <a:ext cx="3429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95325" y="4765358"/>
            <a:ext cx="2286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52475" y="4841558"/>
            <a:ext cx="1143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23875" y="4917758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접지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1428750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θ=0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(가까운 점)과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θ=π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(먼 점)</a:t>
            </a:r>
          </a:p>
        </p:txBody>
      </p:sp>
      <p:pic>
        <p:nvPicPr>
          <p:cNvPr id="29" name="eq:p4c" descr="\frac{q}{a-R}+\frac{q'}{R-b}=0,\qquad \frac{q}{a+R}+\frac{q'}{R+b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37614"/>
            <a:ext cx="5334000" cy="7486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48400" y="2819652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식을 연립하면</a:t>
            </a:r>
          </a:p>
        </p:txBody>
      </p:sp>
      <p:pic>
        <p:nvPicPr>
          <p:cNvPr id="31" name="eq:p4s" descr="b=\frac{R^2}{a}&lt;R,\qquad q'=-\frac{R}{a}\,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328515"/>
            <a:ext cx="3998900" cy="8625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248400" y="4324373"/>
            <a:ext cx="5334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a&gt;R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이므로 영상전하는 구 안, 즉 실제 영역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r≥R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밖에 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8400" y="5391150"/>
            <a:ext cx="53340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484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51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6" name="eq:p4res" descr="b=\frac{R^2}{a},\qquad q'=-\frac{R}{a}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5429250"/>
            <a:ext cx="3058391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P4 (b) · 구 바깥의 전위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거리비가 구면 전체에서 일정하다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pic>
        <p:nvPicPr>
          <p:cNvPr id="7" name="eq:p4V" descr="V(r,\theta)=\frac{q}{4\pi\epsilon_0}\left[\frac{1}{\sqrt{r^2+a^2-2ar\cos\theta}}-\frac{R}{\sqrt{a^2r^2+R^4-2aR^2r\cos\theta}}\right]\ \ (r\ge R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5" y="1381125"/>
            <a:ext cx="9996830" cy="876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2424112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9600" y="2638425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638425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619375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r=R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둘째 항의 분모</a:t>
            </a:r>
          </a:p>
        </p:txBody>
      </p:sp>
      <p:pic>
        <p:nvPicPr>
          <p:cNvPr id="12" name="eq:p4b1" descr="\sqrt{a^2R^2+R^4-2aR^3\cos\theta}=R\sqrt{a^2+R^2-2aR\cos\th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128239"/>
            <a:ext cx="7307047" cy="571271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09600" y="3909060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0906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890010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따라서 두 항이 같은 크기, 반대 부호가 되어 모든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상쇄된다.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9" name="eq:p4res2" descr="V(R,\theta)=\frac{q}{4\pi\epsilon_0}\left[\frac{1}{\sqrt{R^2+a^2-2aR\cos\theta}}-\frac{1}{\sqrt{a^2+R^2-2aR\cos\theta}}\right]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29250"/>
            <a:ext cx="8253832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P4 (c)–(d) · 유도전하와 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유도 총전하는 영상전하와 같고 힘은 구를 향한다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7" name="Oval 6"/>
          <p:cNvSpPr/>
          <p:nvPr/>
        </p:nvSpPr>
        <p:spPr>
          <a:xfrm>
            <a:off x="952500" y="2190750"/>
            <a:ext cx="2476500" cy="2476500"/>
          </a:xfrm>
          <a:prstGeom prst="ellipse">
            <a:avLst/>
          </a:prstGeom>
          <a:solidFill>
            <a:srgbClr val="F7F8FA"/>
          </a:solidFill>
          <a:ln w="317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71500" y="3429000"/>
            <a:ext cx="4572000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9" name="TextBox 8"/>
          <p:cNvSpPr txBox="1"/>
          <p:nvPr/>
        </p:nvSpPr>
        <p:spPr>
          <a:xfrm>
            <a:off x="5010150" y="30099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0" name="Oval 9"/>
          <p:cNvSpPr/>
          <p:nvPr/>
        </p:nvSpPr>
        <p:spPr>
          <a:xfrm>
            <a:off x="2152650" y="3390900"/>
            <a:ext cx="76200" cy="7620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480519" y="2414685"/>
            <a:ext cx="710231" cy="1014315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12" name="TextBox 11"/>
          <p:cNvSpPr txBox="1"/>
          <p:nvPr/>
        </p:nvSpPr>
        <p:spPr>
          <a:xfrm>
            <a:off x="1892784" y="2674192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" name="Oval 12"/>
          <p:cNvSpPr/>
          <p:nvPr/>
        </p:nvSpPr>
        <p:spPr>
          <a:xfrm>
            <a:off x="4314825" y="317182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500" y="32670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0750" y="3524250"/>
            <a:ext cx="0" cy="1543050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572000" y="3714750"/>
            <a:ext cx="0" cy="1352550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190750" y="4991100"/>
            <a:ext cx="2381250" cy="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18" name="TextBox 17"/>
          <p:cNvSpPr txBox="1"/>
          <p:nvPr/>
        </p:nvSpPr>
        <p:spPr>
          <a:xfrm>
            <a:off x="3209925" y="50292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2606040" y="320040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3140" y="326707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q′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0750" y="3048000"/>
            <a:ext cx="643890" cy="0"/>
          </a:xfrm>
          <a:prstGeom prst="line">
            <a:avLst/>
          </a:prstGeom>
          <a:ln w="15875">
            <a:solidFill>
              <a:srgbClr val="667085"/>
            </a:solidFill>
            <a:headEnd type="triangle" w="lg" len="lg"/>
            <a:tailEnd type="triangle" w="lg" len="lg"/>
          </a:ln>
        </p:spPr>
      </p:cxnSp>
      <p:sp>
        <p:nvSpPr>
          <p:cNvPr id="22" name="TextBox 21"/>
          <p:cNvSpPr txBox="1"/>
          <p:nvPr/>
        </p:nvSpPr>
        <p:spPr>
          <a:xfrm>
            <a:off x="2341245" y="26860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42975" y="4308158"/>
            <a:ext cx="381000" cy="38100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38175" y="4689158"/>
            <a:ext cx="3429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95325" y="4765358"/>
            <a:ext cx="2286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52475" y="4841558"/>
            <a:ext cx="114300" cy="0"/>
          </a:xfrm>
          <a:prstGeom prst="line">
            <a:avLst/>
          </a:prstGeom>
          <a:ln w="19050">
            <a:solidFill>
              <a:srgbClr val="344054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23875" y="4917758"/>
            <a:ext cx="571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접지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000500" y="3143250"/>
            <a:ext cx="571500" cy="0"/>
          </a:xfrm>
          <a:prstGeom prst="line">
            <a:avLst/>
          </a:prstGeom>
          <a:ln w="38100">
            <a:solidFill>
              <a:srgbClr val="2563EB"/>
            </a:solidFill>
            <a:tailEnd type="triangle" w="lg" len="lg"/>
          </a:ln>
        </p:spPr>
      </p:cxnSp>
      <p:sp>
        <p:nvSpPr>
          <p:cNvPr id="29" name="TextBox 28"/>
          <p:cNvSpPr txBox="1"/>
          <p:nvPr/>
        </p:nvSpPr>
        <p:spPr>
          <a:xfrm>
            <a:off x="4114800" y="2781300"/>
            <a:ext cx="381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400" y="1428750"/>
            <a:ext cx="5334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(c) 구 바깥의 장 =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q+q′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 장 → 구를 감싼 가우스 곡면</a:t>
            </a:r>
          </a:p>
        </p:txBody>
      </p:sp>
      <p:pic>
        <p:nvPicPr>
          <p:cNvPr id="31" name="eq:p4Q" descr="Q_{\rm ind}=q'=-\frac{R}{a}\,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313127"/>
            <a:ext cx="2609926" cy="8214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248400" y="3267913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(d) 거리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a-b=(a</a:t>
            </a:r>
            <a:r>
              <a:rPr sz="2200" b="1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−R</a:t>
            </a:r>
            <a:r>
              <a:rPr sz="2200" b="1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)/a</a:t>
            </a:r>
          </a:p>
        </p:txBody>
      </p:sp>
      <p:pic>
        <p:nvPicPr>
          <p:cNvPr id="33" name="eq:p4F" descr="\mathbf F=\frac{1}{4\pi\epsilon_0}\frac{qq'}{(a-b)^2}\hat{\mathbf z}=-\frac{1}{4\pi\epsilon_0}\frac{q^2Ra}{(a^2-R^2)^2}\hat{\mathbf z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776777"/>
            <a:ext cx="5334000" cy="86441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7" name="eq:p4res3" descr="|\mathbf F|=\frac{q^2Ra}{4\pi\epsilon_0(a^2-R^2)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29250"/>
            <a:ext cx="2651125" cy="8001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46625" y="5391150"/>
            <a:ext cx="6721475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구 중심 쪽을 향함 (인력)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P5 (a)–(b) · 중심 영상전하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중심 전하는 등전위를 깨지 않고 총전하를 맞춘다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809625" y="2238375"/>
            <a:ext cx="2571750" cy="2571750"/>
          </a:xfrm>
          <a:prstGeom prst="ellipse">
            <a:avLst/>
          </a:prstGeom>
          <a:solidFill>
            <a:srgbClr val="F7F8FA"/>
          </a:solidFill>
          <a:ln w="317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28625" y="3524250"/>
            <a:ext cx="4238625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9" name="TextBox 8"/>
          <p:cNvSpPr txBox="1"/>
          <p:nvPr/>
        </p:nvSpPr>
        <p:spPr>
          <a:xfrm>
            <a:off x="4533900" y="310515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3486150"/>
            <a:ext cx="76200" cy="7620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357952" y="2470923"/>
            <a:ext cx="737548" cy="1053327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12" name="TextBox 11"/>
          <p:cNvSpPr txBox="1"/>
          <p:nvPr/>
        </p:nvSpPr>
        <p:spPr>
          <a:xfrm>
            <a:off x="1783876" y="2749936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" name="Oval 12"/>
          <p:cNvSpPr/>
          <p:nvPr/>
        </p:nvSpPr>
        <p:spPr>
          <a:xfrm>
            <a:off x="3838575" y="3267075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4250" y="33623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95500" y="3619500"/>
            <a:ext cx="0" cy="1590675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095750" y="3810000"/>
            <a:ext cx="0" cy="1400175"/>
          </a:xfrm>
          <a:prstGeom prst="line">
            <a:avLst/>
          </a:prstGeom>
          <a:ln w="12700">
            <a:solidFill>
              <a:srgbClr val="D0D5DD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095500" y="5133975"/>
            <a:ext cx="2000250" cy="0"/>
          </a:xfrm>
          <a:prstGeom prst="line">
            <a:avLst/>
          </a:prstGeom>
          <a:ln w="15875">
            <a:solidFill>
              <a:srgbClr val="191919"/>
            </a:solidFill>
            <a:headEnd type="triangle" w="lg" len="lg"/>
            <a:tailEnd type="triangle" w="lg" len="lg"/>
          </a:ln>
        </p:spPr>
      </p:cxnSp>
      <p:sp>
        <p:nvSpPr>
          <p:cNvPr id="18" name="TextBox 17"/>
          <p:cNvSpPr txBox="1"/>
          <p:nvPr/>
        </p:nvSpPr>
        <p:spPr>
          <a:xfrm>
            <a:off x="2924175" y="5172075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2693534" y="329565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634" y="33623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q′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95500" y="3143250"/>
            <a:ext cx="826634" cy="0"/>
          </a:xfrm>
          <a:prstGeom prst="line">
            <a:avLst/>
          </a:prstGeom>
          <a:ln w="15875">
            <a:solidFill>
              <a:srgbClr val="667085"/>
            </a:solidFill>
            <a:headEnd type="triangle" w="lg" len="lg"/>
            <a:tailEnd type="triangle" w="lg" len="lg"/>
          </a:ln>
        </p:spPr>
      </p:cxnSp>
      <p:sp>
        <p:nvSpPr>
          <p:cNvPr id="22" name="TextBox 21"/>
          <p:cNvSpPr txBox="1"/>
          <p:nvPr/>
        </p:nvSpPr>
        <p:spPr>
          <a:xfrm>
            <a:off x="2337367" y="27813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4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1866900" y="329565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6708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4000" y="3362325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1900" b="1" i="1" baseline="-2500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900" b="1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0" y="1428750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(a) 총전하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0=q′+q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′</a:t>
            </a:r>
          </a:p>
        </p:txBody>
      </p:sp>
      <p:pic>
        <p:nvPicPr>
          <p:cNvPr id="26" name="eq:p5q0" descr="q_0'=-q'=+\frac{R}{a}\,q\quad(\text{at }r=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37614"/>
            <a:ext cx="4170655" cy="8214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48400" y="2892400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(b) P4의 전위에 중심 전하의 전위를 더한다</a:t>
            </a:r>
          </a:p>
        </p:txBody>
      </p:sp>
      <p:pic>
        <p:nvPicPr>
          <p:cNvPr id="28" name="eq:p5V" descr="V=V_{\rm P4}(r,\theta)+\frac{1}{4\pi\epsilon_0}\frac{qR/a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401263"/>
            <a:ext cx="3842080" cy="8886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48400" y="4423258"/>
            <a:ext cx="5334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r=R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P4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이므로 셋째 항만 남아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와 무관하다.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8400" y="5391150"/>
            <a:ext cx="53340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84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51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3" name="eq:p5res" descr="V(R,\theta)=\frac{q}{4\pi\epsilon_0 a}=\text{const.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0" y="5433517"/>
            <a:ext cx="3674059" cy="7915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P5 (c) · 먼 거리 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홀극 항의 계수가 전체 전하를 드러낸다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pic>
        <p:nvPicPr>
          <p:cNvPr id="7" name="eq:p5mono" descr="V\simeq\frac{1}{4\pi\epsilon_0}\frac{Q_{\rm total}}{r}\qquad(r\to\infty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428750"/>
            <a:ext cx="4181856" cy="869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47650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접지된 구 (P4)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881312"/>
            <a:ext cx="5353050" cy="28575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eq:p5g" descr="Q_{\rm total}=q+q'=q\left(1-\frac{R}{a}\righ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43250"/>
            <a:ext cx="4054907" cy="933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191000"/>
            <a:ext cx="53530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접지선으로 −qR/a가 들어온다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247650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중성 고립구 (P5)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9350" y="2881312"/>
            <a:ext cx="53530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eq:p5n" descr="Q_{\rm total}=q+q'+q_0'=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143250"/>
            <a:ext cx="3356686" cy="5115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9350" y="4191000"/>
            <a:ext cx="53530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도체 알짜 전하 0 → 멀리서는 q만 보인다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9" name="eq:p5res2" descr="\frac{q(1-R/a)}{4\pi\epsilon_0\,r}\ \longrightarrow\ \frac{q}{4\pi\epsilon_0\,r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5429250"/>
            <a:ext cx="3153335" cy="800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48835" y="5391150"/>
            <a:ext cx="6219265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둘 다 </a:t>
            </a:r>
            <a:r>
              <a:rPr sz="2100" b="1" i="1">
                <a:solidFill>
                  <a:srgbClr val="0B1F3A"/>
                </a:solidFill>
                <a:latin typeface="Times New Roman"/>
                <a:ea typeface="Times New Roman"/>
                <a:cs typeface="Times New Roman"/>
              </a:rPr>
              <a:t>1/r</a:t>
            </a: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 차수, 계수가 </a:t>
            </a:r>
            <a:r>
              <a:rPr sz="2100" b="1" i="1">
                <a:solidFill>
                  <a:srgbClr val="0B1F3A"/>
                </a:solidFill>
                <a:latin typeface="Times New Roman"/>
                <a:ea typeface="Times New Roman"/>
                <a:cs typeface="Times New Roman"/>
              </a:rPr>
              <a:t>q(1−R/a)</a:t>
            </a: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sz="2100" b="1" i="1">
                <a:solidFill>
                  <a:srgbClr val="0B1F3A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로 커진다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P6 (a) · 변수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곱 형태를 대입하면 두 상미분방정식으로 나뉜다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pic>
        <p:nvPicPr>
          <p:cNvPr id="7" name="eq:p6L" descr="\frac{\partial^2V}{\partial x^2}+\frac{\partial^2V}{\partial y^2}=0,\qquad V=X(x)Y(y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275" y="1428750"/>
            <a:ext cx="5197450" cy="92224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2636749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636749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617699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XY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 나누면 각 항은 서로 다른 변수만의 함수이므로 상수여야 한다</a:t>
            </a:r>
          </a:p>
        </p:txBody>
      </p:sp>
      <p:pic>
        <p:nvPicPr>
          <p:cNvPr id="11" name="eq:p6s" descr="\frac{1}{X}\frac{\mathrm d^2X}{\mathrm dx^2}+\frac{1}{Y}\frac{\mathrm d^2Y}{\mathrm dy^2}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126562"/>
            <a:ext cx="3113989" cy="922249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09600" y="4258361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258361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239311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방향의 두 영 경계가 진동해를 요구하므로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쪽에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−k</a:t>
            </a:r>
            <a:r>
              <a:rPr sz="2200" b="0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8" name="eq:p6res" descr="\frac{\mathrm d^2X}{\mathrm dx^2}=k^2X,\qquad \frac{\mathrm d^2Y}{\mathrm dy^2}=-k^2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29250"/>
            <a:ext cx="3857972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P6 (b) · 경계조건으로 해 고르기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경계가 한 모드뿐이면 해도 한 항이다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286000"/>
            <a:ext cx="2476500" cy="2381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43000" y="4667250"/>
            <a:ext cx="3048000" cy="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cxnSp>
        <p:nvCxnSpPr>
          <p:cNvPr id="9" name="Connector 8"/>
          <p:cNvCxnSpPr/>
          <p:nvPr/>
        </p:nvCxnSpPr>
        <p:spPr>
          <a:xfrm flipV="1">
            <a:off x="1143000" y="1809750"/>
            <a:ext cx="0" cy="285750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10" name="TextBox 9"/>
          <p:cNvSpPr txBox="1"/>
          <p:nvPr/>
        </p:nvSpPr>
        <p:spPr>
          <a:xfrm>
            <a:off x="4210050" y="449580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40970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286000"/>
            <a:ext cx="2476500" cy="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43000" y="4667250"/>
            <a:ext cx="2476500" cy="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143000" y="2286000"/>
            <a:ext cx="0" cy="2381250"/>
          </a:xfrm>
          <a:prstGeom prst="line">
            <a:avLst/>
          </a:prstGeom>
          <a:ln w="38100">
            <a:solidFill>
              <a:srgbClr val="344054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3619500" y="2286000"/>
            <a:ext cx="0" cy="2381250"/>
          </a:xfrm>
          <a:prstGeom prst="line">
            <a:avLst/>
          </a:prstGeom>
          <a:ln w="57150">
            <a:solidFill>
              <a:srgbClr val="2563EB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809750" y="184785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9750" y="4762500"/>
            <a:ext cx="1143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" y="3314700"/>
            <a:ext cx="8191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2850" y="3314700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100" b="0" i="1" baseline="-2500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0" i="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sin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(πy/a)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72440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00" y="504825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33600"/>
            <a:ext cx="2286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1524000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①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Y(0)=Y(a)=0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Y=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sin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(nπy/a)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k=nπ/a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8400" y="2070964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②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X(0)=0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X=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sinh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(kx)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0" y="2617927"/>
            <a:ext cx="53340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③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x=b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 경계는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n=1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모드 하나</a:t>
            </a:r>
          </a:p>
        </p:txBody>
      </p:sp>
      <p:pic>
        <p:nvPicPr>
          <p:cNvPr id="26" name="eq:p6m" descr="A_1\sinh\frac{\pi b}{a}=V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164891"/>
            <a:ext cx="2344826" cy="82517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48400" y="5391150"/>
            <a:ext cx="53340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84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51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30" name="eq:p6res2" descr="V(x,y)=V_0\,\frac{\sinh(\pi x/a)}{\sinh(\pi b/a)}\,\sin\frac{\pi y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5436484"/>
            <a:ext cx="3810000" cy="78563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P6 (c) · 중심의 전위와 전기장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중심의 전기장은 −x 방향만 남는다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pic>
        <p:nvPicPr>
          <p:cNvPr id="7" name="eq:p6c1" descr="V\!\left(\frac b2,\frac a2\right)=V_0\frac{\sinh(\pi b/2a)}{\sinh(\pi b/a)}=\frac{V_0}{2\cosh(\pi b/2a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78" y="1428750"/>
            <a:ext cx="6213043" cy="9334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2686050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6860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pic>
        <p:nvPicPr>
          <p:cNvPr id="10" name="eq:p6c2" descr="\frac{\partial V}{\partial x}=\frac{\pi V_0}{a}\frac{\cosh(\pi x/a)}{\sinh(\pi b/a)}\sin\frac{\pi y}{a}\ \to\ \frac{\pi V_0}{2a\,\sinh(\pi b/2a)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667000"/>
            <a:ext cx="6959803" cy="918515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09600" y="3814115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814115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795065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∂V/∂y ∝ 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(π/2)=0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성분 없음. 전위가 높은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x=b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멀어지는 방향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7" name="eq:p6res3" descr="\mathbf E\!\left(\frac b2,\frac a2\right)=-\frac{\pi V_0}{2a\,\sinh(\pi b/2a)}\,\hat{\mathbf 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29250"/>
            <a:ext cx="3824478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P7 (a) · 푸리에 사인 계수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짝수 모드는 cos nπ = 1 때문에 사라진다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pic>
        <p:nvPicPr>
          <p:cNvPr id="7" name="eq:p7e" descr="V_0=\sum_{n=1}^{\infty}c_n\sin\frac{n\pi y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428750"/>
            <a:ext cx="2837688" cy="109400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600" y="2827553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827553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808503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양변에 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sin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(n′πy/a)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를 곱해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부터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 적분 (직교성)</a:t>
            </a:r>
          </a:p>
        </p:txBody>
      </p:sp>
      <p:pic>
        <p:nvPicPr>
          <p:cNvPr id="11" name="eq:p7c" descr="c_n=\frac{2}{a}\int_0^a V_0\sin\frac{n\pi y}{a}\,\mathrm dy=\frac{2V_0}{n\pi}\,(1-\cos n\p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317367"/>
            <a:ext cx="6138367" cy="90731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09600" y="4453280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45328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434230"/>
            <a:ext cx="104775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짝수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 nπ=1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=0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· 홀수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 nπ=−1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5219700"/>
            <a:ext cx="10972800" cy="10668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5219700"/>
            <a:ext cx="7620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5219700"/>
            <a:ext cx="104775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8" name="eq:p7res" descr="c_n=\begin{cases}\dfrac{4V_0}{n\pi}, &amp; n=1,3,5,\dots\\[4pt] 0, &amp; n=2,4,6,\dots\end{cases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257800"/>
            <a:ext cx="3016827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P7 (b)–(c) · 급수해와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모드를 경계 계수로 겹친다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pic>
        <p:nvPicPr>
          <p:cNvPr id="7" name="eq:p7V" descr="V(x,y)=\frac{4V_0}{\pi}\sum_{n=1,3,5,\dots}\frac{1}{n}\,\frac{\sinh(n\pi x/a)}{\sinh(n\pi b/a)}\,\sin\frac{n\pi y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389" y="1428750"/>
            <a:ext cx="6575222" cy="10641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2659571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9600" y="2873883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873883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854833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라플라스 방정식</a:t>
            </a:r>
          </a:p>
        </p:txBody>
      </p:sp>
      <p:pic>
        <p:nvPicPr>
          <p:cNvPr id="12" name="eq:p7k1" descr="\nabla^2\!\left[\sinh(k_nx)\sin(k_ny)\right]=(k_n^2-k_n^2)\,(\cdots)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254883"/>
            <a:ext cx="6194374" cy="53393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09600" y="4017416"/>
            <a:ext cx="266700" cy="2667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017416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998366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영 경계</a:t>
            </a:r>
          </a:p>
        </p:txBody>
      </p:sp>
      <p:pic>
        <p:nvPicPr>
          <p:cNvPr id="16" name="eq:p7k2" descr="x=0:\ \sinh0=0,\quad y=0:\ \sin0=0,\quad y=a:\ \sin n\pi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98416"/>
            <a:ext cx="8244230" cy="46299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20" name="eq:p7res2" descr="\nabla^2V=0,\qquad V(0,y)=V(x,0)=V(x,a)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5587399"/>
            <a:ext cx="5829300" cy="4838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24800" y="5391150"/>
            <a:ext cx="35433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← 모든 항이 만족 (선형 중첩)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P7 (d) · 불연속점에서의 수렴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불연속점에서는 양쪽 극한의 평균으로 수렴한다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pic>
        <p:nvPicPr>
          <p:cNvPr id="7" name="Picture 6" descr="p7_partial_su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8750"/>
            <a:ext cx="5334000" cy="3355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8768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700" b="0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그림: </a:t>
            </a:r>
            <a:r>
              <a:rPr sz="17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x=b</a:t>
            </a:r>
            <a:r>
              <a:rPr sz="1700" b="0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에서 부분합 (홀수 모드 </a:t>
            </a:r>
            <a:r>
              <a:rPr sz="17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n≤N</a:t>
            </a:r>
            <a:r>
              <a:rPr sz="1700" b="0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381125"/>
            <a:ext cx="5334000" cy="7891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모서리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(b,0)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(b,a)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경계값이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200" b="0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으로 끊어진다.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208352"/>
            <a:ext cx="5334000" cy="116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푸리에 급수는 불연속점에서 양쪽 극한의 평균으로 수렴한다. 사인 급수는 홀함수 연장의 급수이므로 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y=0, a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에서는</a:t>
            </a:r>
          </a:p>
        </p:txBody>
      </p:sp>
      <p:pic>
        <p:nvPicPr>
          <p:cNvPr id="11" name="eq:p7avg" descr="\tfrac12\left[V_0+(-V_0)\right]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411093"/>
            <a:ext cx="2677135" cy="556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8400" y="4043629"/>
            <a:ext cx="5334000" cy="116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불연속점 근처에서는 약 9% 넘침(깁스 현상). 영역 안(</a:t>
            </a: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x&lt;b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)에서는 </a:t>
            </a:r>
            <a:r>
              <a:rPr sz="2200" b="0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sinh</a:t>
            </a: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인자 때문에 빠르게 수렴한다.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6" name="eq:p7res3" descr="\frac12\left[f(y^-)+f(y^+)\right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429250"/>
            <a:ext cx="2665771" cy="800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1271" y="5391150"/>
            <a:ext cx="6706829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불연속점에서 급수가 수렴하는 값 (모서리 </a:t>
            </a:r>
            <a:r>
              <a:rPr sz="2100" b="1" i="1">
                <a:solidFill>
                  <a:srgbClr val="0B1F3A"/>
                </a:solidFill>
                <a:latin typeface="Times New Roman"/>
                <a:ea typeface="Times New Roman"/>
                <a:cs typeface="Times New Roman"/>
              </a:rPr>
              <a:t>y=0, a</a:t>
            </a: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sz="2100" b="1" i="1">
                <a:solidFill>
                  <a:srgbClr val="0B1F3A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P8 (a)–(b) · 안쪽 해와 바깥쪽 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경계값 V₀ cos θ는 ℓ = 1 항 하나만 고른다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7" name="Oval 6"/>
          <p:cNvSpPr/>
          <p:nvPr/>
        </p:nvSpPr>
        <p:spPr>
          <a:xfrm>
            <a:off x="1047750" y="2476500"/>
            <a:ext cx="2667000" cy="2667000"/>
          </a:xfrm>
          <a:prstGeom prst="ellipse">
            <a:avLst/>
          </a:prstGeom>
          <a:solidFill>
            <a:srgbClr val="F7F8FA"/>
          </a:solidFill>
          <a:ln w="38100">
            <a:solidFill>
              <a:srgbClr val="2563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2381250" y="1809750"/>
            <a:ext cx="0" cy="3714750"/>
          </a:xfrm>
          <a:prstGeom prst="line">
            <a:avLst/>
          </a:prstGeom>
          <a:ln w="19050">
            <a:solidFill>
              <a:srgbClr val="667085"/>
            </a:solidFill>
            <a:tailEnd type="triangle" w="lg" len="lg"/>
          </a:ln>
        </p:spPr>
      </p:cxnSp>
      <p:sp>
        <p:nvSpPr>
          <p:cNvPr id="9" name="TextBox 8"/>
          <p:cNvSpPr txBox="1"/>
          <p:nvPr/>
        </p:nvSpPr>
        <p:spPr>
          <a:xfrm>
            <a:off x="2476500" y="1600200"/>
            <a:ext cx="38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381250" y="2717661"/>
            <a:ext cx="764864" cy="1092339"/>
          </a:xfrm>
          <a:prstGeom prst="line">
            <a:avLst/>
          </a:prstGeom>
          <a:ln w="19050">
            <a:solidFill>
              <a:srgbClr val="191919"/>
            </a:solidFill>
            <a:tailEnd type="triangle" w="lg" len="lg"/>
          </a:ln>
        </p:spPr>
      </p:cxnSp>
      <p:sp>
        <p:nvSpPr>
          <p:cNvPr id="11" name="TextBox 10"/>
          <p:cNvSpPr txBox="1"/>
          <p:nvPr/>
        </p:nvSpPr>
        <p:spPr>
          <a:xfrm>
            <a:off x="2457450" y="2933700"/>
            <a:ext cx="3429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9882" y="3187630"/>
            <a:ext cx="2857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8040" y="4876800"/>
            <a:ext cx="228600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V(R,θ)=V</a:t>
            </a:r>
            <a:r>
              <a:rPr sz="2100" b="0" i="1" baseline="-2500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0" i="0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100" b="0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 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19250" y="3143250"/>
            <a:ext cx="0" cy="1428750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cxnSp>
        <p:nvCxnSpPr>
          <p:cNvPr id="15" name="Connector 14"/>
          <p:cNvCxnSpPr/>
          <p:nvPr/>
        </p:nvCxnSpPr>
        <p:spPr>
          <a:xfrm>
            <a:off x="2381250" y="3143250"/>
            <a:ext cx="0" cy="1428750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cxnSp>
        <p:nvCxnSpPr>
          <p:cNvPr id="16" name="Connector 15"/>
          <p:cNvCxnSpPr/>
          <p:nvPr/>
        </p:nvCxnSpPr>
        <p:spPr>
          <a:xfrm>
            <a:off x="3143250" y="3143250"/>
            <a:ext cx="0" cy="1428750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</p:spPr>
      </p:cxnSp>
      <p:sp>
        <p:nvSpPr>
          <p:cNvPr id="17" name="TextBox 16"/>
          <p:cNvSpPr txBox="1"/>
          <p:nvPr/>
        </p:nvSpPr>
        <p:spPr>
          <a:xfrm>
            <a:off x="857250" y="52768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내부: 균일한 전기장</a:t>
            </a:r>
          </a:p>
        </p:txBody>
      </p:sp>
      <p:pic>
        <p:nvPicPr>
          <p:cNvPr id="18" name="eq:p8gen" descr="V=\sum_{\ell}\left(A_\ell r^\ell+\frac{B_\ell}{r^{\ell+1}}\right)P_\ell(\cos\thet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28750"/>
            <a:ext cx="4406036" cy="9779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0" y="2521001"/>
            <a:ext cx="58674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(a)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r&lt;R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: 원점 유한 →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=0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R=V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pic>
        <p:nvPicPr>
          <p:cNvPr id="20" name="eq:p8in" descr="V=V_0\frac{r}{R}\cos\theta=\frac{V_0}{R}\,z,\qquad \mathbf E=-\frac{V_0}{R}\hat{\mathbf z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010814"/>
            <a:ext cx="5372938" cy="8214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0" y="3946550"/>
            <a:ext cx="5867400" cy="413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(b)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r&gt;R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V→0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=0</a:t>
            </a:r>
            <a:r>
              <a:rPr sz="2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/R</a:t>
            </a:r>
            <a:r>
              <a:rPr sz="2200" b="1" i="1" baseline="30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=V</a:t>
            </a:r>
            <a:r>
              <a:rPr sz="22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pic>
        <p:nvPicPr>
          <p:cNvPr id="22" name="eq:p8out" descr="V=V_0\frac{R^2}{r^2}\cos\th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436364"/>
            <a:ext cx="2296287" cy="86250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715000" y="5391150"/>
            <a:ext cx="58674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17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26" name="eq:p8res" descr="\mathbf E_{\rm in}=-\frac{V_0}{R}\hat{\mathbf z},\qquad V_{\rm out}=V_0\frac{R^2}{r^2}\cos\the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5456317"/>
            <a:ext cx="4343400" cy="74596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풀이 P8 (c)–(d) · 모드와 쌍극자 모멘트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바깥 해는 정확히 쌍극자 전위이다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10972800" cy="4306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(c) 두 해 모두 </a:t>
            </a:r>
            <a:r>
              <a:rPr sz="23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ℓ=1</a:t>
            </a:r>
            <a:r>
              <a:rPr sz="2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23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2300" b="1" i="1" baseline="-250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3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300" b="1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3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 θ)=</a:t>
            </a:r>
            <a:r>
              <a:rPr sz="2300" b="1" i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cos</a:t>
            </a:r>
            <a:r>
              <a:rPr sz="230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 θ</a:t>
            </a:r>
            <a:r>
              <a:rPr sz="2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 하나만 필요하다.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30882"/>
            <a:ext cx="10972800" cy="4306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(d) 쌍극자 전위와 비교</a:t>
            </a:r>
          </a:p>
        </p:txBody>
      </p:sp>
      <p:pic>
        <p:nvPicPr>
          <p:cNvPr id="9" name="eq:p8dip" descr="V_{\rm dip}=\frac{1}{4\pi\epsilon_0}\frac{p\cos\theta}{r^2}\quad\Longleftrightarrow\quad V_0\frac{R^2}{r^2}\cos\th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121" y="2556815"/>
            <a:ext cx="5529758" cy="9073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654628"/>
            <a:ext cx="10972800" cy="3965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검산</a:t>
            </a:r>
          </a:p>
        </p:txBody>
      </p:sp>
      <p:pic>
        <p:nvPicPr>
          <p:cNvPr id="11" name="eq:p8chk" descr="r=R:\ V_{\rm in}=V_{\rm out}=V_0\cos\theta,\qquad \sigma=\epsilon_0\left(E_r^{\rm out}-E_r^{\rm in}\right)\Big|_R=\frac{3\epsilon_0V_0}{R}\cos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94" y="4146423"/>
            <a:ext cx="9011412" cy="75780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5391150"/>
            <a:ext cx="10972800" cy="876300"/>
          </a:xfrm>
          <a:prstGeom prst="rect">
            <a:avLst/>
          </a:prstGeom>
          <a:solidFill>
            <a:srgbClr val="E0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5391150"/>
            <a:ext cx="762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300" y="5391150"/>
            <a:ext cx="104775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pic>
        <p:nvPicPr>
          <p:cNvPr id="15" name="eq:p8res2" descr="\ell=1,\qquad \mathbf p=4\pi\epsilon_0R^2V_0\,\hat{\mathbf z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5571668"/>
            <a:ext cx="3767404" cy="5152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W07 / FINAL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865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검산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96038"/>
            <a:ext cx="10972800" cy="9525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505575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07 ·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9900" y="6505575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2400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영상법 (P1–P5)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947862"/>
            <a:ext cx="53530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222885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550" y="21717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영역을 먼저 적었다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650" y="289560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" y="283845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영상전하가 실제 영역 밖에 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650" y="356235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550" y="35052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표면에서 경계 전위를 만족한다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650" y="422910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417195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접지와 고립 도체의 조건을 구분했다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650" y="489585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50" y="48387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에너지에 계수 1/2를 적용했다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9350" y="1524000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변수 분리법 (P6–P8)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9350" y="1947862"/>
            <a:ext cx="53530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8400" y="222885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1300" y="21717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분리상수의 부호를 경계조건으로 정했다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8400" y="289560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1300" y="283845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항이 라플라스 방정식을 만족한다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56235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1300" y="35052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영 경계를 모든 항이 만족한다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8400" y="422910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1300" y="417195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남은 경계를 직교성으로 맞췄다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8400" y="4895850"/>
            <a:ext cx="190500" cy="190500"/>
          </a:xfrm>
          <a:prstGeom prst="rect">
            <a:avLst/>
          </a:prstGeom>
          <a:noFill/>
          <a:ln w="19050">
            <a:solidFill>
              <a:srgbClr val="3440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1300" y="48387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불연속점 수렴값과 먼 거리 거동을 확인했다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