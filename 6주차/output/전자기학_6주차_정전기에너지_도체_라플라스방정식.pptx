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7b158ff3cd4c73" /><Relationship Type="http://schemas.openxmlformats.org/officeDocument/2006/relationships/extended-properties" Target="/docProps/app.xml" Id="R88d63301a22e458c" /><Relationship Type="http://schemas.openxmlformats.org/officeDocument/2006/relationships/officeDocument" Target="/ppt/presentation.xml" Id="R4d059d0cd52444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28fe0cf61b4397"/>
  </p:sldMasterIdLst>
  <p:notesMasterIdLst>
    <p:notesMasterId xmlns:r="http://schemas.openxmlformats.org/officeDocument/2006/relationships" r:id="Re0efb6e7dbd74408"/>
  </p:notesMasterIdLst>
  <p:sldIdLst>
    <p:sldId xmlns:r="http://schemas.openxmlformats.org/officeDocument/2006/relationships" id="256" r:id="R3f3ad3a7719143dc"/>
    <p:sldId xmlns:r="http://schemas.openxmlformats.org/officeDocument/2006/relationships" id="257" r:id="Rcb524ee30fe34c12"/>
    <p:sldId xmlns:r="http://schemas.openxmlformats.org/officeDocument/2006/relationships" id="258" r:id="R3922d558699a4bf3"/>
    <p:sldId xmlns:r="http://schemas.openxmlformats.org/officeDocument/2006/relationships" id="259" r:id="Rc8570892f38d4129"/>
    <p:sldId xmlns:r="http://schemas.openxmlformats.org/officeDocument/2006/relationships" id="260" r:id="R0d9c40e5ee87470f"/>
    <p:sldId xmlns:r="http://schemas.openxmlformats.org/officeDocument/2006/relationships" id="261" r:id="R5f27b54470a34e61"/>
    <p:sldId xmlns:r="http://schemas.openxmlformats.org/officeDocument/2006/relationships" id="262" r:id="R54d3dd2319694fe9"/>
    <p:sldId xmlns:r="http://schemas.openxmlformats.org/officeDocument/2006/relationships" id="263" r:id="R03fbd887d2004a2a"/>
    <p:sldId xmlns:r="http://schemas.openxmlformats.org/officeDocument/2006/relationships" id="264" r:id="R42ee6a3884e14330"/>
    <p:sldId xmlns:r="http://schemas.openxmlformats.org/officeDocument/2006/relationships" id="265" r:id="R3da9aa614842497b"/>
    <p:sldId xmlns:r="http://schemas.openxmlformats.org/officeDocument/2006/relationships" id="266" r:id="Ra8a6cb8fa8c149a0"/>
    <p:sldId xmlns:r="http://schemas.openxmlformats.org/officeDocument/2006/relationships" id="267" r:id="Rba1ab6fe45e248c2"/>
    <p:sldId xmlns:r="http://schemas.openxmlformats.org/officeDocument/2006/relationships" id="268" r:id="Rfd940148959a449b"/>
    <p:sldId xmlns:r="http://schemas.openxmlformats.org/officeDocument/2006/relationships" id="269" r:id="Rec4070c0b65144dc"/>
    <p:sldId xmlns:r="http://schemas.openxmlformats.org/officeDocument/2006/relationships" id="270" r:id="R9e876b367677464e"/>
    <p:sldId xmlns:r="http://schemas.openxmlformats.org/officeDocument/2006/relationships" id="271" r:id="Rd5fafaec337042da"/>
    <p:sldId xmlns:r="http://schemas.openxmlformats.org/officeDocument/2006/relationships" id="272" r:id="R635a15eaddb4408a"/>
    <p:sldId xmlns:r="http://schemas.openxmlformats.org/officeDocument/2006/relationships" id="273" r:id="R7a91de38a3534096"/>
    <p:sldId xmlns:r="http://schemas.openxmlformats.org/officeDocument/2006/relationships" id="274" r:id="R9064ef9732674e0a"/>
    <p:sldId xmlns:r="http://schemas.openxmlformats.org/officeDocument/2006/relationships" id="275" r:id="R9d4b54afbb2f420c"/>
    <p:sldId xmlns:r="http://schemas.openxmlformats.org/officeDocument/2006/relationships" id="276" r:id="R821cc274c94545c4"/>
    <p:sldId xmlns:r="http://schemas.openxmlformats.org/officeDocument/2006/relationships" id="277" r:id="R65bf3110f0594a28"/>
    <p:sldId xmlns:r="http://schemas.openxmlformats.org/officeDocument/2006/relationships" id="278" r:id="R346b7d7b810b4631"/>
    <p:sldId xmlns:r="http://schemas.openxmlformats.org/officeDocument/2006/relationships" id="279" r:id="Re5a843a8755e4256"/>
    <p:sldId xmlns:r="http://schemas.openxmlformats.org/officeDocument/2006/relationships" id="280" r:id="R3021e2028c8e4d23"/>
    <p:sldId xmlns:r="http://schemas.openxmlformats.org/officeDocument/2006/relationships" id="281" r:id="Rd377cad882ba4ba1"/>
    <p:sldId xmlns:r="http://schemas.openxmlformats.org/officeDocument/2006/relationships" id="282" r:id="R15e82bdf5d2e4aa9"/>
    <p:sldId xmlns:r="http://schemas.openxmlformats.org/officeDocument/2006/relationships" id="283" r:id="R276ecbe927d94d4b"/>
    <p:sldId xmlns:r="http://schemas.openxmlformats.org/officeDocument/2006/relationships" id="284" r:id="R3d01129e26704a9e"/>
    <p:sldId xmlns:r="http://schemas.openxmlformats.org/officeDocument/2006/relationships" id="285" r:id="Rc468920b947e4ebf"/>
    <p:sldId xmlns:r="http://schemas.openxmlformats.org/officeDocument/2006/relationships" id="286" r:id="R458255c1bd4f4db2"/>
    <p:sldId xmlns:r="http://schemas.openxmlformats.org/officeDocument/2006/relationships" id="287" r:id="Re4c2e8a89ed845d0"/>
    <p:sldId xmlns:r="http://schemas.openxmlformats.org/officeDocument/2006/relationships" id="288" r:id="Rcfafa7a7ea724cb7"/>
    <p:sldId xmlns:r="http://schemas.openxmlformats.org/officeDocument/2006/relationships" id="289" r:id="R4afb3cc319f34754"/>
    <p:sldId xmlns:r="http://schemas.openxmlformats.org/officeDocument/2006/relationships" id="290" r:id="Rcec5ce415bbb465e"/>
    <p:sldId xmlns:r="http://schemas.openxmlformats.org/officeDocument/2006/relationships" id="291" r:id="R91fcc08e804e4077"/>
    <p:sldId xmlns:r="http://schemas.openxmlformats.org/officeDocument/2006/relationships" id="292" r:id="R585f59e90adc44cf"/>
    <p:sldId xmlns:r="http://schemas.openxmlformats.org/officeDocument/2006/relationships" id="293" r:id="R0508f9b226774ab9"/>
    <p:sldId xmlns:r="http://schemas.openxmlformats.org/officeDocument/2006/relationships" id="294" r:id="R2bbe1e95e42b485b"/>
    <p:sldId xmlns:r="http://schemas.openxmlformats.org/officeDocument/2006/relationships" id="295" r:id="Rae166574ce4844a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24be4f7f9c4e6a" /><Relationship Type="http://schemas.openxmlformats.org/officeDocument/2006/relationships/slideMaster" Target="/ppt/slideMasters/slideMaster1.xml" Id="Rda28fe0cf61b4397" /><Relationship Type="http://schemas.openxmlformats.org/officeDocument/2006/relationships/notesMaster" Target="/ppt/notesMasters/notesMaster1.xml" Id="Re0efb6e7dbd74408" /><Relationship Type="http://schemas.openxmlformats.org/officeDocument/2006/relationships/presProps" Target="/ppt/presProps.xml" Id="Rc2e7589a57114af1" /><Relationship Type="http://schemas.openxmlformats.org/officeDocument/2006/relationships/tableStyles" Target="/ppt/tableStyles.xml" Id="R41dd0bcc9b804545" /><Relationship Type="http://schemas.openxmlformats.org/officeDocument/2006/relationships/slide" Target="/ppt/slides/slide1.xml" Id="R3f3ad3a7719143dc" /><Relationship Type="http://schemas.openxmlformats.org/officeDocument/2006/relationships/slide" Target="/ppt/slides/slide2.xml" Id="Rcb524ee30fe34c12" /><Relationship Type="http://schemas.openxmlformats.org/officeDocument/2006/relationships/slide" Target="/ppt/slides/slide3.xml" Id="R3922d558699a4bf3" /><Relationship Type="http://schemas.openxmlformats.org/officeDocument/2006/relationships/slide" Target="/ppt/slides/slide4.xml" Id="Rc8570892f38d4129" /><Relationship Type="http://schemas.openxmlformats.org/officeDocument/2006/relationships/slide" Target="/ppt/slides/slide5.xml" Id="R0d9c40e5ee87470f" /><Relationship Type="http://schemas.openxmlformats.org/officeDocument/2006/relationships/slide" Target="/ppt/slides/slide6.xml" Id="R5f27b54470a34e61" /><Relationship Type="http://schemas.openxmlformats.org/officeDocument/2006/relationships/slide" Target="/ppt/slides/slide7.xml" Id="R54d3dd2319694fe9" /><Relationship Type="http://schemas.openxmlformats.org/officeDocument/2006/relationships/slide" Target="/ppt/slides/slide8.xml" Id="R03fbd887d2004a2a" /><Relationship Type="http://schemas.openxmlformats.org/officeDocument/2006/relationships/slide" Target="/ppt/slides/slide9.xml" Id="R42ee6a3884e14330" /><Relationship Type="http://schemas.openxmlformats.org/officeDocument/2006/relationships/slide" Target="/ppt/slides/slide10.xml" Id="R3da9aa614842497b" /><Relationship Type="http://schemas.openxmlformats.org/officeDocument/2006/relationships/slide" Target="/ppt/slides/slide11.xml" Id="Ra8a6cb8fa8c149a0" /><Relationship Type="http://schemas.openxmlformats.org/officeDocument/2006/relationships/slide" Target="/ppt/slides/slide12.xml" Id="Rba1ab6fe45e248c2" /><Relationship Type="http://schemas.openxmlformats.org/officeDocument/2006/relationships/slide" Target="/ppt/slides/slide13.xml" Id="Rfd940148959a449b" /><Relationship Type="http://schemas.openxmlformats.org/officeDocument/2006/relationships/slide" Target="/ppt/slides/slide14.xml" Id="Rec4070c0b65144dc" /><Relationship Type="http://schemas.openxmlformats.org/officeDocument/2006/relationships/slide" Target="/ppt/slides/slide15.xml" Id="R9e876b367677464e" /><Relationship Type="http://schemas.openxmlformats.org/officeDocument/2006/relationships/slide" Target="/ppt/slides/slide16.xml" Id="Rd5fafaec337042da" /><Relationship Type="http://schemas.openxmlformats.org/officeDocument/2006/relationships/slide" Target="/ppt/slides/slide17.xml" Id="R635a15eaddb4408a" /><Relationship Type="http://schemas.openxmlformats.org/officeDocument/2006/relationships/slide" Target="/ppt/slides/slide18.xml" Id="R7a91de38a3534096" /><Relationship Type="http://schemas.openxmlformats.org/officeDocument/2006/relationships/slide" Target="/ppt/slides/slide19.xml" Id="R9064ef9732674e0a" /><Relationship Type="http://schemas.openxmlformats.org/officeDocument/2006/relationships/slide" Target="/ppt/slides/slide20.xml" Id="R9d4b54afbb2f420c" /><Relationship Type="http://schemas.openxmlformats.org/officeDocument/2006/relationships/slide" Target="/ppt/slides/slide21.xml" Id="R821cc274c94545c4" /><Relationship Type="http://schemas.openxmlformats.org/officeDocument/2006/relationships/slide" Target="/ppt/slides/slide22.xml" Id="R65bf3110f0594a28" /><Relationship Type="http://schemas.openxmlformats.org/officeDocument/2006/relationships/slide" Target="/ppt/slides/slide23.xml" Id="R346b7d7b810b4631" /><Relationship Type="http://schemas.openxmlformats.org/officeDocument/2006/relationships/slide" Target="/ppt/slides/slide24.xml" Id="Re5a843a8755e4256" /><Relationship Type="http://schemas.openxmlformats.org/officeDocument/2006/relationships/slide" Target="/ppt/slides/slide25.xml" Id="R3021e2028c8e4d23" /><Relationship Type="http://schemas.openxmlformats.org/officeDocument/2006/relationships/slide" Target="/ppt/slides/slide26.xml" Id="Rd377cad882ba4ba1" /><Relationship Type="http://schemas.openxmlformats.org/officeDocument/2006/relationships/slide" Target="/ppt/slides/slide27.xml" Id="R15e82bdf5d2e4aa9" /><Relationship Type="http://schemas.openxmlformats.org/officeDocument/2006/relationships/slide" Target="/ppt/slides/slide28.xml" Id="R276ecbe927d94d4b" /><Relationship Type="http://schemas.openxmlformats.org/officeDocument/2006/relationships/slide" Target="/ppt/slides/slide29.xml" Id="R3d01129e26704a9e" /><Relationship Type="http://schemas.openxmlformats.org/officeDocument/2006/relationships/slide" Target="/ppt/slides/slide30.xml" Id="Rc468920b947e4ebf" /><Relationship Type="http://schemas.openxmlformats.org/officeDocument/2006/relationships/slide" Target="/ppt/slides/slide31.xml" Id="R458255c1bd4f4db2" /><Relationship Type="http://schemas.openxmlformats.org/officeDocument/2006/relationships/slide" Target="/ppt/slides/slide32.xml" Id="Re4c2e8a89ed845d0" /><Relationship Type="http://schemas.openxmlformats.org/officeDocument/2006/relationships/slide" Target="/ppt/slides/slide33.xml" Id="Rcfafa7a7ea724cb7" /><Relationship Type="http://schemas.openxmlformats.org/officeDocument/2006/relationships/slide" Target="/ppt/slides/slide34.xml" Id="R4afb3cc319f34754" /><Relationship Type="http://schemas.openxmlformats.org/officeDocument/2006/relationships/slide" Target="/ppt/slides/slide35.xml" Id="Rcec5ce415bbb465e" /><Relationship Type="http://schemas.openxmlformats.org/officeDocument/2006/relationships/slide" Target="/ppt/slides/slide36.xml" Id="R91fcc08e804e4077" /><Relationship Type="http://schemas.openxmlformats.org/officeDocument/2006/relationships/slide" Target="/ppt/slides/slide37.xml" Id="R585f59e90adc44cf" /><Relationship Type="http://schemas.openxmlformats.org/officeDocument/2006/relationships/slide" Target="/ppt/slides/slide38.xml" Id="R0508f9b226774ab9" /><Relationship Type="http://schemas.openxmlformats.org/officeDocument/2006/relationships/slide" Target="/ppt/slides/slide39.xml" Id="R2bbe1e95e42b485b" /><Relationship Type="http://schemas.openxmlformats.org/officeDocument/2006/relationships/slide" Target="/ppt/slides/slide40.xml" Id="Rae166574ce4844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ae60468ac948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73458da80d46e4" /><Relationship Type="http://schemas.openxmlformats.org/officeDocument/2006/relationships/notesMaster" Target="/ppt/notesMasters/notesMaster1.xml" Id="Rc5d0b0c02b7f4d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a0fbfa8e2a4f74" /><Relationship Type="http://schemas.openxmlformats.org/officeDocument/2006/relationships/notesMaster" Target="/ppt/notesMasters/notesMaster1.xml" Id="Rfd133ac89e7f46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141bbfc6574352" /><Relationship Type="http://schemas.openxmlformats.org/officeDocument/2006/relationships/notesMaster" Target="/ppt/notesMasters/notesMaster1.xml" Id="R9a628ddfb64249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eb7e24fd594736" /><Relationship Type="http://schemas.openxmlformats.org/officeDocument/2006/relationships/notesMaster" Target="/ppt/notesMasters/notesMaster1.xml" Id="Ra4bbc44fdcb743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40c4c8e99b47d2" /><Relationship Type="http://schemas.openxmlformats.org/officeDocument/2006/relationships/notesMaster" Target="/ppt/notesMasters/notesMaster1.xml" Id="R6c0ba574ae5f47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84dbea7b424a5c" /><Relationship Type="http://schemas.openxmlformats.org/officeDocument/2006/relationships/notesMaster" Target="/ppt/notesMasters/notesMaster1.xml" Id="R7f027d4af5f443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468a3da9d14816" /><Relationship Type="http://schemas.openxmlformats.org/officeDocument/2006/relationships/notesMaster" Target="/ppt/notesMasters/notesMaster1.xml" Id="Rcd6b9ff1760642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2a0284dfa4435c" /><Relationship Type="http://schemas.openxmlformats.org/officeDocument/2006/relationships/notesMaster" Target="/ppt/notesMasters/notesMaster1.xml" Id="R4e8e73f75e554e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739d0b13f94feb" /><Relationship Type="http://schemas.openxmlformats.org/officeDocument/2006/relationships/notesMaster" Target="/ppt/notesMasters/notesMaster1.xml" Id="Rfe0a64be6db84f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b9ee97c3644488" /><Relationship Type="http://schemas.openxmlformats.org/officeDocument/2006/relationships/notesMaster" Target="/ppt/notesMasters/notesMaster1.xml" Id="Rb7bfadda989c4e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56e097852044c4" /><Relationship Type="http://schemas.openxmlformats.org/officeDocument/2006/relationships/notesMaster" Target="/ppt/notesMasters/notesMaster1.xml" Id="R5527f29cf1404c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e255e0ad4d4077" /><Relationship Type="http://schemas.openxmlformats.org/officeDocument/2006/relationships/notesMaster" Target="/ppt/notesMasters/notesMaster1.xml" Id="R1d9a3c22f4df47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168273f8484965" /><Relationship Type="http://schemas.openxmlformats.org/officeDocument/2006/relationships/notesMaster" Target="/ppt/notesMasters/notesMaster1.xml" Id="Re1934cc623a74f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483655840e4495" /><Relationship Type="http://schemas.openxmlformats.org/officeDocument/2006/relationships/notesMaster" Target="/ppt/notesMasters/notesMaster1.xml" Id="R78809200cc934e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3dba66b10e47da" /><Relationship Type="http://schemas.openxmlformats.org/officeDocument/2006/relationships/notesMaster" Target="/ppt/notesMasters/notesMaster1.xml" Id="R3048a3b4e1bd4f9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2a02ac6db7744f7" /><Relationship Type="http://schemas.openxmlformats.org/officeDocument/2006/relationships/notesMaster" Target="/ppt/notesMasters/notesMaster1.xml" Id="R4708b742900246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b9b148bf504c92" /><Relationship Type="http://schemas.openxmlformats.org/officeDocument/2006/relationships/notesMaster" Target="/ppt/notesMasters/notesMaster1.xml" Id="R42b8f2bcb69b46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738fc48ae34a49" /><Relationship Type="http://schemas.openxmlformats.org/officeDocument/2006/relationships/notesMaster" Target="/ppt/notesMasters/notesMaster1.xml" Id="R6107a15c7a924ee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58ca28b44446c7" /><Relationship Type="http://schemas.openxmlformats.org/officeDocument/2006/relationships/notesMaster" Target="/ppt/notesMasters/notesMaster1.xml" Id="R1348f937a487470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3f346fb2194ab6" /><Relationship Type="http://schemas.openxmlformats.org/officeDocument/2006/relationships/notesMaster" Target="/ppt/notesMasters/notesMaster1.xml" Id="Rc1522a1aac2c4e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17188a284264421" /><Relationship Type="http://schemas.openxmlformats.org/officeDocument/2006/relationships/notesMaster" Target="/ppt/notesMasters/notesMaster1.xml" Id="R4100560017bd4b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0308de73a8d44ac" /><Relationship Type="http://schemas.openxmlformats.org/officeDocument/2006/relationships/notesMaster" Target="/ppt/notesMasters/notesMaster1.xml" Id="Rb35b0ed75cfb45c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8c3f4b2d06b4524" /><Relationship Type="http://schemas.openxmlformats.org/officeDocument/2006/relationships/notesMaster" Target="/ppt/notesMasters/notesMaster1.xml" Id="R98e6486e4bca41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309b51efda64097" /><Relationship Type="http://schemas.openxmlformats.org/officeDocument/2006/relationships/notesMaster" Target="/ppt/notesMasters/notesMaster1.xml" Id="Ra26825fccd0f4cf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7c9990b92184400" /><Relationship Type="http://schemas.openxmlformats.org/officeDocument/2006/relationships/notesMaster" Target="/ppt/notesMasters/notesMaster1.xml" Id="R4c9b456688f1490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b27236518264476" /><Relationship Type="http://schemas.openxmlformats.org/officeDocument/2006/relationships/notesMaster" Target="/ppt/notesMasters/notesMaster1.xml" Id="Rc85408499cf24ff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9dde2b959694b4c" /><Relationship Type="http://schemas.openxmlformats.org/officeDocument/2006/relationships/notesMaster" Target="/ppt/notesMasters/notesMaster1.xml" Id="R58ddd03b7861481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9a0c9fefb124983" /><Relationship Type="http://schemas.openxmlformats.org/officeDocument/2006/relationships/notesMaster" Target="/ppt/notesMasters/notesMaster1.xml" Id="R63b46c02b80c4f3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1af9c20df642cc" /><Relationship Type="http://schemas.openxmlformats.org/officeDocument/2006/relationships/notesMaster" Target="/ppt/notesMasters/notesMaster1.xml" Id="Ra5799d3a2659408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c751ca67a5344c7" /><Relationship Type="http://schemas.openxmlformats.org/officeDocument/2006/relationships/notesMaster" Target="/ppt/notesMasters/notesMaster1.xml" Id="Rf245c110f91943d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ea38b628ac24c6c" /><Relationship Type="http://schemas.openxmlformats.org/officeDocument/2006/relationships/notesMaster" Target="/ppt/notesMasters/notesMaster1.xml" Id="R97f768cf5b544e6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a7152157cf5411a" /><Relationship Type="http://schemas.openxmlformats.org/officeDocument/2006/relationships/notesMaster" Target="/ppt/notesMasters/notesMaster1.xml" Id="R3b5364b0239d48a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de59e957946497a" /><Relationship Type="http://schemas.openxmlformats.org/officeDocument/2006/relationships/notesMaster" Target="/ppt/notesMasters/notesMaster1.xml" Id="Ra98fdfe75417496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215d3aa0dab4197" /><Relationship Type="http://schemas.openxmlformats.org/officeDocument/2006/relationships/notesMaster" Target="/ppt/notesMasters/notesMaster1.xml" Id="Rd333feb726954cb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289b09037644ecb" /><Relationship Type="http://schemas.openxmlformats.org/officeDocument/2006/relationships/notesMaster" Target="/ppt/notesMasters/notesMaster1.xml" Id="R1ccb6d7fad73476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f9b78142fed4ead" /><Relationship Type="http://schemas.openxmlformats.org/officeDocument/2006/relationships/notesMaster" Target="/ppt/notesMasters/notesMaster1.xml" Id="R57263e120c0c46b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17ccb3b29c849f4" /><Relationship Type="http://schemas.openxmlformats.org/officeDocument/2006/relationships/notesMaster" Target="/ppt/notesMasters/notesMaster1.xml" Id="R4c92c8dfb4ca4e8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baabf3c59fd4d87" /><Relationship Type="http://schemas.openxmlformats.org/officeDocument/2006/relationships/notesMaster" Target="/ppt/notesMasters/notesMaster1.xml" Id="R9cab9a03e66f4fb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55f63f716214bde" /><Relationship Type="http://schemas.openxmlformats.org/officeDocument/2006/relationships/notesMaster" Target="/ppt/notesMasters/notesMaster1.xml" Id="Rfacc3c0a3187431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cf9d924d9594f24" /><Relationship Type="http://schemas.openxmlformats.org/officeDocument/2006/relationships/notesMaster" Target="/ppt/notesMasters/notesMaster1.xml" Id="Rcf0706b4319541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표지. 축전기 도식으로 일, 에너지, 도체 경계조건과 라플라스 경계값 문제의 연결을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91–123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강의와 연습 일정, 네 가지 완료 증거를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91–123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전위차, 에너지, 도체, 라플라스 방정식의 학습 순서를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91–123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정전기적 일과 에너지의 중심 관계를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\boxed{\ W=\frac{\epsilon_0}{2}\int_{\rm all\ space}E^2\,\mathrm d\tau\ },\qquad u_E=\frac{\epsilon_0}{2}E^2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91–97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시험전하를 a에서 b로 준정적으로 옮길 때 외력이 하는 일을 전위차와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W_{\rm ext}=-Q\int_a^b \mathbf E\cdot\mathrm d\mathbf l=Q\,[V(b)-V(a)]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91–92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전위와 퍼텐셜에너지의 관계, 전하 부호에 따른 해석을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\Delta U=Q\,\Delta V,\qquad \mathbf F=-\nabla 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92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점전하를 무한대에서 하나씩 가져오는 조립 과정을 전하쌍 합으로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W=\frac{1}{4\pi\epsilon_0}\sum_{i&lt;j}\frac{q_iq_j}{r_{ij}}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92–93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점전하 에너지를 각 전하 위치의 전체 전위로 쓰면 1/2이 생기는 이유를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\boxed{\ W=\frac12\sum_{i=1}^{N}q_iV(\mathbf r_i)\ }\quad(V:\ \text{all other charges})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93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점전하 합의 연속 극한으로 에너지 적분을 도입한다.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\boxed{\ W=\frac12\int \rho(\mathbf r)V(\mathbf r)\,\mathrm d\tau\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94–95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부분적분과 가우스 법칙을 사용해 전하 적분을 장 에너지 적분으로 바꾼다.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\rho=\epsilon_0\nabla\cdot\mathbf E,\quad \mathbf E=-\nabla V\quad\Longrightarrow\quad W=\frac{\epsilon_0}{2}\int E^2\,\mathrm d\tau</a:t>
            </a:r>
          </a:p>
          <a:p xmlns:a="http://schemas.openxmlformats.org/drawingml/2006/main">
            <a:r>
              <a:t>- \boxed{\ W=\frac{\epsilon_0}{2}\int_{\rm all\ space}E^2\,\mathrm d\tau\ },\qquad u_E=\frac{\epsilon_0}{2}E^2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94–96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전기장 에너지 밀도의 양의 정부호와 점전하 자기 에너지의 발산을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\boxed{\ W=\frac{\epsilon_0}{2}\int_{\rm all\ space}E^2\,\mathrm d\tau\ },\qquad u_E=\frac{\epsilon_0}{2}E^2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96–97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장 에너지 공식의 유도에서 적분영역과 경계항을 명시한다.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94–96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에너지의 이차성 때문에 중첩된 장 사이에 교차항이 생김을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W[\mathbf E_1+\mathbf E_2]=W_1+W_2+\epsilon_0\int\mathbf E_1\cdot\mathbf E_2\,\mathrm d\tau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97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평행판 축전기의 균일한 장을 이용해 장 에너지와 QV/2를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W=\frac{\epsilon_0}{2}E^2(Ad)=\frac{Q^2d}{2\epsilon_0A}=\frac12QV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96, 105–107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주어진 정보에 따라 가장 직접적인 에너지 공식을 고르는 확인 문제다.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92–97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정전평형 도체의 기본 성질을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E_{\rm in}=\mathbf0,\qquad \rho_{\rm bulk}=0,\qquad V_{\rm conductor}=\text{constant}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97–112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도체의 다섯 기본 성질을 E = 0을 시작점으로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E_{\rm in}=\mathbf0,\qquad \rho_{\rm bulk}=0,\qquad V_{\rm conductor}=\text{constant}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97–99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외부장 속 도체에서 표면전하가 재배치되어 내부장을 상쇄하는 과정을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97–98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가우스 법칙을 이용해 도체 내부 벌크 전하밀도가 0임을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\mathbf E_{\rm in}=\mathbf0,\qquad \rho_{\rm bulk}=0,\qquad V_{\rm conductor}=\text{constant}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98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도체가 등전위이며 표면 바로 밖 전기장이 수직인 이유를 선적분으로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V(b)-V(a)=-\int_a^b\mathbf E\cdot\mathrm d\mathbf l=0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98–99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외부 점전하가 중성 도체에 유도하는 표면전하 분포를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99–100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빈 도체 공동의 정전 차폐를 라플라스 방정식과 유일성 정리의 결과로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100–101, 119–121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공동 안 점전하가 내표면과 외표면에 유도하는 총전하를 가우스 법칙으로 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Q_{\rm inner\ surface}=-q,\qquad Q_{\rm outer\ surface}=Q_{\rm conductor}+q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100–103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도체 표면을 가로지르는 필박스로 법선 전기장의 경계조건을 유도한다.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\boxed{\ \mathbf E_{\rm out}=\frac{\sigma}{\epsilon_0}\hat{\mathbf n}\ },\qquad \mathbf E_{\rm in}=\mathbf0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p. 103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도체 표면전하가 받는 평균장을 사용해 단위면적당 힘을 계산한다.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\frac{F}{A}=\frac12\sigma E_{\rm out}=\frac{\sigma^2}{2\epsilon_0}=\frac{\epsilon_0}{2}E_{\rm out}^2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103–105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도체 사이 정전용량을 Q/V로 정의하고 기하학적 성질임을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\boxed{\ C\equiv\frac{Q}{V}\ },\qquad [C]=\mathrm 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105–106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균일장 근사에서 평행판 축전기의 정전용량을 유도한다.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C=\frac{Q}{V}=\frac{\epsilon_0A}{d}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105–107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축전기 에너지의 세 동등한 표현과 문제에서 고정되는 양을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\boxed{\ W=\frac12QV=\frac{Q^2}{2C}=\frac12CV^2\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106–108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도체 문제 풀이의 표준 순서를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97–108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라플라스 방정식의 물리적 역할을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\rho=0\quad\Longrightarrow\quad\boxed{\ \nabla^2V=0\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113–123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도체가 만드는 전위 문제를 경계값 문제로 재구성한다.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\rho=0\quad\Longrightarrow\quad\boxed{\ \nabla^2V=0\ }</a:t>
            </a:r>
          </a:p>
          <a:p xmlns:a="http://schemas.openxmlformats.org/drawingml/2006/main">
            <a:r>
              <a:t>- \nabla^2V=\frac{\partial^2V}{\partial x^2}+\frac{\partial^2V}{\partial y^2}+\frac{\partial^2V}{\partial z^2}=0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113–114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일차원 라플라스 방정식의 선형 해와 균일장을 연결한다.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\frac{\mathrm d^2V}{\mathrm dx^2}=0\quad\Longrightarrow\quad V(x)=Ax+B</a:t>
            </a:r>
          </a:p>
          <a:p xmlns:a="http://schemas.openxmlformats.org/drawingml/2006/main">
            <a:r>
              <a:t>- V(0)=V_0,\ V(d)=0\quad\Longrightarrow\quad V(x)=V_0\left(1-\frac{x}{d}\right),\quad \mathbf E=\frac{V_0}{d}\hat{\mathbf x}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114–115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일차원 해의 평균값 성질을 기하학적으로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V(x)=\frac12\,[V(x-a)+V(x+a)]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114–115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평균값 성질에서 최대·최소 원리를 도출한다.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115–119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이차원 원과 삼차원 구에서의 평균값 성질을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V(\mathbf r_0)=\frac{1}{4\pi R^2}\oint_{S_R}V\,\mathrm 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115–119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두 해의 차가 같은 경계에서 0인 조화함수임을 이용해 유일성 정리를 정리한다.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U=V_1-V_2,\quad \nabla^2U=0,\quad U|_S=0\quad\Longrightarrow\quad U=0</a:t>
            </a:r>
          </a:p>
          <a:p xmlns:a="http://schemas.openxmlformats.org/drawingml/2006/main">
            <a:r>
              <a:t>- V|_S\ \text{specified}\quad\Longrightarrow\quad V(\mathbf r)\ \text{is unique}</a:t>
            </a:r>
          </a:p>
          <a:p xmlns:a="http://schemas.openxmlformats.org/drawingml/2006/main">
            <a:r>
              <a:t>- Q_i\ \text{on each conductor and }V|_{S_{\rm outer}}\ \text{specified}\quad\Longrightarrow\quad \mathbf E\ \text{is unique}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119–123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§3.2 영상법을 계산하지 않고 유일성 정리가 영상법을 정당화하는 논리만 예고한다.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\nabla^2V=0\ \text{in the region},\qquad V|_S=V_{\rm prescribed}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119–124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범위의 핵심 계산과 해석을 한 문제씩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q_1=q,\ q_2=-2q,\ q_3=q:\qquad W_{\rm assembly}=?</a:t>
            </a:r>
          </a:p>
          <a:p xmlns:a="http://schemas.openxmlformats.org/drawingml/2006/main">
            <a:r>
              <a:t>- C=\frac{\epsilon_0A}{d},\qquad Q=CV,\qquad W=?</a:t>
            </a:r>
          </a:p>
          <a:p xmlns:a="http://schemas.openxmlformats.org/drawingml/2006/main">
            <a:r>
              <a:t>- V(0)=V_0,\ V(d)=0:\qquad V(x)=?,\ \mathbf E(x)=?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92–123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연습문제 결과의 검산 기준을 함께 제시한다.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W=\frac{1}{4\pi\epsilon_0}\left(\frac{q_1q_2}{r_{12}}+\frac{q_1q_3}{r_{13}}+\frac{q_2q_3}{r_{23}}\right)</a:t>
            </a:r>
          </a:p>
          <a:p xmlns:a="http://schemas.openxmlformats.org/drawingml/2006/main">
            <a:r>
              <a:t>- Q=\frac{\epsilon_0A}{d}V,\qquad W=\frac12\frac{\epsilon_0A}{d}V^2</a:t>
            </a:r>
          </a:p>
          <a:p xmlns:a="http://schemas.openxmlformats.org/drawingml/2006/main">
            <a:r>
              <a:t>- V(x)=V_0\left(1-\frac{x}{d}\right),\qquad \mathbf E=\frac{V_0}{d}\hat{\mathbf x}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92–123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일, 에너지, 도체, 라플라스 방정식을 경계값 문제의 흐름으로 통합한다.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source]</a:t>
            </a:r>
          </a:p>
          <a:p xmlns:a="http://schemas.openxmlformats.org/drawingml/2006/main">
            <a:r>
              <a:t>- W\longleftrightarrow V\longleftrightarrow \mathbf E,\qquad \mathbf E_{\rm conductor}=0,\qquad \nabla^2V=0\ \ (\rho=0)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Griffiths, Introduction to Electrodynamics, 4e, pp. 91–123</a:t>
            </a:r>
          </a:p>
          <a:p xmlns:a="http://schemas.openxmlformats.org/drawingml/2006/main">
            <a:r>
              <a:t>- 사용자 지정 6주차 범위: §2.4, §2.5, §3.1</a:t>
            </a:r>
          </a:p>
          <a:p xmlns:a="http://schemas.openxmlformats.org/drawingml/2006/main">
            <a:r>
              <a:t>- 전자기학 강의안 PPT·PDF 제작 지침 v1.6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67eb9b6cb4b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a607974cee421e" /><Relationship Type="http://schemas.openxmlformats.org/officeDocument/2006/relationships/slideLayout" Target="/ppt/slideLayouts/slideLayout1.xml" Id="Reb96b988a1754a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96b988a1754a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c6a34631c4c3f" /><Relationship Type="http://schemas.openxmlformats.org/officeDocument/2006/relationships/notesSlide" Target="/ppt/notesSlides/notesSlide1.xml" Id="R39469490cb9749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805aae5364f1f" /><Relationship Type="http://schemas.openxmlformats.org/officeDocument/2006/relationships/notesSlide" Target="/ppt/notesSlides/notesSlide2.xml" Id="Rc3b2cb5c7e3147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b740119db4699" /><Relationship Type="http://schemas.openxmlformats.org/officeDocument/2006/relationships/notesSlide" Target="/ppt/notesSlides/notesSlide3.xml" Id="Radb95b58452b4b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905a4d39b450d" /><Relationship Type="http://schemas.openxmlformats.org/officeDocument/2006/relationships/image" Target="/ppt/media/image.png" Id="Rdb17d3290673424d" /><Relationship Type="http://schemas.openxmlformats.org/officeDocument/2006/relationships/notesSlide" Target="/ppt/notesSlides/notesSlide4.xml" Id="R40c683627a424c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fce68f9d54012" /><Relationship Type="http://schemas.openxmlformats.org/officeDocument/2006/relationships/image" Target="/ppt/media/image2.png" Id="R0a361e1f5e894f61" /><Relationship Type="http://schemas.openxmlformats.org/officeDocument/2006/relationships/notesSlide" Target="/ppt/notesSlides/notesSlide5.xml" Id="Re653630bd7144b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74850ed5f41b0" /><Relationship Type="http://schemas.openxmlformats.org/officeDocument/2006/relationships/image" Target="/ppt/media/image3.png" Id="R184bf3cc77ec4e47" /><Relationship Type="http://schemas.openxmlformats.org/officeDocument/2006/relationships/notesSlide" Target="/ppt/notesSlides/notesSlide6.xml" Id="R3a8b8acc046b44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ff5bbd10a4963" /><Relationship Type="http://schemas.openxmlformats.org/officeDocument/2006/relationships/image" Target="/ppt/media/image4.png" Id="Rbd3a9fbec711457a" /><Relationship Type="http://schemas.openxmlformats.org/officeDocument/2006/relationships/notesSlide" Target="/ppt/notesSlides/notesSlide7.xml" Id="Rbdb9637631de49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0e65a1c834ab1" /><Relationship Type="http://schemas.openxmlformats.org/officeDocument/2006/relationships/image" Target="/ppt/media/image5.png" Id="R56fa42349b5e4be5" /><Relationship Type="http://schemas.openxmlformats.org/officeDocument/2006/relationships/notesSlide" Target="/ppt/notesSlides/notesSlide8.xml" Id="Rc22ff71b19c44b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6af4c76d54ba3" /><Relationship Type="http://schemas.openxmlformats.org/officeDocument/2006/relationships/image" Target="/ppt/media/image6.png" Id="Ra22280c6a91944ba" /><Relationship Type="http://schemas.openxmlformats.org/officeDocument/2006/relationships/notesSlide" Target="/ppt/notesSlides/notesSlide9.xml" Id="R84134ea31e6943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7de2213804df7" /><Relationship Type="http://schemas.openxmlformats.org/officeDocument/2006/relationships/image" Target="/ppt/media/image7.png" Id="R79686ed7b5bb4afd" /><Relationship Type="http://schemas.openxmlformats.org/officeDocument/2006/relationships/image" Target="/ppt/media/image8.png" Id="R589c62c91fe34282" /><Relationship Type="http://schemas.openxmlformats.org/officeDocument/2006/relationships/notesSlide" Target="/ppt/notesSlides/notesSlide10.xml" Id="R592b59e768924f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87f2189204e88" /><Relationship Type="http://schemas.openxmlformats.org/officeDocument/2006/relationships/image" Target="/ppt/media/image9.png" Id="Rfefbe6ec16fe49c5" /><Relationship Type="http://schemas.openxmlformats.org/officeDocument/2006/relationships/notesSlide" Target="/ppt/notesSlides/notesSlide11.xml" Id="Rc61bc043d4ee4d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844e6998a4d0b" /><Relationship Type="http://schemas.openxmlformats.org/officeDocument/2006/relationships/notesSlide" Target="/ppt/notesSlides/notesSlide12.xml" Id="R6ec62e3c861c48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b3d35fa3147ba" /><Relationship Type="http://schemas.openxmlformats.org/officeDocument/2006/relationships/image" Target="/ppt/media/image10.png" Id="Ref969ab52f52464b" /><Relationship Type="http://schemas.openxmlformats.org/officeDocument/2006/relationships/notesSlide" Target="/ppt/notesSlides/notesSlide13.xml" Id="R2b80c82f35e946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cbcf153f84fe8" /><Relationship Type="http://schemas.openxmlformats.org/officeDocument/2006/relationships/image" Target="/ppt/media/image11.png" Id="R128c556471c54802" /><Relationship Type="http://schemas.openxmlformats.org/officeDocument/2006/relationships/notesSlide" Target="/ppt/notesSlides/notesSlide14.xml" Id="Rb3df032e176343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507b773ae4b86" /><Relationship Type="http://schemas.openxmlformats.org/officeDocument/2006/relationships/notesSlide" Target="/ppt/notesSlides/notesSlide15.xml" Id="Re8bc0bffc2c844b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d05df8ca04d18" /><Relationship Type="http://schemas.openxmlformats.org/officeDocument/2006/relationships/image" Target="/ppt/media/image12.png" Id="R700200c39dc6421c" /><Relationship Type="http://schemas.openxmlformats.org/officeDocument/2006/relationships/notesSlide" Target="/ppt/notesSlides/notesSlide16.xml" Id="R4b145237b6ad47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bd8fac4de4bd8" /><Relationship Type="http://schemas.openxmlformats.org/officeDocument/2006/relationships/notesSlide" Target="/ppt/notesSlides/notesSlide17.xml" Id="R3887bddd5b8343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d9b50a76043f8" /><Relationship Type="http://schemas.openxmlformats.org/officeDocument/2006/relationships/image" Target="/ppt/media/image13.png" Id="Rcc63053378ef4d43" /><Relationship Type="http://schemas.openxmlformats.org/officeDocument/2006/relationships/notesSlide" Target="/ppt/notesSlides/notesSlide18.xml" Id="Rdee74b15cba7466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a4a8c5d1d4fe1" /><Relationship Type="http://schemas.openxmlformats.org/officeDocument/2006/relationships/image" Target="/ppt/media/image14.png" Id="Re7b07205997d4377" /><Relationship Type="http://schemas.openxmlformats.org/officeDocument/2006/relationships/notesSlide" Target="/ppt/notesSlides/notesSlide19.xml" Id="Reab08788d181495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1a805294944ae" /><Relationship Type="http://schemas.openxmlformats.org/officeDocument/2006/relationships/image" Target="/ppt/media/image15.png" Id="Rdb35a0ac34da4221" /><Relationship Type="http://schemas.openxmlformats.org/officeDocument/2006/relationships/notesSlide" Target="/ppt/notesSlides/notesSlide20.xml" Id="Rf74dacecf4d649a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fe0cb77524e22" /><Relationship Type="http://schemas.openxmlformats.org/officeDocument/2006/relationships/notesSlide" Target="/ppt/notesSlides/notesSlide21.xml" Id="R19051638d59149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7a2e4d37047c5" /><Relationship Type="http://schemas.openxmlformats.org/officeDocument/2006/relationships/notesSlide" Target="/ppt/notesSlides/notesSlide22.xml" Id="Rb05ee42feecb4c2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7648fdaae4b94" /><Relationship Type="http://schemas.openxmlformats.org/officeDocument/2006/relationships/image" Target="/ppt/media/image16.png" Id="R8a58b1ff68824431" /><Relationship Type="http://schemas.openxmlformats.org/officeDocument/2006/relationships/notesSlide" Target="/ppt/notesSlides/notesSlide23.xml" Id="R42ad9d0fcbca4e6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c15ce0ae149bd" /><Relationship Type="http://schemas.openxmlformats.org/officeDocument/2006/relationships/image" Target="/ppt/media/image17.png" Id="R3e099cf5c88f4e14" /><Relationship Type="http://schemas.openxmlformats.org/officeDocument/2006/relationships/notesSlide" Target="/ppt/notesSlides/notesSlide24.xml" Id="R2494e37d474241b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b7941c5b946dd" /><Relationship Type="http://schemas.openxmlformats.org/officeDocument/2006/relationships/image" Target="/ppt/media/image18.png" Id="R9e91c44a352b4b1a" /><Relationship Type="http://schemas.openxmlformats.org/officeDocument/2006/relationships/notesSlide" Target="/ppt/notesSlides/notesSlide25.xml" Id="R0863fbf44d0f46f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00f9f4eca4435" /><Relationship Type="http://schemas.openxmlformats.org/officeDocument/2006/relationships/image" Target="/ppt/media/image19.png" Id="R8dd7b79b59bc4339" /><Relationship Type="http://schemas.openxmlformats.org/officeDocument/2006/relationships/notesSlide" Target="/ppt/notesSlides/notesSlide26.xml" Id="R94005810c65d400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bb3d0e578494c" /><Relationship Type="http://schemas.openxmlformats.org/officeDocument/2006/relationships/image" Target="/ppt/media/image20.png" Id="R51f9cc9c35974706" /><Relationship Type="http://schemas.openxmlformats.org/officeDocument/2006/relationships/notesSlide" Target="/ppt/notesSlides/notesSlide27.xml" Id="R39657a3ea96142f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8ffed269b41c3" /><Relationship Type="http://schemas.openxmlformats.org/officeDocument/2006/relationships/image" Target="/ppt/media/image21.png" Id="Rbfbee3c32b124118" /><Relationship Type="http://schemas.openxmlformats.org/officeDocument/2006/relationships/notesSlide" Target="/ppt/notesSlides/notesSlide28.xml" Id="Rc71c31da58a84ef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cf226854947c7" /><Relationship Type="http://schemas.openxmlformats.org/officeDocument/2006/relationships/notesSlide" Target="/ppt/notesSlides/notesSlide29.xml" Id="Rd6c610e361d847d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4b3d0350f4988" /><Relationship Type="http://schemas.openxmlformats.org/officeDocument/2006/relationships/image" Target="/ppt/media/image22.png" Id="R098e244910794c03" /><Relationship Type="http://schemas.openxmlformats.org/officeDocument/2006/relationships/notesSlide" Target="/ppt/notesSlides/notesSlide30.xml" Id="Rad8f88c3f4274cd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35ae780fd4fa1" /><Relationship Type="http://schemas.openxmlformats.org/officeDocument/2006/relationships/image" Target="/ppt/media/image23.png" Id="R4247fa38f4a7418d" /><Relationship Type="http://schemas.openxmlformats.org/officeDocument/2006/relationships/notesSlide" Target="/ppt/notesSlides/notesSlide31.xml" Id="R6ba8d755a81f48e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0ba48b0b74893" /><Relationship Type="http://schemas.openxmlformats.org/officeDocument/2006/relationships/image" Target="/ppt/media/image24.png" Id="R8b3022e9f7634139" /><Relationship Type="http://schemas.openxmlformats.org/officeDocument/2006/relationships/image" Target="/ppt/media/image25.png" Id="R336f7f59b0c54fd3" /><Relationship Type="http://schemas.openxmlformats.org/officeDocument/2006/relationships/notesSlide" Target="/ppt/notesSlides/notesSlide32.xml" Id="Rb50d98e0444e418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6ad3b3804454c" /><Relationship Type="http://schemas.openxmlformats.org/officeDocument/2006/relationships/image" Target="/ppt/media/image26.png" Id="R64d559ffcbcf4535" /><Relationship Type="http://schemas.openxmlformats.org/officeDocument/2006/relationships/notesSlide" Target="/ppt/notesSlides/notesSlide33.xml" Id="Rbafb073722d24a9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76a24cdae74483" /><Relationship Type="http://schemas.openxmlformats.org/officeDocument/2006/relationships/notesSlide" Target="/ppt/notesSlides/notesSlide34.xml" Id="Rcae42d3a1d0042c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8d31e1e134325" /><Relationship Type="http://schemas.openxmlformats.org/officeDocument/2006/relationships/image" Target="/ppt/media/image27.png" Id="Rc619fb4df9bf44c6" /><Relationship Type="http://schemas.openxmlformats.org/officeDocument/2006/relationships/notesSlide" Target="/ppt/notesSlides/notesSlide35.xml" Id="R1e63d5ff97c844f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1f8905ae945b1" /><Relationship Type="http://schemas.openxmlformats.org/officeDocument/2006/relationships/image" Target="/ppt/media/image28.png" Id="R41566e6fd39448ea" /><Relationship Type="http://schemas.openxmlformats.org/officeDocument/2006/relationships/image" Target="/ppt/media/image29.png" Id="Re1bc4c6ec57b4888" /><Relationship Type="http://schemas.openxmlformats.org/officeDocument/2006/relationships/image" Target="/ppt/media/image30.png" Id="Rf3143de9260b4fe1" /><Relationship Type="http://schemas.openxmlformats.org/officeDocument/2006/relationships/notesSlide" Target="/ppt/notesSlides/notesSlide36.xml" Id="R72489e575cd34b2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b023cc9bb424a" /><Relationship Type="http://schemas.openxmlformats.org/officeDocument/2006/relationships/image" Target="/ppt/media/image31.png" Id="R3858fe1b1a3c42ff" /><Relationship Type="http://schemas.openxmlformats.org/officeDocument/2006/relationships/notesSlide" Target="/ppt/notesSlides/notesSlide37.xml" Id="R6d7a30181fe742d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820696fd9463b" /><Relationship Type="http://schemas.openxmlformats.org/officeDocument/2006/relationships/image" Target="/ppt/media/image32.png" Id="Rd5f5ac67ffd44f9b" /><Relationship Type="http://schemas.openxmlformats.org/officeDocument/2006/relationships/image" Target="/ppt/media/image33.png" Id="Ra1e2c1b5c5d24631" /><Relationship Type="http://schemas.openxmlformats.org/officeDocument/2006/relationships/image" Target="/ppt/media/image34.png" Id="Rb8d63c88ca24470e" /><Relationship Type="http://schemas.openxmlformats.org/officeDocument/2006/relationships/notesSlide" Target="/ppt/notesSlides/notesSlide38.xml" Id="Rbc1a9a7e69a6439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c60a792004527" /><Relationship Type="http://schemas.openxmlformats.org/officeDocument/2006/relationships/image" Target="/ppt/media/image35.png" Id="R6c097f16716848f9" /><Relationship Type="http://schemas.openxmlformats.org/officeDocument/2006/relationships/image" Target="/ppt/media/image36.png" Id="R38456a9f8fce4334" /><Relationship Type="http://schemas.openxmlformats.org/officeDocument/2006/relationships/image" Target="/ppt/media/image37.png" Id="R80f246ac5ebb4f05" /><Relationship Type="http://schemas.openxmlformats.org/officeDocument/2006/relationships/notesSlide" Target="/ppt/notesSlides/notesSlide39.xml" Id="Ra358a94183984a2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66625548c4d85" /><Relationship Type="http://schemas.openxmlformats.org/officeDocument/2006/relationships/image" Target="/ppt/media/image38.png" Id="R2b24a975cb2a405e" /><Relationship Type="http://schemas.openxmlformats.org/officeDocument/2006/relationships/notesSlide" Target="/ppt/notesSlides/notesSlide40.xml" Id="Re1b8037b15a448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9D216C-0E25-473C-A696-389D0CF2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E4FB4-0F69-406E-8A43-00B61BA2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ELECTROMAGNETISM 2026 · WEEK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B8BB1-18A0-43AC-8B4B-E54D618B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6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정전기적 일과 에너지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46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도체와 라플라스 방정식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A24BF-1A22-460A-A4EE-6BE53DBE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4288"/>
            <a:ext cx="581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0B07B-A03A-4BBA-A620-7BE99685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Griffiths §2.4 · §2.5 · §3.1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06156-4789-4682-B589-82DA13DF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10월 8일 강의 · 10월 12일 연습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A4690-9ECE-4327-9E26-29BD1C45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48625" y="3252788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C0909-54D1-41C9-8A49-8A9F5D95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34500" y="3252788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6488E-33EE-4215-89F0-BD992C46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85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B141C-1B82-41C1-A0EC-9B70941C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885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FB6A1-3E9D-4B40-846B-79A5099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3812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49168-EA36-4D62-83F5-07550F18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812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B2DD4-AB28-4823-AC07-7A4580E9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765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05357-4DF2-4C59-ACF6-B464EBC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765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13760-116D-46A4-A691-9BD6FF1A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718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C54E53-A68B-4632-BC1C-0FEAFE84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718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FA0C7-15E4-4F2C-90AE-39716360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671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664D4-9397-4E7E-A1D2-D15E3932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8671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18BA8-6A43-4390-98CB-612836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62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C94E0-5E4C-4778-B805-C2CF2A1F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362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7F5E1-4BE4-4041-A668-5C4BE08A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2237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78AFF-AD08-4BB7-80A8-C6FB40F5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2237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8" name=""/>
          <p:cNvCxnSpPr>
            <a:stCxn xmlns:a="http://schemas.openxmlformats.org/drawingml/2006/main" id="21" idx="6"/>
            <a:endCxn xmlns:a="http://schemas.openxmlformats.org/drawingml/2006/main" id="22" idx="2"/>
          </p:cNvCxnSpPr>
          <p:nvPr/>
        </p:nvCxnSpPr>
        <p:spPr>
          <a:xfrm xmlns:a="http://schemas.openxmlformats.org/drawingml/2006/main">
            <a:off x="9859328" y="2238376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F3C14-138B-43A9-AFD8-2FE20CBA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27898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81E9D-BB10-46D8-922B-DB389686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27898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1" name=""/>
          <p:cNvCxnSpPr>
            <a:stCxn xmlns:a="http://schemas.openxmlformats.org/drawingml/2006/main" id="24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9859328" y="2790826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12C4F9-11D3-4F2C-939B-B27D7B11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33423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50AD88-EFC0-48B1-A144-578CE48F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33423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4" name=""/>
          <p:cNvCxnSpPr>
            <a:stCxn xmlns:a="http://schemas.openxmlformats.org/drawingml/2006/main" id="27" idx="6"/>
            <a:endCxn xmlns:a="http://schemas.openxmlformats.org/drawingml/2006/main" id="28" idx="2"/>
          </p:cNvCxnSpPr>
          <p:nvPr/>
        </p:nvCxnSpPr>
        <p:spPr>
          <a:xfrm xmlns:a="http://schemas.openxmlformats.org/drawingml/2006/main">
            <a:off x="9859328" y="3343276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4E1E1E-E1EE-46A4-9C5B-0E3AF2C7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38947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571BB0-3CED-4455-B0C1-93577116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38947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30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9859328" y="3895726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5BE82E-3354-4E7F-B950-9CD4ED15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423" y="44472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D363A8-594A-40EE-83A9-D5990CA4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798" y="44472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33" idx="6"/>
            <a:endCxn xmlns:a="http://schemas.openxmlformats.org/drawingml/2006/main" id="34" idx="2"/>
          </p:cNvCxnSpPr>
          <p:nvPr/>
        </p:nvCxnSpPr>
        <p:spPr>
          <a:xfrm xmlns:a="http://schemas.openxmlformats.org/drawingml/2006/main">
            <a:off x="9859328" y="4448176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76174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2E18B-54F6-4212-B539-3026ED50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W06 / 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753BE-F7E9-499F-874F-882EE74E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6주차 수업 목표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E952A-D8A5-4F14-96C4-8176050E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86F81-E4FD-49DD-B150-C3B75D57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3222A-68E1-4362-8425-E10C07D0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F2253-B313-4A79-BFA6-C2EB49D5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AB352-A6FF-44E7-AB87-BEFC11E4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10.8 목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§2.4 · §2.5 · §3.1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16C2C-3D86-4B77-B821-4D40E000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연습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85B0C-F347-4E08-8BA5-21221484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10.12 월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에너지·도체·라플라스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2BE66-11DC-40FC-BA0D-DA85EF12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190750" y="3748088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96C11-B734-46B3-BA32-055FD946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752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완료 증거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6E23A-0A49-4470-807D-F6F6F0ED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669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FCC46-AF59-4600-BA72-FA360E31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479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전하배치의 조립 에너지를 두 방식으로 계산한다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C04B6-6055-4E3F-8D47-42E7BF8B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5113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B7408-6619-4AC1-BD3F-FA338923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90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F638A-BDCD-4415-B079-F911FE12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718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정전평형 도체의 다섯 성질을 설명한다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C64ED-7858-49B1-9A04-0BDCABF3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9013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9255B2-DF64-4947-BDD1-3222CAE5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147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A4E9B-8CCF-45A3-A2C3-C906D4D2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957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 표면의 장과 힘을 경계조건으로 구한다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0A8A5-953D-467A-B0EF-42B625CE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52913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DC4C0C-00B5-4B3A-9E83-14DD394C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38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1C903-423D-4307-93AA-D53B779A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19600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라플라스 방정식의 평균값·유일성을 사용한다</a:t>
            </a:r>
          </a:p>
        </p:txBody>
      </p:sp>
    </p:spTree>
    <p:extLst>
      <p:ext uri="{BB962C8B-B14F-4D97-AF65-F5344CB8AC3E}">
        <p14:creationId xmlns:p14="http://schemas.microsoft.com/office/powerpoint/2010/main" val="21026081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3EB5DA-60D8-4613-992E-BBDD2937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W06 / LEARNING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29049-8F67-4012-B1AF-16FD34FB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전위에서 에너지로, 도체에서 경계값 문제로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5A3F0-E618-4F82-B53D-996108C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B6D5B-8DE3-429A-A75B-D9F238D3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B84E1-D728-48C3-B00B-BECD46A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A2590-317A-429C-9DCB-4243FD6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54668-3E37-4B40-9571-FF3AE2E8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4A872-4CC7-4785-9384-915140E7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43243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전위차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ABE30-B379-468E-8B23-EE721BCA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0" y="47625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단위전하당 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07A00-D982-42F8-ABFA-91C87DF5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248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451D6-6F94-4A08-96CA-4F158346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2798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2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1601153" y="3619501"/>
            <a:ext cx="1731645" cy="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E0F0FE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CEC94-70F7-4FEC-8077-2AF75824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81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66957-9042-4A70-A0A7-08274C6B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9952C-EF1C-41B6-8F4A-5927F9CD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243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정전기에너지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0460D-91E7-430E-8C8A-278F0B0B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625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전하배치의 조립 비용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8E085-0B9B-48D7-AAF2-C3D9D610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698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9FD96-D3D4-4F83-8F11-C019D679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1248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"/>
          <p:cNvCxnSpPr>
            <a:stCxn xmlns:a="http://schemas.openxmlformats.org/drawingml/2006/main" id="17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4439603" y="3619501"/>
            <a:ext cx="1731645" cy="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E0F0FE"/>
            </a:solidFill>
            <a:prstDash val="solid"/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45F5C4-BF78-4353-9E72-F2D5101C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81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F99AC-2EA3-4798-A503-342CB1BE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0B1F3A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3D3DD9-0670-4737-85FB-62ED05BB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243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도체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BFF13-C63A-457C-8A01-B19D56B4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625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경계값을 만드는 물체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1E7D44-D16E-42AD-B70D-10F4A315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6148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B11BA-92A4-47CC-AE92-8C58358F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24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7278053" y="3619501"/>
            <a:ext cx="1731645" cy="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E0F0FE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6AA845-F500-42F8-A5E0-0C5CD2AF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81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9C7D76-FF12-47BC-BC79-999B4662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8EB89C-B0F9-48A0-B7EB-91D0ADE1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라플라스 방정식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8B37D9-7D90-4777-B070-4A8BC95C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경계가 내부 해를 결정</a:t>
            </a:r>
          </a:p>
        </p:txBody>
      </p:sp>
    </p:spTree>
    <p:extLst>
      <p:ext uri="{BB962C8B-B14F-4D97-AF65-F5344CB8AC3E}">
        <p14:creationId xmlns:p14="http://schemas.microsoft.com/office/powerpoint/2010/main" val="968406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FF37E-96DB-45FC-BB2F-4184EC14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§2.4 / WORK AND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90D4A-297F-481C-AAF8-34CA8F44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전위차는 전하를 옮기는 데 필요한 일로 측정된다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EB0E80-3C6E-481B-AAC6-71A19524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688E5-E5A1-4F71-BB27-640C1000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D1F50-FE96-40B8-B0E5-E771BF1A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293E7-97A9-4999-8B1C-FC790514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005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전기력은 보존력이므로 시작점과 끝점만 에너지 변화를 정한다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7d3290673424d"/>
          <a:stretch xmlns:a="http://schemas.openxmlformats.org/drawingml/2006/main"/>
        </p:blipFill>
        <p:spPr>
          <a:xfrm xmlns:a="http://schemas.openxmlformats.org/drawingml/2006/main">
            <a:off x="3355914" y="3524250"/>
            <a:ext cx="5480172" cy="100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954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E851C4-29FC-43F9-AE5D-62879DAE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§2.4.1 / MOVING A 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43341-FABF-4011-BF37-2A7AE7C0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외력이 한 일은 전기적 퍼텐셜에너지의 증가다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070BE-6578-4ECE-9245-561806FF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130CCB-FB48-4758-BC10-4545DF3B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13FD8-F649-441F-9435-ACEFDB1E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ED50A-7974-4489-88B6-580DAA23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385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B51C9-46E2-46CE-8345-E19B2948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337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53E1F-682B-4C60-92F6-DDFEE535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1455D-FC3B-4F37-BF12-EA276FB1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957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F7096-8D96-4FA7-AF28-5EBE6BAF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03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63D6B-0494-4DCD-8BE2-FD32DADE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20000">
            <a:off x="2278139" y="3305475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1AA9E-411E-4883-A268-EFE6AB6E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1898" y="30279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28182-294B-484F-A586-12356EDE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8298" y="28946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12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3753803" y="2895601"/>
            <a:ext cx="1674495" cy="13335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EAC40-E1C7-486A-A6EF-A3DFBBFB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479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외력이 천천히 이동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61e1f5e894f61"/>
          <a:stretch xmlns:a="http://schemas.openxmlformats.org/drawingml/2006/main"/>
        </p:blipFill>
        <p:spPr>
          <a:xfrm xmlns:a="http://schemas.openxmlformats.org/drawingml/2006/main">
            <a:off x="6191250" y="2604651"/>
            <a:ext cx="4953000" cy="839073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98D781-5500-4FE8-A49D-782A20CE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속도 변화가 없도록 천천히 옮기면 외력이 한 일이 계의 에너지 변화가 된다.</a:t>
            </a:r>
          </a:p>
        </p:txBody>
      </p:sp>
    </p:spTree>
    <p:extLst>
      <p:ext uri="{BB962C8B-B14F-4D97-AF65-F5344CB8AC3E}">
        <p14:creationId xmlns:p14="http://schemas.microsoft.com/office/powerpoint/2010/main" val="20727179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3172E-2272-4E35-A60F-14834CC1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POTENTIAL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3766A-E90F-4A7C-AC4C-6D0CAE04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전위는 단위전하당 퍼텐셜에너지다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4D718-EBA7-4F2C-9563-51C66315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8EEBA-B6B6-454F-AA30-3797D945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AD2D6-9E92-48C4-B8AA-E0C39545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bf3cc77ec4e47"/>
          <a:stretch xmlns:a="http://schemas.openxmlformats.org/drawingml/2006/main"/>
        </p:blipFill>
        <p:spPr>
          <a:xfrm xmlns:a="http://schemas.openxmlformats.org/drawingml/2006/main">
            <a:off x="1809750" y="1929369"/>
            <a:ext cx="8572500" cy="9609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32A4C-59E9-4CEA-AD54-D5BDDC30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ΔV &gt; 0, Q &gt;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9F828-E44A-47B2-8E8B-882AF88A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외력이 양의 일을 한다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6FBC8-F1E2-49EC-AD69-A14D69D4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8481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ΔV &lt; 0, Q &gt;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7B206-8930-41BF-A805-3487C926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3815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전기장이 일을 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59519-D8F1-48BE-A053-B307A869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48100"/>
            <a:ext cx="319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Q &lt;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763A81-059F-460D-841A-DA62F1E8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319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에너지 변화의 부호가 뒤집힌다</a:t>
            </a:r>
          </a:p>
        </p:txBody>
      </p:sp>
    </p:spTree>
    <p:extLst>
      <p:ext uri="{BB962C8B-B14F-4D97-AF65-F5344CB8AC3E}">
        <p14:creationId xmlns:p14="http://schemas.microsoft.com/office/powerpoint/2010/main" val="692474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703127-518F-443B-9302-A3292364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§2.4.2 / POINT-CHARGE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CB188-3E3D-473F-9459-A8918075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조립 에너지는 모든 전하쌍의 상호작용을 한 번씩 더한 값이다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6134D-1F2F-4E73-BAB7-5E020EE2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13441-C206-47AD-AE3B-5CCE4F11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6014C-DE1D-409A-9E43-07A420B4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7CCCA-5E62-41B8-99B5-7A431FC4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19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FFB08-8C5C-452B-A574-56E4DC61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6765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5D6E5A-5CDB-4F8F-8086-88EB545C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429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025A0-9BF0-4202-A7C1-8A33AE55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862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−q₂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E4592-DF84-4763-9005-3DB410EF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38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44C9CB-7DF6-489D-A2E5-2E61327B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955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6BA0C-A7D5-4E49-BAED-4529DE86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611872">
            <a:off x="1829456" y="3752850"/>
            <a:ext cx="2627588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01F1F-5452-4E77-9428-5DF423D4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290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r₁₂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98F18-A5A7-4DD7-80AF-5262FFF3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51361">
            <a:off x="2181006" y="2657475"/>
            <a:ext cx="373423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42C1E-FF33-4FFD-BF03-F7281388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333625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r₁₃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A0AB5-E95D-4F27-9CA0-F54A6AC8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26420">
            <a:off x="3579835" y="3562350"/>
            <a:ext cx="284158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55845-6ECF-4603-8B32-5F69260C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38500"/>
            <a:ext cx="685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r₂₃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a9fbec711457a"/>
          <a:stretch xmlns:a="http://schemas.openxmlformats.org/drawingml/2006/main"/>
        </p:blipFill>
        <p:spPr>
          <a:xfrm xmlns:a="http://schemas.openxmlformats.org/drawingml/2006/main">
            <a:off x="7608292" y="2547938"/>
            <a:ext cx="2880916" cy="10001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015B4-BE8D-4B57-835D-7C033173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i &lt; j 조건이 같은 전하쌍을 두 번 세는 것을 막는다.</a:t>
            </a:r>
          </a:p>
        </p:txBody>
      </p:sp>
    </p:spTree>
    <p:extLst>
      <p:ext uri="{BB962C8B-B14F-4D97-AF65-F5344CB8AC3E}">
        <p14:creationId xmlns:p14="http://schemas.microsoft.com/office/powerpoint/2010/main" val="19800679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6260AE-C9D6-4055-87AE-FE663639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DOUBLE COUNTING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59238-30AB-43A5-9C94-BB770EE8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전체 전위를 사용할 때는 전하쌍을 두 번 세므로 1/2이 필요하다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D4FC2-47D9-4634-96E6-6CA6AFC8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F4A2E-E0D1-4763-A1E5-51FB5486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290B5-CE72-46B2-A8CD-D4A2B93B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a42349b5e4be5"/>
          <a:stretch xmlns:a="http://schemas.openxmlformats.org/drawingml/2006/main"/>
        </p:blipFill>
        <p:spPr>
          <a:xfrm xmlns:a="http://schemas.openxmlformats.org/drawingml/2006/main">
            <a:off x="3538538" y="1952625"/>
            <a:ext cx="5114925" cy="1000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AA499-1359-4D75-9C3E-1C598E9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38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EF428-C6A2-4A73-B891-70A19151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57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F23B9-4446-45D2-B732-24985B6B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38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E13DB-5F93-4594-BA63-DCBADC5F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957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11445-CDD2-4AC7-98EB-5D7AD233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048" y="4285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AEE71-33F3-4218-A42F-14B1C5FC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173" y="4285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3810953" y="4286251"/>
            <a:ext cx="2522220" cy="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E0977-C0B4-44B6-9460-AC5EBB5B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173" y="46853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DDEF0-7A85-427C-A36F-5CD5B797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048" y="46853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14" idx="2"/>
            <a:endCxn xmlns:a="http://schemas.openxmlformats.org/drawingml/2006/main" id="15" idx="6"/>
          </p:cNvCxnSpPr>
          <p:nvPr/>
        </p:nvCxnSpPr>
        <p:spPr>
          <a:xfrm xmlns:a="http://schemas.openxmlformats.org/drawingml/2006/main" flipH="1">
            <a:off x="3810953" y="4686301"/>
            <a:ext cx="2522220" cy="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344054"/>
            </a:solidFill>
            <a:prstDash val="solid"/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B9B43-AAEF-45C9-8F11-4F8280ED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i가 보는 j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4B51AE-1DEC-4133-8CB5-F1374EA1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68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j가 보는 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BB3C2-AE18-46C1-8E93-A598699C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두 표현은 같은 상호작용을 세는 방식만 다르다.</a:t>
            </a:r>
          </a:p>
        </p:txBody>
      </p:sp>
    </p:spTree>
    <p:extLst>
      <p:ext uri="{BB962C8B-B14F-4D97-AF65-F5344CB8AC3E}">
        <p14:creationId xmlns:p14="http://schemas.microsoft.com/office/powerpoint/2010/main" val="19783591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A80A4A-C6E5-47A6-8814-5F555765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§2.4.3 / CONTINUOUS 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5385A-6C97-4D85-ADD7-AAFBB154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연속분포의 에너지는 전하밀도와 전위의 곱을 적분한다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12F87-CA96-4141-AD75-4305B8A7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82EE4-4C0C-4E67-BE49-12E5D98B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09D7A-7602-43BB-B66A-C3C99F4C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4CD5F-D765-4AD0-9B3F-274571E0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C3456-4398-4041-A5C8-92B00F30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736" y="39336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29AD4-40DD-48AB-883C-3CE46401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03" y="404052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0FA46-AA84-464D-A470-0317CA0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4380" y="427623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FAD13-EFB3-44E2-A992-276A3ACF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3919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A2AA2-B960-4984-9FC7-1F388132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762" y="4168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C7CDB6-4D8F-4647-9EE6-7D01F416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20" y="412368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9E48C-0252-400E-9457-B618FD26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5895" y="393274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0BC7A-D3B2-4AD1-8B0A-54B100AF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615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973F0-7BE2-4863-8F85-39B7C669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869" y="3345801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B644D-75F6-42AB-B40D-2FFC36AB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3431" y="304154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AAA31F-25DA-4C7A-A1B2-E8D13234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004" y="3072234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36C58-8247-4B07-8952-7B3B90C8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0210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4FB71-6B06-4328-8995-2D350076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9377" y="286547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FB2350-52AD-4BA6-BBDE-D1AE4387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113" y="320131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D5452-E49B-43AA-A1B1-D75FBDFC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877" y="334413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6203B-B293-4A60-B8AD-91C9B027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ρ(r)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2280c6a91944ba"/>
          <a:stretch xmlns:a="http://schemas.openxmlformats.org/drawingml/2006/main"/>
        </p:blipFill>
        <p:spPr>
          <a:xfrm xmlns:a="http://schemas.openxmlformats.org/drawingml/2006/main">
            <a:off x="6798984" y="2476500"/>
            <a:ext cx="3451783" cy="10001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D07C1-EF19-4A7A-80BC-C0D03424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V는 해당 미소전하가 만드는 자기 전위를 제외한 조립 과정의 극한으로 이해한다.</a:t>
            </a:r>
          </a:p>
        </p:txBody>
      </p:sp>
    </p:spTree>
    <p:extLst>
      <p:ext uri="{BB962C8B-B14F-4D97-AF65-F5344CB8AC3E}">
        <p14:creationId xmlns:p14="http://schemas.microsoft.com/office/powerpoint/2010/main" val="1904937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3E977-C3CA-4051-AA32-FCA77F87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ENERGY IN THE FIELD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EC42F-298D-4BB2-912D-05119E20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같은 에너지를 전기장 전체 공간의 적분으로 계산할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3CB50-AA6D-4679-BF1F-5FC8FFDE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27E36-8516-41FF-ABC5-5D16CAE7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FD537-48D6-4582-9D2C-25ACAE6D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86ed7b5bb4afd"/>
          <a:stretch xmlns:a="http://schemas.openxmlformats.org/drawingml/2006/main"/>
        </p:blipFill>
        <p:spPr>
          <a:xfrm xmlns:a="http://schemas.openxmlformats.org/drawingml/2006/main">
            <a:off x="1866439" y="1785938"/>
            <a:ext cx="8459122" cy="10001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c62c91fe34282"/>
          <a:stretch xmlns:a="http://schemas.openxmlformats.org/drawingml/2006/main"/>
        </p:blipFill>
        <p:spPr>
          <a:xfrm xmlns:a="http://schemas.openxmlformats.org/drawingml/2006/main">
            <a:off x="3355914" y="3452813"/>
            <a:ext cx="5480172" cy="1000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278AB-C492-4054-84AA-5EC5638B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923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전하가 있는 영역과 장이 퍼져 있는 영역은 다를 수 있다. 총에너지는 두 계산에서 같다.</a:t>
            </a:r>
          </a:p>
        </p:txBody>
      </p:sp>
    </p:spTree>
    <p:extLst>
      <p:ext uri="{BB962C8B-B14F-4D97-AF65-F5344CB8AC3E}">
        <p14:creationId xmlns:p14="http://schemas.microsoft.com/office/powerpoint/2010/main" val="18854804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5A3CD09-F70F-4561-A185-3AC014E2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ENERGY DENSITY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7D73CD-ED6C-40BD-A2A8-FD3AAA57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강한 전기장이 있는 공간이 에너지 적분에 크게 기여한다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337EE-83AC-4942-80FB-48665D39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36C21-8AC1-4D7D-8F28-72A5B888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46D3F-4570-462D-AB6F-3BA7082D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867EA-7B7E-4008-AC9A-0A65DFF7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95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87CE8-CF12-4499-A9C5-98AD4EC8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248" y="3523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E92B8-9A19-4590-9F62-313922B2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048" y="3523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3506153" y="3524251"/>
            <a:ext cx="1445895" cy="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B9F9F-D60B-4A9C-9362-6D462EA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755" y="37042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94BA3-5809-4C74-B379-49002C92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587" y="44281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10" idx="5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457381" y="3705899"/>
            <a:ext cx="1252485" cy="722553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C9640-ED27-4092-BBF9-2E32D967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273" y="3836755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9805D-8002-4366-9001-DC36C741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5090587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13" idx="5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324899" y="3838381"/>
            <a:ext cx="722553" cy="1252485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A04794-E22E-4CED-956B-56E4D928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298" y="38852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F3693-04DA-4718-AA06-CF4E9867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298" y="5333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16" idx="4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143251" y="3887153"/>
            <a:ext cx="0" cy="1445895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8BDB09-D6DA-4109-9ED0-FA1772A2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323" y="3836755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CFF53-8B1D-4B18-9B75-4DC9F966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423" y="5090587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>
            <a:stCxn xmlns:a="http://schemas.openxmlformats.org/drawingml/2006/main" id="19" idx="3"/>
            <a:endCxn xmlns:a="http://schemas.openxmlformats.org/drawingml/2006/main" id="20" idx="7"/>
          </p:cNvCxnSpPr>
          <p:nvPr/>
        </p:nvCxnSpPr>
        <p:spPr>
          <a:xfrm xmlns:a="http://schemas.openxmlformats.org/drawingml/2006/main" flipH="1">
            <a:off x="2239049" y="3838381"/>
            <a:ext cx="722553" cy="1252485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BCE7D-7C1E-48C4-9E32-45E37F2D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840" y="37042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003BD-2CA5-4186-9706-5FDC7C49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008" y="44281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1" name=""/>
          <p:cNvCxnSpPr>
            <a:stCxn xmlns:a="http://schemas.openxmlformats.org/drawingml/2006/main" id="22" idx="3"/>
            <a:endCxn xmlns:a="http://schemas.openxmlformats.org/drawingml/2006/main" id="23" idx="7"/>
          </p:cNvCxnSpPr>
          <p:nvPr/>
        </p:nvCxnSpPr>
        <p:spPr>
          <a:xfrm xmlns:a="http://schemas.openxmlformats.org/drawingml/2006/main" flipH="1">
            <a:off x="1576634" y="3705899"/>
            <a:ext cx="1252485" cy="722553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AC2EFF-7D35-43AA-8445-0DFB5803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348" y="3523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6F3184-C284-4156-9635-B3059F76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3523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4" name=""/>
          <p:cNvCxnSpPr>
            <a:stCxn xmlns:a="http://schemas.openxmlformats.org/drawingml/2006/main" id="25" idx="2"/>
            <a:endCxn xmlns:a="http://schemas.openxmlformats.org/drawingml/2006/main" id="26" idx="6"/>
          </p:cNvCxnSpPr>
          <p:nvPr/>
        </p:nvCxnSpPr>
        <p:spPr>
          <a:xfrm xmlns:a="http://schemas.openxmlformats.org/drawingml/2006/main" flipH="1">
            <a:off x="1334453" y="3524251"/>
            <a:ext cx="1445895" cy="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FE0387-3AE0-4B66-8262-4576B662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840" y="33423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2D1B58-93A7-451C-AC59-79DE830E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008" y="2618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7" name=""/>
          <p:cNvCxnSpPr>
            <a:stCxn xmlns:a="http://schemas.openxmlformats.org/drawingml/2006/main" id="28" idx="1"/>
            <a:endCxn xmlns:a="http://schemas.openxmlformats.org/drawingml/2006/main" id="29" idx="5"/>
          </p:cNvCxnSpPr>
          <p:nvPr/>
        </p:nvCxnSpPr>
        <p:spPr>
          <a:xfrm xmlns:a="http://schemas.openxmlformats.org/drawingml/2006/main" flipH="1" flipV="1">
            <a:off x="1576634" y="2620049"/>
            <a:ext cx="1252485" cy="722553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8CECEE-502C-463C-B1F4-F8840220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323" y="3209840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0A1CB-8054-4F6B-A569-2DE46FA3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422" y="195600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0" name=""/>
          <p:cNvCxnSpPr>
            <a:stCxn xmlns:a="http://schemas.openxmlformats.org/drawingml/2006/main" id="31" idx="1"/>
            <a:endCxn xmlns:a="http://schemas.openxmlformats.org/drawingml/2006/main" id="32" idx="5"/>
          </p:cNvCxnSpPr>
          <p:nvPr/>
        </p:nvCxnSpPr>
        <p:spPr>
          <a:xfrm xmlns:a="http://schemas.openxmlformats.org/drawingml/2006/main" flipH="1" flipV="1">
            <a:off x="2239048" y="1957634"/>
            <a:ext cx="722554" cy="1252485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97BE45-EB86-46E4-8986-F29C2AD0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298" y="31613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85F6AE-D48D-4971-9DAD-F1B5900C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2297" y="1713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3" name=""/>
          <p:cNvCxnSpPr>
            <a:stCxn xmlns:a="http://schemas.openxmlformats.org/drawingml/2006/main" id="34" idx="0"/>
            <a:endCxn xmlns:a="http://schemas.openxmlformats.org/drawingml/2006/main" id="35" idx="4"/>
          </p:cNvCxnSpPr>
          <p:nvPr/>
        </p:nvCxnSpPr>
        <p:spPr>
          <a:xfrm xmlns:a="http://schemas.openxmlformats.org/drawingml/2006/main" flipH="1" flipV="1">
            <a:off x="3143250" y="1715453"/>
            <a:ext cx="1" cy="1445895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68CACF-7CBB-41A9-B18B-C7801681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273" y="3209840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261026-64B6-4873-BC0A-72AA5724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3" y="195600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6" name=""/>
          <p:cNvCxnSpPr>
            <a:stCxn xmlns:a="http://schemas.openxmlformats.org/drawingml/2006/main" id="37" idx="7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V="1">
            <a:off x="3324899" y="1957634"/>
            <a:ext cx="722553" cy="1252485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8544DA-61EC-4838-980F-6BE9B420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755" y="33423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F5A7E7-610E-47CD-916A-18D3AFC9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587" y="2618422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9" name=""/>
          <p:cNvCxnSpPr>
            <a:stCxn xmlns:a="http://schemas.openxmlformats.org/drawingml/2006/main" id="40" idx="7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V="1">
            <a:off x="3457381" y="2620048"/>
            <a:ext cx="1252485" cy="722554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705BA4-6433-4F7F-A5AE-1C36BACE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09875"/>
            <a:ext cx="1428750" cy="1428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3A6168-112A-4508-A9F2-DA5DDFD3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314575"/>
            <a:ext cx="2419350" cy="2419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31207BF-DE75-48A1-8D7B-EC3C0459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19275"/>
            <a:ext cx="3409950" cy="3409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be6ec16fe49c5"/>
          <a:stretch xmlns:a="http://schemas.openxmlformats.org/drawingml/2006/main"/>
        </p:blipFill>
        <p:spPr>
          <a:xfrm xmlns:a="http://schemas.openxmlformats.org/drawingml/2006/main">
            <a:off x="6191250" y="2494362"/>
            <a:ext cx="4762500" cy="869151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D53B68-4321-4E3E-B140-B84DF640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uE는 항상 0 이상이다. 그러나 점전하의 자기 에너지는 r = 0에서 발산한다.</a:t>
            </a:r>
          </a:p>
        </p:txBody>
      </p:sp>
    </p:spTree>
    <p:extLst>
      <p:ext uri="{BB962C8B-B14F-4D97-AF65-F5344CB8AC3E}">
        <p14:creationId xmlns:p14="http://schemas.microsoft.com/office/powerpoint/2010/main" val="381379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A843B-5C4B-4CA8-A6D9-67E0BCBB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INTEGRATION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3E065-CD31-4FD8-A0A2-186C9C5B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장 에너지 적분은 모든 공간으로 확장할 때 가장 단순해진다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09D4D-C11D-4E67-A548-BA2AD84E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3EC8A-8A09-462B-9BC2-0BDFDA7C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EB788-B9E3-4F26-9F86-1A0F3163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D3926-E2D8-4E5E-8C92-8DFB0C88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38450"/>
            <a:ext cx="156210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88734-3340-4222-80EC-7AC0A5F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4191000" cy="419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5998D-4431-41A7-9F8B-B711039B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90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64CFA-5F70-464A-8D26-4125BD7D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5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82060-2B08-4EAB-B32B-2A675103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767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전하 영역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81725-6E3D-41B3-9721-F96BF333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09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적분 경계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ECCD98-F963-4C20-90CD-1AF46767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부분적분의 표면항은 경계를 무한대로 보내고 국소화된 전하분포를 가정할 때 사라진다.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8E98EC-E146-4F02-860F-4DA9D889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862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유한한 영역에서는 표면항을 먼저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2518887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F8BDA-2746-4D78-9725-DBEEAF78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NO LINEAR SUPERPOSITION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86579-051E-4929-A022-283ADDE6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전기장은 선형으로 더해지지만 에너지는 제곱 때문에 교차항을 갖는다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213C8-921B-4D29-8812-44B9D42C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6680F-BE7D-4806-AF4A-7F1602F8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3FFE5-8817-4FC2-BA7B-76BB5890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69ab52f52464b"/>
          <a:stretch xmlns:a="http://schemas.openxmlformats.org/drawingml/2006/main"/>
        </p:blipFill>
        <p:spPr>
          <a:xfrm xmlns:a="http://schemas.openxmlformats.org/drawingml/2006/main">
            <a:off x="2656860" y="2071688"/>
            <a:ext cx="6878279" cy="1000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B43C5-938E-4D4E-BFEA-372A8A4B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14775"/>
            <a:ext cx="1028700" cy="1028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5E3EE0-64A9-4F56-8D5C-61F650D2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5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W₁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AFB7F-9D98-4359-91D7-1EABF71E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719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4DEE5-BBC4-4C0C-8FDA-7A60236F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14775"/>
            <a:ext cx="1028700" cy="1028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440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6AC38A-B584-424F-9359-5B4D58C3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95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W₂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C4542-2893-4941-B490-2DE959B3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71950"/>
            <a:ext cx="38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6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6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F7B3C-21DC-41E0-8AB3-8C5A94E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914775"/>
            <a:ext cx="1028700" cy="1028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B423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AAD4E-3149-4B05-93F9-086F6568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95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B42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B42318"/>
                </a:solidFill>
                <a:latin typeface="Apple SD Gothic Neo"/>
                <a:ea typeface="Apple SD Gothic Neo"/>
                <a:cs typeface="Apple SD Gothic Neo"/>
              </a:rPr>
              <a:t>상호작용 에너지</a:t>
            </a:r>
          </a:p>
        </p:txBody>
      </p:sp>
    </p:spTree>
    <p:extLst>
      <p:ext uri="{BB962C8B-B14F-4D97-AF65-F5344CB8AC3E}">
        <p14:creationId xmlns:p14="http://schemas.microsoft.com/office/powerpoint/2010/main" val="15726609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DCD3A5-4014-4908-B668-58DD954F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WORKED EXAMPLE / PARALLEL PLATES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B49B0-591B-4D78-A38F-6A3D600F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평행판 축전기의 장 에너지는 조립 에너지와 일치한다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D1097-0443-480D-851C-3DBD696F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68FBD-7D4F-4D8C-BA72-A86365AB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03D00-4C55-4F0A-A05A-9C2FA30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78F4D-BD08-46F6-8885-6E097277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3875" y="3633788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66E13-D034-45B6-BB97-F192B9D8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190875" y="3633788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7F43A-D45F-47D4-A0CF-E9456697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193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0F7A3-D56A-45C3-A774-FC715C36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193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D0BBE-1293-4673-BF65-F3E94698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336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378E5-C825-43DF-B73C-83F99583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336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CD821-56E7-4CAE-9255-7458FEF0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480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F2F91B-326B-4BF3-A8A3-2A36D551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480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2E0E3-A2B8-4C76-98AF-9B5583DB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623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1769F-BD06-4ECF-B264-3E66A339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623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94533F-EDBB-42DE-9CFB-2390F6B2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C0847-3ACD-4FA2-A4B5-D342C0B5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767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854FD-9972-46F1-839E-712B1E46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AE1C1-24F6-49B3-B2F7-D2CD5D5A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910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DB686-88BF-4992-896C-B956AAB1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D2F68-FCD3-4D1A-9B3A-F8BDE27E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98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0" name=""/>
          <p:cNvCxnSpPr>
            <a:stCxn xmlns:a="http://schemas.openxmlformats.org/drawingml/2006/main" id="20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2572703" y="2571751"/>
            <a:ext cx="171259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99D655-0817-43FF-AB01-F3E6FD83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094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78BB59-9A0C-43BD-AC9F-57E4B56C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98" y="3094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23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2572703" y="3095626"/>
            <a:ext cx="171259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0BEA9-FD40-49A1-82C1-F2A09777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0E033-6B0A-4A17-AB5C-5993F009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98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6" name=""/>
          <p:cNvCxnSpPr>
            <a:stCxn xmlns:a="http://schemas.openxmlformats.org/drawingml/2006/main" id="26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2572703" y="3619501"/>
            <a:ext cx="171259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14B70F-A44D-4B06-9216-E83A85C2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D7E1E1-6FA0-4D3C-B108-885C65B9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9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9" name=""/>
          <p:cNvCxnSpPr>
            <a:stCxn xmlns:a="http://schemas.openxmlformats.org/drawingml/2006/main" id="29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2572703" y="4143376"/>
            <a:ext cx="171259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DFCFCA-996D-4E88-9451-62B73843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666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A108A5-6D69-4BE1-AAD5-FF63FBCC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98" y="4666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2" name=""/>
          <p:cNvCxnSpPr>
            <a:stCxn xmlns:a="http://schemas.openxmlformats.org/drawingml/2006/main" id="32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>
            <a:off x="2572703" y="4667251"/>
            <a:ext cx="171259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0D1A66-16A5-4017-A681-1DE15FB8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3340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38811F-2341-41DF-8736-04138739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619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c556471c54802"/>
          <a:stretch xmlns:a="http://schemas.openxmlformats.org/drawingml/2006/main"/>
        </p:blipFill>
        <p:spPr>
          <a:xfrm xmlns:a="http://schemas.openxmlformats.org/drawingml/2006/main">
            <a:off x="6096000" y="2654736"/>
            <a:ext cx="4953000" cy="929402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F3555A-807F-4846-9A07-8A95EED0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가장자리 효과를 무시하면 장은 판 사이에만 존재한다.</a:t>
            </a:r>
          </a:p>
        </p:txBody>
      </p:sp>
    </p:spTree>
    <p:extLst>
      <p:ext uri="{BB962C8B-B14F-4D97-AF65-F5344CB8AC3E}">
        <p14:creationId xmlns:p14="http://schemas.microsoft.com/office/powerpoint/2010/main" val="20247979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60A59-6FBF-44B4-BBDE-9A6A07F9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 / ELECTROSTATIC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CB829-0210-4402-A3D9-5B7F2C9E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어떤 에너지 공식을 선택할지는 주어진 정보가 결정한다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B5A0E-761D-44AA-806F-E06C4DEB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7B47B-2A91-4D1A-B493-A0EFC86E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19945-AD0A-48E3-BEA3-170266A5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64697-E32C-42EE-A768-3C5BF03A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780B0-11B2-48A8-8AE5-ED3BD082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95262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점전하 위치·전하량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5E86F-685D-4338-AF52-05467B54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전하쌍 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527C0-6E84-41C5-BD0F-F59EBA25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71763"/>
            <a:ext cx="881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5728A-95D6-4CB8-A318-40DC572E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237C4-85D8-4568-9C8E-2DCB5C5F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43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ρ와 V가 알려짐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FD1A4-C604-43F5-B66B-6268388F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14675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½∫ρV dτ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93976-1125-443F-852F-B5B668F1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62388"/>
            <a:ext cx="881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1B28B3-F6CA-4E44-9BC5-A5A7805A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5446B-A031-4512-9E36-82674F93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338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E가 알려짐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25F9D-ECF8-492B-89D3-F783A33C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053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(ε₀/2)∫E² dτ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60D4C1-BA53-4159-A87D-BC9D25F9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E99BE-8F0A-4D70-8B95-3560D7E4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자기 에너지 발산과 상호작용 에너지를 혼동하지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6474365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095A6-44B6-4BC0-9FAD-7A52F3D4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§2.5 / CONDUCTORS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C4EFE-04FF-4F32-9628-F4514372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정전평형에서 자유전하는 내부 전기장을 지운다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9648B-B796-4CAF-A91E-646BBA2E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1414C-12AC-415B-8AA7-FB1BC995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96489-2B0E-4B11-986A-88283498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72265C-E968-4213-8362-2C2C1DC6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005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도체의 전하 재배치가 등전위 경계와 표면전하를 만든다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200c39dc6421c"/>
          <a:stretch xmlns:a="http://schemas.openxmlformats.org/drawingml/2006/main"/>
        </p:blipFill>
        <p:spPr>
          <a:xfrm xmlns:a="http://schemas.openxmlformats.org/drawingml/2006/main">
            <a:off x="1619250" y="3729183"/>
            <a:ext cx="8953500" cy="5902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132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9D722C-E8BD-420C-BF45-510611B2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§2.5.1 / FIVE PROPERTIES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5C6B4-0141-4ECE-B2DA-849D3160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정전평형 도체의 성질은 E = 0에서 연쇄적으로 따라온다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3FEA9-2F6F-4874-B978-52901DBB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8C192-F7C9-48D6-8791-34F64E8C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95FA9-CA27-452D-9F8A-4B2EA855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54BE4-5850-4A13-B5FB-02506D1E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51B7A-5818-4EF9-8188-3B46C712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192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 내부 E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C87A6-64BB-42E0-99FF-A4B71270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24088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94DEF-4302-40E2-AEFB-0D7D7178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F9797-7E38-44C6-B3A2-6CDE0A62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574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 벌크의 ρ =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BFA28-2974-4480-8900-C7CCBE2F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62288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81CC7-A485-4EC9-A439-B70584B1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2D819-0F18-47DA-B607-E724AEF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956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순전하는 표면에 존재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C0864-7F3B-45A8-B156-E5C85FC4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00488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E41CE-B321-4DFC-9C5B-EAC163F8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CAA7F-741A-4486-AF42-FD365C0F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338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 전체가 등전위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C2749-FB9A-4F77-9513-9F816CB2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38688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57E29-7DFC-4380-B786-AE2D174E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3F64A-DBA6-4984-97DB-02B8848A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720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표면 바로 밖 E는 수직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C8A74-A122-4857-8309-7AFAE9CD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00250"/>
            <a:ext cx="1428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28575">
            <a:solidFill>
              <a:srgbClr val="3440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429F7-27FC-4336-BB70-547FFCFA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86125"/>
            <a:ext cx="123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E = 0</a:t>
            </a:r>
          </a:p>
        </p:txBody>
      </p:sp>
    </p:spTree>
    <p:extLst>
      <p:ext uri="{BB962C8B-B14F-4D97-AF65-F5344CB8AC3E}">
        <p14:creationId xmlns:p14="http://schemas.microsoft.com/office/powerpoint/2010/main" val="18321759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AF2DBDC-F963-4B16-A6AF-013A92E7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CHARGE RELAXATION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3AD6E-511D-4CA4-B816-B6EA2113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유도전하가 외부장을 상쇄할 때 전하 이동이 멈춘다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48607-C29E-4518-8A78-5E90AFC6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536E8-D127-457E-AD6B-7790EB6E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53A9E-8DE8-4E67-9617-8A483049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12E57-D5F5-4536-A663-0E0AA603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초기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1E689-5783-43CE-B0DF-8A0DCCB6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095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28575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4B004-FCD6-4480-A8B4-0AE87E2C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2713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C223B-A602-4DA0-8B65-7133972A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73" y="2713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4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477328" y="2714626"/>
            <a:ext cx="142684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D5084-7B27-4E24-8C5D-AF3FE531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31899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8A377-D9CD-463F-8A26-72FAAB3C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73" y="31899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477328" y="3190876"/>
            <a:ext cx="142684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3AB58-22B4-4663-B42C-7F2F5ACB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36661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C7DD7-1D8F-49DD-A7EC-BC012B1E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73" y="36661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1477328" y="3667126"/>
            <a:ext cx="142684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2D240-7DE9-4808-8D0E-16B0E07C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C46236-79D3-4085-BCC0-7ACC3C0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73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7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1477328" y="4143376"/>
            <a:ext cx="142684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D88D2-3A34-4E52-91D2-2858ACB7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423" y="4618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43487-0ED3-4074-BFFA-3557404A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73" y="4618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0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1477328" y="4619626"/>
            <a:ext cx="142684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742384-2DB2-41FB-AF45-421A80A5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E₀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07B5B-8228-4E9F-AFE4-CF176501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3798" y="3713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D60CE-761C-4A61-90A4-FEEB2828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048" y="3713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0" name=""/>
          <p:cNvCxnSpPr>
            <a:stCxn xmlns:a="http://schemas.openxmlformats.org/drawingml/2006/main" id="24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>
            <a:off x="3715703" y="3714751"/>
            <a:ext cx="123634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344054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CD8550-54F5-466F-B5CF-0F402677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14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정전평형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B437A-6A11-4678-86B7-6AB3A2E4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28575">
            <a:solidFill>
              <a:srgbClr val="34405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4923C-FCEA-40A2-812C-F99CD13B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14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F2A1D3-0C89-4CA3-A90C-FF8E38E3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14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840410-B688-4081-9E03-CD0C2CAF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2608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621B30-91B2-4E26-8BF0-21F0A783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2608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B6527E-027C-4345-9A33-38FAEDEC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33756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F9477E-B41E-4736-87D8-0FA0EF4A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756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F7AA69-2816-4150-A36C-9093723A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4904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D59169-C82B-4B32-9223-88EB64A2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4904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82F0B4-A1F6-4042-B39E-0F9034C8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052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B668BB-75A7-43B3-80A2-98C885DF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6052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F90621-8BDF-4AFA-B777-9D8ACA8E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72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31F81E-EE05-4BFE-AAD3-6F674A01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494584C-9CBD-43FA-BA66-88E1AD16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2856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44EEC7-D047-41EB-BEB1-F7324415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798" y="2856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97" name=""/>
          <p:cNvCxnSpPr>
            <a:stCxn xmlns:a="http://schemas.openxmlformats.org/drawingml/2006/main" id="41" idx="6"/>
            <a:endCxn xmlns:a="http://schemas.openxmlformats.org/drawingml/2006/main" id="42" idx="2"/>
          </p:cNvCxnSpPr>
          <p:nvPr/>
        </p:nvCxnSpPr>
        <p:spPr>
          <a:xfrm xmlns:a="http://schemas.openxmlformats.org/drawingml/2006/main">
            <a:off x="5811203" y="2857501"/>
            <a:ext cx="1331595" cy="0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667085"/>
            </a:solidFill>
            <a:prstDash val="solid"/>
            <a:tailEnd type="triangle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A8B7E1-9382-4A3D-85DD-152DB36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3428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A4F969-F706-4F94-8470-91BC9DEF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798" y="3428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0" name=""/>
          <p:cNvCxnSpPr>
            <a:stCxn xmlns:a="http://schemas.openxmlformats.org/drawingml/2006/main" id="44" idx="6"/>
            <a:endCxn xmlns:a="http://schemas.openxmlformats.org/drawingml/2006/main" id="45" idx="2"/>
          </p:cNvCxnSpPr>
          <p:nvPr/>
        </p:nvCxnSpPr>
        <p:spPr>
          <a:xfrm xmlns:a="http://schemas.openxmlformats.org/drawingml/2006/main">
            <a:off x="5811203" y="3429001"/>
            <a:ext cx="1331595" cy="0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667085"/>
            </a:solidFill>
            <a:prstDash val="solid"/>
            <a:tailEnd type="triangle" w="med" len="me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83D8CE-6572-401B-AFDD-0770008F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F84A70-57F6-4322-854C-2BA27A15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798" y="3999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3" name=""/>
          <p:cNvCxnSpPr>
            <a:stCxn xmlns:a="http://schemas.openxmlformats.org/drawingml/2006/main" id="47" idx="6"/>
            <a:endCxn xmlns:a="http://schemas.openxmlformats.org/drawingml/2006/main" id="48" idx="2"/>
          </p:cNvCxnSpPr>
          <p:nvPr/>
        </p:nvCxnSpPr>
        <p:spPr>
          <a:xfrm xmlns:a="http://schemas.openxmlformats.org/drawingml/2006/main">
            <a:off x="5811203" y="4000501"/>
            <a:ext cx="1331595" cy="0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667085"/>
            </a:solidFill>
            <a:prstDash val="solid"/>
            <a:tailEnd type="triangle" w="med" len="me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68C9FF6-EE26-44BD-AC2D-FC637179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4571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8927B7-1899-4A0A-B87D-BFCC0234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2798" y="4571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6" name=""/>
          <p:cNvCxnSpPr>
            <a:stCxn xmlns:a="http://schemas.openxmlformats.org/drawingml/2006/main" id="50" idx="6"/>
            <a:endCxn xmlns:a="http://schemas.openxmlformats.org/drawingml/2006/main" id="51" idx="2"/>
          </p:cNvCxnSpPr>
          <p:nvPr/>
        </p:nvCxnSpPr>
        <p:spPr>
          <a:xfrm xmlns:a="http://schemas.openxmlformats.org/drawingml/2006/main">
            <a:off x="5811203" y="4572001"/>
            <a:ext cx="1331595" cy="0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667085"/>
            </a:solidFill>
            <a:prstDash val="solid"/>
            <a:tailEnd type="triangle" w="med" len="med"/>
          </a:ln>
        </p:spPr>
      </p:cxn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3053378ef4d43"/>
          <a:stretch xmlns:a="http://schemas.openxmlformats.org/drawingml/2006/main"/>
        </p:blipFill>
        <p:spPr>
          <a:xfrm xmlns:a="http://schemas.openxmlformats.org/drawingml/2006/main">
            <a:off x="5653149" y="5205413"/>
            <a:ext cx="1838202" cy="371475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D2B96A-B9BE-4D0B-8831-54C1E0C1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재배치는 매우 짧은 시간에 일어나며 최종 상태만 정전기학이 다룬다.</a:t>
            </a:r>
          </a:p>
        </p:txBody>
      </p:sp>
    </p:spTree>
    <p:extLst>
      <p:ext uri="{BB962C8B-B14F-4D97-AF65-F5344CB8AC3E}">
        <p14:creationId xmlns:p14="http://schemas.microsoft.com/office/powerpoint/2010/main" val="6238087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F3077C-12B8-4AAC-B26C-3EB9F3E7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SURFACE 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4F8091-11BA-414E-BBCB-7C75B27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도체의 순전하는 내부가 아니라 표면에 놓인다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B6A16-175D-4EC2-BDBE-0A0B350E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DF64B-DA80-49F3-8FED-D36A86B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2318-9710-4551-A63B-1D8B434E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47CE6-4193-4F9C-8EB3-486D3747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57375"/>
            <a:ext cx="3619500" cy="3619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3B1EC-B5C5-41C1-A37F-01E02A78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956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6303B-C48E-4F24-BC81-B0F4654C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244" y="4198241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EC72A-1ED9-41F8-A3D1-81FF5B7A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936" y="4761656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B0788-3CCC-49DE-8C3F-62CBED77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667" y="5074327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BE525-3D28-441A-BC2C-13E28782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033" y="5074327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8BDDD-3C73-4CA9-BC2A-2E5977B8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64" y="4761656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3C7E4-3036-4DAD-9505-BD9609F0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456" y="4198241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8BB79-A188-4E56-A44F-B72090BE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956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C569F-7F57-4D77-8B57-D89A41FB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2456" y="2793109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F9C00-C1B0-4DE7-892F-A678BE04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64" y="2229694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DE78D-DE3B-4859-8B47-016F71FC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033" y="1917023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035BA9-4A4F-45E3-BCB7-786E3012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667" y="1917023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88104-99EE-43B7-852A-26A3255F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0936" y="2229694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E03CC-D691-4949-9E23-23B21840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0244" y="2793109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1B601-24AC-4B0B-9990-5B405B8F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90825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6EE05-C637-4C24-87AF-6280AE52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290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ρ = 0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07205997d4377"/>
          <a:stretch xmlns:a="http://schemas.openxmlformats.org/drawingml/2006/main"/>
        </p:blipFill>
        <p:spPr>
          <a:xfrm xmlns:a="http://schemas.openxmlformats.org/drawingml/2006/main">
            <a:off x="6191250" y="2771954"/>
            <a:ext cx="4762500" cy="313968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0197C3-5BA0-414E-A800-597BFF40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가우스 법칙에 E = 0을 넣으면 내부의 순전하밀도도 0이다.</a:t>
            </a:r>
          </a:p>
        </p:txBody>
      </p:sp>
    </p:spTree>
    <p:extLst>
      <p:ext uri="{BB962C8B-B14F-4D97-AF65-F5344CB8AC3E}">
        <p14:creationId xmlns:p14="http://schemas.microsoft.com/office/powerpoint/2010/main" val="16087224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FB0932-D0DE-44A0-A71E-849F4141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EQUIPOTENTIAL CONDUCTOR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0C63E-6B04-4AA8-B9DB-13D2E47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 표면의 접선 전기장은 0이고 바깥장은 법선 방향이다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76F90-A637-46D3-8EC1-22BD40D2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F582C-44CF-40B5-B250-C5EED3ED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BF43B-C60F-4723-8396-B74D4994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B0C03-464C-4777-BCC6-6BD2A050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2413"/>
            <a:ext cx="447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37522-E1F4-4A76-923B-B910D593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8" y="3904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D6B56-09B3-4A83-9765-D7557C44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298" y="2332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7" idx="0"/>
            <a:endCxn xmlns:a="http://schemas.openxmlformats.org/drawingml/2006/main" id="8" idx="4"/>
          </p:cNvCxnSpPr>
          <p:nvPr/>
        </p:nvCxnSpPr>
        <p:spPr>
          <a:xfrm xmlns:a="http://schemas.openxmlformats.org/drawingml/2006/main" flipV="1">
            <a:off x="1619251" y="2334578"/>
            <a:ext cx="0" cy="156972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B7132-25F0-471B-9CB3-42EC53E5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3" y="3904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1A9A4-52B8-4402-865E-DC8982B1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2673" y="2332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10" idx="0"/>
            <a:endCxn xmlns:a="http://schemas.openxmlformats.org/drawingml/2006/main" id="11" idx="4"/>
          </p:cNvCxnSpPr>
          <p:nvPr/>
        </p:nvCxnSpPr>
        <p:spPr>
          <a:xfrm xmlns:a="http://schemas.openxmlformats.org/drawingml/2006/main" flipV="1">
            <a:off x="2333626" y="2334578"/>
            <a:ext cx="0" cy="156972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F1E3F-098C-41BA-BE9F-3251BE0C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048" y="3904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B0845-354D-48F0-B7A2-8AB1780F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048" y="2332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3" name=""/>
          <p:cNvCxnSpPr>
            <a:stCxn xmlns:a="http://schemas.openxmlformats.org/drawingml/2006/main" id="13" idx="0"/>
            <a:endCxn xmlns:a="http://schemas.openxmlformats.org/drawingml/2006/main" id="14" idx="4"/>
          </p:cNvCxnSpPr>
          <p:nvPr/>
        </p:nvCxnSpPr>
        <p:spPr>
          <a:xfrm xmlns:a="http://schemas.openxmlformats.org/drawingml/2006/main" flipV="1">
            <a:off x="3048001" y="2334578"/>
            <a:ext cx="0" cy="156972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A0874-B681-4CDF-9C39-508D9F50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423" y="3904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CF30C4-AC9D-444C-BD1C-A135BAFF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423" y="2332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6" name=""/>
          <p:cNvCxnSpPr>
            <a:stCxn xmlns:a="http://schemas.openxmlformats.org/drawingml/2006/main" id="16" idx="0"/>
            <a:endCxn xmlns:a="http://schemas.openxmlformats.org/drawingml/2006/main" id="17" idx="4"/>
          </p:cNvCxnSpPr>
          <p:nvPr/>
        </p:nvCxnSpPr>
        <p:spPr>
          <a:xfrm xmlns:a="http://schemas.openxmlformats.org/drawingml/2006/main" flipV="1">
            <a:off x="3762376" y="2334578"/>
            <a:ext cx="0" cy="156972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8C025-1E37-4798-BE9D-94B606A7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798" y="3904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5BA32-71F8-4DDC-8563-219F6D2D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798" y="2332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"/>
          <p:cNvCxnSpPr>
            <a:stCxn xmlns:a="http://schemas.openxmlformats.org/drawingml/2006/main" id="19" idx="0"/>
            <a:endCxn xmlns:a="http://schemas.openxmlformats.org/drawingml/2006/main" id="20" idx="4"/>
          </p:cNvCxnSpPr>
          <p:nvPr/>
        </p:nvCxnSpPr>
        <p:spPr>
          <a:xfrm xmlns:a="http://schemas.openxmlformats.org/drawingml/2006/main" flipV="1">
            <a:off x="4476751" y="2334578"/>
            <a:ext cx="0" cy="156972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02222-F4A1-4E4B-8E4B-0163B2C6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173" y="3904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DD378-004F-491A-8845-7B589C7F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173" y="2332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2" name=""/>
          <p:cNvCxnSpPr>
            <a:stCxn xmlns:a="http://schemas.openxmlformats.org/drawingml/2006/main" id="22" idx="0"/>
            <a:endCxn xmlns:a="http://schemas.openxmlformats.org/drawingml/2006/main" id="23" idx="4"/>
          </p:cNvCxnSpPr>
          <p:nvPr/>
        </p:nvCxnSpPr>
        <p:spPr>
          <a:xfrm xmlns:a="http://schemas.openxmlformats.org/drawingml/2006/main" flipV="1">
            <a:off x="5191126" y="2334578"/>
            <a:ext cx="0" cy="156972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FFF8AE-B2D9-4D8E-BBD9-6ADF90C1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76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도체 표면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9D62AA-E8A3-4B6B-92AE-51A9A083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E_t=0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5a0ac34da4221"/>
          <a:stretch xmlns:a="http://schemas.openxmlformats.org/drawingml/2006/main"/>
        </p:blipFill>
        <p:spPr>
          <a:xfrm xmlns:a="http://schemas.openxmlformats.org/drawingml/2006/main">
            <a:off x="6253092" y="2238375"/>
            <a:ext cx="4638815" cy="10001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D56E17-F9FC-424D-9DDC-7D834AD5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접선 성분이 남으면 표면전하가 계속 이동하므로 정전평형이 아니다.</a:t>
            </a:r>
          </a:p>
        </p:txBody>
      </p:sp>
    </p:spTree>
    <p:extLst>
      <p:ext uri="{BB962C8B-B14F-4D97-AF65-F5344CB8AC3E}">
        <p14:creationId xmlns:p14="http://schemas.microsoft.com/office/powerpoint/2010/main" val="20259333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07E08E-902F-4D78-81FB-1526A4B2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§2.5.2 / INDUCED 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912AE-B886-4F95-9D2A-5C822782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외부전하는 도체의 총전하를 바꾸지 않고 표면분포를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1E7C0-8FAB-4F6E-8E95-61BA8D01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4FD0E-C729-4EA6-87EA-BCAFD949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4A5DB-BFE8-424E-8BCD-ADBCF163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2BE32-76FE-4E80-966F-456F662F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861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C34CB-D8D0-4658-9A9C-4F39D228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3909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DCA7A-ED4A-4F5A-9163-C0EA0EF8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4000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08C05-8813-4283-8AC6-B6F32098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28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B5C28-CD24-4EB2-AC20-684F5274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28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5459B-76A8-45B7-A5EF-B95A4BC6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289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1AB93-9EAA-472E-A10A-B89C7C24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289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971A3-8C0B-4F56-9F35-02E4D56E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0289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914A6F-0ECD-49EC-98F0-02E9D3ED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289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7668B-3CC5-41A1-88D6-162E3407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4290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105AB-8036-4931-B22D-8ECE8DA7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290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94776-999D-4F1A-BA5B-5C7E9C2A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290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4C1FB-C3E0-4B61-8605-8290DB85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290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CD5FDB-D0D2-4F41-B5A9-9345DE68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29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A7C02-C0BD-4DCB-98B0-B5B32388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29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665FB-57F3-4D18-971E-1E3D6B7B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6291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9BAF2C-C778-465E-8DCD-C7887CFB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6291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519136-AF86-4851-8B51-460BB2E7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173" y="2951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30E4C-0D4D-4309-A5DA-68658E50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2618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23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2144078" y="2619376"/>
            <a:ext cx="1712595" cy="333375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3EF5CD-58BD-496C-9949-E4585057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173" y="32851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CBFA8A-C0C0-4974-A851-7F05D1EE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30756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6" name=""/>
          <p:cNvCxnSpPr>
            <a:stCxn xmlns:a="http://schemas.openxmlformats.org/drawingml/2006/main" id="26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2144078" y="3076576"/>
            <a:ext cx="171259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69A0D2-A800-4D41-9863-338A7F8F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173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C4010B-ABBA-492B-882B-D81E8F24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35328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9" name=""/>
          <p:cNvCxnSpPr>
            <a:stCxn xmlns:a="http://schemas.openxmlformats.org/drawingml/2006/main" id="29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2144078" y="3533776"/>
            <a:ext cx="1712595" cy="85725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121839-95C5-49E9-AA83-7896A206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173" y="39519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C19D13-5F48-42D2-B486-76F9A100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39900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2" name=""/>
          <p:cNvCxnSpPr>
            <a:stCxn xmlns:a="http://schemas.openxmlformats.org/drawingml/2006/main" id="32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>
            <a:off x="2144078" y="3952876"/>
            <a:ext cx="1712595" cy="38100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E2737B-3297-47EE-B235-7EDD0231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173" y="4285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98404F-9244-44C1-8D28-9F0A33C4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3" y="44472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>
            <a:stCxn xmlns:a="http://schemas.openxmlformats.org/drawingml/2006/main" id="35" idx="6"/>
            <a:endCxn xmlns:a="http://schemas.openxmlformats.org/drawingml/2006/main" id="36" idx="2"/>
          </p:cNvCxnSpPr>
          <p:nvPr/>
        </p:nvCxnSpPr>
        <p:spPr>
          <a:xfrm xmlns:a="http://schemas.openxmlformats.org/drawingml/2006/main">
            <a:off x="2144078" y="4286251"/>
            <a:ext cx="1712595" cy="161925"/>
          </a:xfrm>
          <a:prstGeom xmlns:a="http://schemas.openxmlformats.org/drawingml/2006/main" prst="straightConnector1">
            <a:avLst/>
          </a:prstGeom>
          <a:ln xmlns:a="http://schemas.openxmlformats.org/drawingml/2006/main" w="31433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005601-BBA8-4895-96A9-36E9633A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76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가까운 면에는 반대 부호가, 먼 면에는 같은 부호가 나타난다. 중성 도체의 유도전하 총합은 0이다.</a:t>
            </a:r>
          </a:p>
        </p:txBody>
      </p:sp>
    </p:spTree>
    <p:extLst>
      <p:ext uri="{BB962C8B-B14F-4D97-AF65-F5344CB8AC3E}">
        <p14:creationId xmlns:p14="http://schemas.microsoft.com/office/powerpoint/2010/main" val="18254099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5A2783-6E76-40FA-A35C-9BC5AE47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EMPTY CAVITY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2FC5C-7FCD-47B1-9CBF-E2F4BF83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빈 공동에는 외부 전기장이 침투하지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ADC11-411C-4901-A69C-FF33DE2E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FD130-1CC8-4028-A749-46E8324E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D134A-7F15-454D-B441-6BD18C45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831F5-8B1F-4312-8375-3E066441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19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05A38-BC38-47B4-A935-06B9B171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1937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3A816-61D0-4A31-988C-754324F2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8798" y="2380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59D4D-31A2-4D6D-9DA6-8F380F18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8" y="2380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0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810703" y="2381251"/>
            <a:ext cx="56959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44D2D-D58A-43CB-94C3-C03492FC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415" y="26088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C8023-DA97-41D3-ADF8-2BCF4E71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8" y="26088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3" name=""/>
          <p:cNvCxnSpPr>
            <a:stCxn xmlns:a="http://schemas.openxmlformats.org/drawingml/2006/main" id="11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1774320" y="2609851"/>
            <a:ext cx="605978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06B2B-08AD-4C06-8798-4FD66CFF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165" y="28374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F2178-41EB-425B-AF4B-4D84E1F5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8" y="28374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1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1679070" y="2838451"/>
            <a:ext cx="701228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F32BA-52D9-4FAC-9A71-D58ECF91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30" y="30660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D40FC-E9A8-4CE9-8B5E-8D4BEBCB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8" y="30660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17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1561335" y="3067051"/>
            <a:ext cx="818963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F8FD4-271E-4C6A-A6E4-9BBA995F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180" y="32946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94B5D7-EAC2-4CA1-A8E1-8958E04C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8" y="32946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20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1466085" y="3295651"/>
            <a:ext cx="914213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1952C-5A4D-476D-876D-D9236A69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8" y="3523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374FF-896C-46D1-ACD9-F12558AA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8" y="3523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23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1429703" y="3524251"/>
            <a:ext cx="95059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043ED8-124C-41FB-A3A2-E66C8657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180" y="37518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E9C40A-D64D-453F-ACCF-CF85E7E2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8" y="37518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>
            <a:stCxn xmlns:a="http://schemas.openxmlformats.org/drawingml/2006/main" id="26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1466085" y="3752851"/>
            <a:ext cx="914213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639B20-CD96-4C46-9AF0-0A58D848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30" y="39804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6E5F10-32D6-486C-BBC4-2A60A43F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8" y="39804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1" name=""/>
          <p:cNvCxnSpPr>
            <a:stCxn xmlns:a="http://schemas.openxmlformats.org/drawingml/2006/main" id="29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1561335" y="3981451"/>
            <a:ext cx="818963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4539CE-7E72-4A3F-807C-9AF0F24A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165" y="42090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1ECEC9-D9D6-4C38-BAAE-E70E4910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8" y="42090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4" name=""/>
          <p:cNvCxnSpPr>
            <a:stCxn xmlns:a="http://schemas.openxmlformats.org/drawingml/2006/main" id="32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>
            <a:off x="1679070" y="4210051"/>
            <a:ext cx="701228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34143D-E2F6-4890-8617-61F4F701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415" y="44376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957E74-AD46-4317-B775-8CC30158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298" y="44376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7" name=""/>
          <p:cNvCxnSpPr>
            <a:stCxn xmlns:a="http://schemas.openxmlformats.org/drawingml/2006/main" id="35" idx="6"/>
            <a:endCxn xmlns:a="http://schemas.openxmlformats.org/drawingml/2006/main" id="36" idx="2"/>
          </p:cNvCxnSpPr>
          <p:nvPr/>
        </p:nvCxnSpPr>
        <p:spPr>
          <a:xfrm xmlns:a="http://schemas.openxmlformats.org/drawingml/2006/main">
            <a:off x="1774320" y="4438651"/>
            <a:ext cx="605978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4D0BF2-CB72-414F-B3B7-E1F30019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4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E = 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A5F524-DFB2-4D88-9691-AB58C172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19625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빈 공동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B3412E-9533-4110-B1CD-A2CE6081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공동 벽은 하나의 등전위면이다. 공동 안에는 전하가 없으므로 라플라스 방정식과 유일성 정리가 E = 0을 보장한다.</a:t>
            </a:r>
          </a:p>
        </p:txBody>
      </p:sp>
    </p:spTree>
    <p:extLst>
      <p:ext uri="{BB962C8B-B14F-4D97-AF65-F5344CB8AC3E}">
        <p14:creationId xmlns:p14="http://schemas.microsoft.com/office/powerpoint/2010/main" val="21132034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771DCB-CA50-4163-98CF-BFA38C56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CHARGE INSIDE A CAVITY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1522B-2172-4E96-81D7-BB7D69B5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공동 속 전하 q는 안쪽 표면에 총 −q를 유도한다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50290-0D67-440C-B8DE-76EFA381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2880F-C27A-4C6F-B129-951A23A1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C0EB7-5240-4FFC-A6F8-329B2910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3AEF4-9D93-4859-8FFC-C77AF525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71625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EA80D7-DF48-4BCA-8932-90EB0EE9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717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6E973-6C6E-4261-BDBE-1C6942FF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90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0DE26-ECB3-4212-BE21-1C6CE53D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4802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16E20-EDB9-4996-BB98-7F37061A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956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F4F3E-0DDA-4194-85FD-AF035B1E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777" y="4234697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35A24-1571-49C7-965C-6C91B877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127" y="4691438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8D66E-BC26-4860-9909-B707C6E9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073" y="4691438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693A1-23DE-424B-9689-A133720C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423" y="4234697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C9BB8-47A3-40FC-B0ED-F44116D4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956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BEC8D-0341-4A48-BD24-D2872563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423" y="2756653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6A214-8DF2-4F1C-AE0F-813F222C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073" y="2299912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EC668-9B09-44AC-AFF6-3F7F820E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5127" y="2299912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6F857-03A1-4D15-B264-49600C1C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777" y="2756653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58b1ff68824431"/>
          <a:stretch xmlns:a="http://schemas.openxmlformats.org/drawingml/2006/main"/>
        </p:blipFill>
        <p:spPr>
          <a:xfrm xmlns:a="http://schemas.openxmlformats.org/drawingml/2006/main">
            <a:off x="6191250" y="2748012"/>
            <a:ext cx="4953000" cy="314227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F2582-E50C-4F92-A4B5-B9D365B7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 내부에 그린 가우스면의 플럭스는 0이므로 공동 벽이 정확히 −q를 가진다.</a:t>
            </a:r>
          </a:p>
        </p:txBody>
      </p:sp>
    </p:spTree>
    <p:extLst>
      <p:ext uri="{BB962C8B-B14F-4D97-AF65-F5344CB8AC3E}">
        <p14:creationId xmlns:p14="http://schemas.microsoft.com/office/powerpoint/2010/main" val="19539555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95854-1A96-420B-BFD0-2B57115E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§2.5.3 / SURFACE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86F2A-A4EE-4A36-8826-7E034CD1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 표면 바로 밖의 전기장은 σ/ε₀이다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6DE1B-1716-4A0F-B9FE-A7DABF5F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CAD0C-CAA6-4927-9483-6B5CFAD1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C2FD9-50C3-4ED0-875B-9C83C3DB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D4073-E4E2-46A5-B039-EDA4A794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91D38-4AA1-4BD2-B687-2EB75161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EB4FA-A1BC-4488-A3D4-A5F7F372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43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1AC5B-DEDA-4648-9B04-72A34551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143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DE9EC-BB58-4BD4-A082-F5D6D183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43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1B21B-EB33-4BB7-A220-07B04ABE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143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BF7D6-242B-4FEE-8DBB-1D472A3B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43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87E3B-2D13-48AD-A902-1202401E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43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3E8FD-C53C-4379-9990-168D379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43375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54558-D5E4-4CF3-8FC9-0E86F1A4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57500"/>
            <a:ext cx="142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0921F-4B39-4BB3-ADCC-1FC3B13A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86213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C993EB-C27F-44BE-901D-BD2CB12D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048" y="2856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AA5D5-89FD-433D-8669-9869A6EF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048" y="1999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17" idx="0"/>
            <a:endCxn xmlns:a="http://schemas.openxmlformats.org/drawingml/2006/main" id="18" idx="4"/>
          </p:cNvCxnSpPr>
          <p:nvPr/>
        </p:nvCxnSpPr>
        <p:spPr>
          <a:xfrm xmlns:a="http://schemas.openxmlformats.org/drawingml/2006/main" flipV="1">
            <a:off x="3429001" y="2001203"/>
            <a:ext cx="0" cy="855345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9D11A6-4D76-40C3-970D-1F26718E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n̂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99cf5c88f4e14"/>
          <a:stretch xmlns:a="http://schemas.openxmlformats.org/drawingml/2006/main"/>
        </p:blipFill>
        <p:spPr>
          <a:xfrm xmlns:a="http://schemas.openxmlformats.org/drawingml/2006/main">
            <a:off x="6481062" y="2547938"/>
            <a:ext cx="4182876" cy="10001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714044-76C7-4F5F-BEBF-E92FF79F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얇은 필박스에 가우스 법칙을 적용하면 바깥 면만 플럭스에 기여한다.</a:t>
            </a:r>
          </a:p>
        </p:txBody>
      </p:sp>
    </p:spTree>
    <p:extLst>
      <p:ext uri="{BB962C8B-B14F-4D97-AF65-F5344CB8AC3E}">
        <p14:creationId xmlns:p14="http://schemas.microsoft.com/office/powerpoint/2010/main" val="113003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7FB829-530C-4230-8101-4B939647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FORCE ON A CONDUCTOR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041D6-694F-436A-9BC3-27C66869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표면전하는 바깥쪽으로 전기적 압력을 받는다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32944-CB70-487A-9C12-BD00141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9EEE0-10BB-4F33-8DE4-49738722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06BBA-DA86-4A50-B65D-DD085280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E5E86-B867-413B-BA4B-EC4CEA41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D4AD8-F692-4324-AD84-DB3D4B6D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38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C3CDB-6171-4F74-A2AB-6A68B62E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8FE1E-1D23-4A25-B3AA-A09AAA62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8" y="2666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8" idx="0"/>
            <a:endCxn xmlns:a="http://schemas.openxmlformats.org/drawingml/2006/main" id="9" idx="4"/>
          </p:cNvCxnSpPr>
          <p:nvPr/>
        </p:nvCxnSpPr>
        <p:spPr>
          <a:xfrm xmlns:a="http://schemas.openxmlformats.org/drawingml/2006/main" flipV="1">
            <a:off x="1485901" y="2667953"/>
            <a:ext cx="0" cy="147447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5DB6C-D8DD-4907-ABE2-E102F463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38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56AD4-0D39-49C7-B363-8B646A05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23930A-68B0-4E7B-A2BD-31A31E54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2666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1" name=""/>
          <p:cNvCxnSpPr>
            <a:stCxn xmlns:a="http://schemas.openxmlformats.org/drawingml/2006/main" id="12" idx="0"/>
            <a:endCxn xmlns:a="http://schemas.openxmlformats.org/drawingml/2006/main" id="13" idx="4"/>
          </p:cNvCxnSpPr>
          <p:nvPr/>
        </p:nvCxnSpPr>
        <p:spPr>
          <a:xfrm xmlns:a="http://schemas.openxmlformats.org/drawingml/2006/main" flipV="1">
            <a:off x="2095501" y="2667953"/>
            <a:ext cx="0" cy="147447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6FA51-E7E0-4092-83A3-5C759C87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38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47989-7E78-41B7-BDEE-D368217A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4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7C03D-3212-463A-B619-BDEB58DB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148" y="2666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5" name=""/>
          <p:cNvCxnSpPr>
            <a:stCxn xmlns:a="http://schemas.openxmlformats.org/drawingml/2006/main" id="16" idx="0"/>
            <a:endCxn xmlns:a="http://schemas.openxmlformats.org/drawingml/2006/main" id="17" idx="4"/>
          </p:cNvCxnSpPr>
          <p:nvPr/>
        </p:nvCxnSpPr>
        <p:spPr>
          <a:xfrm xmlns:a="http://schemas.openxmlformats.org/drawingml/2006/main" flipV="1">
            <a:off x="2705101" y="2667953"/>
            <a:ext cx="0" cy="147447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8FA11A-1ADF-406A-B223-431F485A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38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8215B-0B4F-4D97-B8FB-A5E3CCD2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4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1D8BF-2787-4787-AF7A-4667F264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3748" y="2666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20" idx="0"/>
            <a:endCxn xmlns:a="http://schemas.openxmlformats.org/drawingml/2006/main" id="21" idx="4"/>
          </p:cNvCxnSpPr>
          <p:nvPr/>
        </p:nvCxnSpPr>
        <p:spPr>
          <a:xfrm xmlns:a="http://schemas.openxmlformats.org/drawingml/2006/main" flipV="1">
            <a:off x="3314701" y="2667953"/>
            <a:ext cx="0" cy="147447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49864C-DA4D-42B4-B0C2-C24C85C7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438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BB15CB-CB10-4418-8440-1962B6E7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34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3036F3-879C-4860-9D18-25FC8D1E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348" y="2666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24" idx="0"/>
            <a:endCxn xmlns:a="http://schemas.openxmlformats.org/drawingml/2006/main" id="25" idx="4"/>
          </p:cNvCxnSpPr>
          <p:nvPr/>
        </p:nvCxnSpPr>
        <p:spPr>
          <a:xfrm xmlns:a="http://schemas.openxmlformats.org/drawingml/2006/main" flipV="1">
            <a:off x="3924301" y="2667953"/>
            <a:ext cx="0" cy="147447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9D2AA2-D080-4549-9CDA-2423DAD5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38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ED3AF9-6B58-4324-8BA1-E313B849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94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E169A2-ACB6-4331-B499-DFDAAE12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948" y="2666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28" idx="0"/>
            <a:endCxn xmlns:a="http://schemas.openxmlformats.org/drawingml/2006/main" id="29" idx="4"/>
          </p:cNvCxnSpPr>
          <p:nvPr/>
        </p:nvCxnSpPr>
        <p:spPr>
          <a:xfrm xmlns:a="http://schemas.openxmlformats.org/drawingml/2006/main" flipV="1">
            <a:off x="4533901" y="2667953"/>
            <a:ext cx="0" cy="147447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17B33E-0C65-4477-AD1E-37FB88AC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30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5C10E3-6B2C-4F67-815C-2267D302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EAC6F8-19FD-40E4-896C-E2B80E66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2666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1" name=""/>
          <p:cNvCxnSpPr>
            <a:stCxn xmlns:a="http://schemas.openxmlformats.org/drawingml/2006/main" id="32" idx="0"/>
            <a:endCxn xmlns:a="http://schemas.openxmlformats.org/drawingml/2006/main" id="33" idx="4"/>
          </p:cNvCxnSpPr>
          <p:nvPr/>
        </p:nvCxnSpPr>
        <p:spPr>
          <a:xfrm xmlns:a="http://schemas.openxmlformats.org/drawingml/2006/main" flipV="1">
            <a:off x="5143501" y="2667953"/>
            <a:ext cx="0" cy="1474470"/>
          </a:xfrm>
          <a:prstGeom xmlns:a="http://schemas.openxmlformats.org/drawingml/2006/main" prst="straightConnector1">
            <a:avLst/>
          </a:prstGeom>
          <a:ln xmlns:a="http://schemas.openxmlformats.org/drawingml/2006/main" w="36671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8B03DD-385A-4083-95E8-B5D888A2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482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도체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1c44a352b4b1a"/>
          <a:stretch xmlns:a="http://schemas.openxmlformats.org/drawingml/2006/main"/>
        </p:blipFill>
        <p:spPr>
          <a:xfrm xmlns:a="http://schemas.openxmlformats.org/drawingml/2006/main">
            <a:off x="6218213" y="2405063"/>
            <a:ext cx="4899074" cy="100012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C00C53-F420-4B0C-9948-8A16296F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095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자기 자신이 만드는 국소장의 절반만 힘 계산에 사용된다.</a:t>
            </a:r>
          </a:p>
        </p:txBody>
      </p:sp>
    </p:spTree>
    <p:extLst>
      <p:ext uri="{BB962C8B-B14F-4D97-AF65-F5344CB8AC3E}">
        <p14:creationId xmlns:p14="http://schemas.microsoft.com/office/powerpoint/2010/main" val="3646678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2FF4B-7FC8-4E88-A408-46AB2ED8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§2.5.4 / CAPACITANCE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617AB-531F-491A-8361-39AACD11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기하학이 정해지면 Q와 V의 비는 일정하다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6B532-2171-402A-A339-FA5D65AB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DDC1F-95AE-4F50-B752-4BA109F1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E0365-B4D5-439B-9607-4B22503E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B68E8-2A05-49F1-AA18-823ECAFA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76250" y="3633788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F3A80-FB40-464E-AD9F-58CD6527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48000" y="3633788"/>
            <a:ext cx="304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8EC03-0415-4DA6-8C5A-544A9482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66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08EE00-767E-4A09-9BCD-525F17A3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75E58-B81B-42E8-AD70-2682566F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622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72141-C94F-4917-950D-D2380F2B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622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9F08D-34F4-45BA-991E-23F2C7CD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575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188E6-1AB9-4938-830F-F53E832B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479AC1-FE35-46C8-B289-79257D53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528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E3735-07A7-4321-A45B-B3232026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528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30306-0E59-45AD-BE75-4A335F83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25DA3-EBBA-41BD-8BEA-3258CF9B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481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C4A39A-D323-4FE2-A5E8-10D4EE12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43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3B763-2F52-4163-813D-B6FF3BD6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434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DEC6C-AE42-4C74-A3A0-31FEE6EC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19250"/>
            <a:ext cx="80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0DC1D0-78D4-4425-837C-89689806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19250"/>
            <a:ext cx="800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−Q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7b79b59bc4339"/>
          <a:stretch xmlns:a="http://schemas.openxmlformats.org/drawingml/2006/main"/>
        </p:blipFill>
        <p:spPr>
          <a:xfrm xmlns:a="http://schemas.openxmlformats.org/drawingml/2006/main">
            <a:off x="6762951" y="2405063"/>
            <a:ext cx="3428598" cy="100012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E5D8AA-69A7-4134-804F-8232C4BA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C는 Q나 V의 크기가 아니라 도체의 모양, 간격, 주변 매질이 정한다.</a:t>
            </a:r>
          </a:p>
        </p:txBody>
      </p:sp>
    </p:spTree>
    <p:extLst>
      <p:ext uri="{BB962C8B-B14F-4D97-AF65-F5344CB8AC3E}">
        <p14:creationId xmlns:p14="http://schemas.microsoft.com/office/powerpoint/2010/main" val="175021618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6AD7E6-C519-4557-9CC6-9E4C0A95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PARALLEL-PLATE CAPACITOR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6C776-F48D-48A8-B219-ABDF084F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판넓이가 클수록, 간격이 좁을수록 정전용량이 크다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947B9-4310-4CEC-B327-424CF0CD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63E12-3BB0-4DF9-9370-6A8DD27F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DEDF1-19D4-4FFC-BA1C-842A0A95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E302D-FCD9-4FC9-885C-E9189934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8625" y="3633788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2B418-6563-40BB-B0DC-5CB5C134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86125" y="3633788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F3788-79B7-4E10-B098-FCAF4632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193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E1B18-D55A-4172-9029-CD7EAF30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193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DBF225-CC13-4D5B-8900-9002D6E4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92071-C54B-4734-9C73-BB8D702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336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CE653-9C4C-4186-BBBF-32D98D72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480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8BEBB-47F4-449B-81FF-D65A2E45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480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E07C5-B33A-4489-84C0-E081FEB6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623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0378E-A0FA-43A4-AB55-31C0AFA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623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ECD73-9ADB-483B-BF19-F88876EC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767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4349D-0BCA-461A-B734-E279D8D2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767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C3BE2-7F70-4B14-B7B2-68A0F44B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910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B42318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99664-025F-40B8-B342-2991FA61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910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9793D1-9D31-46D4-8D39-96F4C02C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82373-EEE6-4179-80CC-E52930BC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98" y="2570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4" name=""/>
          <p:cNvCxnSpPr>
            <a:stCxn xmlns:a="http://schemas.openxmlformats.org/drawingml/2006/main" id="20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2572703" y="2571751"/>
            <a:ext cx="171259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E3BF9-97DB-4EF7-B708-13845126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094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20D27-47BB-484C-8986-F4262F25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98" y="30946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7" name=""/>
          <p:cNvCxnSpPr>
            <a:stCxn xmlns:a="http://schemas.openxmlformats.org/drawingml/2006/main" id="23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2572703" y="3095626"/>
            <a:ext cx="171259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DC1BB-EDB7-4CD5-97AB-9D98FE99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DA1BA5-44DF-42C0-9F80-875EB7C0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98" y="36185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26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2572703" y="3619501"/>
            <a:ext cx="171259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2F0AC3-D85C-46CF-87E0-28290A61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3C35A2-D9A0-470C-AC33-1AAAA974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98" y="414242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29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2572703" y="4143376"/>
            <a:ext cx="171259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62048C-FA73-4255-835E-5ED11A74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666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06F6C1-7314-412C-8658-B48405F0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5298" y="46662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32" idx="6"/>
            <a:endCxn xmlns:a="http://schemas.openxmlformats.org/drawingml/2006/main" id="33" idx="2"/>
          </p:cNvCxnSpPr>
          <p:nvPr/>
        </p:nvCxnSpPr>
        <p:spPr>
          <a:xfrm xmlns:a="http://schemas.openxmlformats.org/drawingml/2006/main">
            <a:off x="2572703" y="4667251"/>
            <a:ext cx="1712595" cy="0"/>
          </a:xfrm>
          <a:prstGeom xmlns:a="http://schemas.openxmlformats.org/drawingml/2006/main" prst="straightConnector1">
            <a:avLst/>
          </a:prstGeom>
          <a:ln xmlns:a="http://schemas.openxmlformats.org/drawingml/2006/main" w="41910" cap="rnd">
            <a:solidFill>
              <a:srgbClr val="2563EB"/>
            </a:solidFill>
            <a:prstDash val="solid"/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AB3877-F108-4EFA-82F9-D79894D7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05463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0560F4-19C7-4155-A1F2-B1BB65F1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23" y="55711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D17DF1-E337-4193-93C4-9016D956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5571173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0" name=""/>
          <p:cNvCxnSpPr>
            <a:stCxn xmlns:a="http://schemas.openxmlformats.org/drawingml/2006/main" id="36" idx="6"/>
            <a:endCxn xmlns:a="http://schemas.openxmlformats.org/drawingml/2006/main" id="37" idx="2"/>
          </p:cNvCxnSpPr>
          <p:nvPr/>
        </p:nvCxnSpPr>
        <p:spPr>
          <a:xfrm xmlns:a="http://schemas.openxmlformats.org/drawingml/2006/main">
            <a:off x="2429828" y="5572126"/>
            <a:ext cx="199834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344054"/>
            </a:solidFill>
            <a:prstDash val="solid"/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AF18F8-A52D-46FD-9A60-D3CD2D3E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65785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FEB79A-382A-424D-B405-EAD64B13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6192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9cc9c35974706"/>
          <a:stretch xmlns:a="http://schemas.openxmlformats.org/drawingml/2006/main"/>
        </p:blipFill>
        <p:spPr>
          <a:xfrm xmlns:a="http://schemas.openxmlformats.org/drawingml/2006/main">
            <a:off x="7146369" y="2405063"/>
            <a:ext cx="2757011" cy="1000125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62139B-463D-47A9-82F9-7642C648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가장자리 효과를 무시한 결과다. d가 판의 선형 크기보다 충분히 작아야 한다.</a:t>
            </a:r>
          </a:p>
        </p:txBody>
      </p:sp>
    </p:spTree>
    <p:extLst>
      <p:ext uri="{BB962C8B-B14F-4D97-AF65-F5344CB8AC3E}">
        <p14:creationId xmlns:p14="http://schemas.microsoft.com/office/powerpoint/2010/main" val="2068735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632A5C-5188-4B29-893B-B8C4AF79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ENERGY OF A CAPACITOR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5AAFA-768C-410E-9428-19BFBACB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축전기 에너지는 Q, V, C 가운데 알려진 두 양으로 계산한다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847E8-CD95-4EB3-8A81-54AA7BE3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0C51F-D1E2-4293-8156-6DDD66ED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86EA4-F52D-4386-86A0-6B116929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ee3c32b124118"/>
          <a:stretch xmlns:a="http://schemas.openxmlformats.org/drawingml/2006/main"/>
        </p:blipFill>
        <p:spPr>
          <a:xfrm xmlns:a="http://schemas.openxmlformats.org/drawingml/2006/main">
            <a:off x="3971410" y="1928813"/>
            <a:ext cx="4249180" cy="1000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F77A1-AA9B-4A47-9878-83F29A52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Q와 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3C0BC-2E0E-4D40-AD00-C021B822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½QV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FD701-0691-4AFA-925E-202431E8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05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Q와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4463B-9827-4485-AA9F-BE782CE1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386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Q²/(2C)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35ED2-3CD1-4988-8163-7CA23A1D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C와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EB317-36D1-4636-A54E-516F7B38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½CV²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1103F-A799-4881-BB24-C8845EA3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전원이 연결되어 있는지 분리되어 있는지에 따라 일정한 양이 달라진다.</a:t>
            </a:r>
          </a:p>
        </p:txBody>
      </p:sp>
    </p:spTree>
    <p:extLst>
      <p:ext uri="{BB962C8B-B14F-4D97-AF65-F5344CB8AC3E}">
        <p14:creationId xmlns:p14="http://schemas.microsoft.com/office/powerpoint/2010/main" val="68806031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A7FE2-FC53-4156-BF39-4084DAE7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CHECK / CONDUCTOR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92D69-381D-4F71-8FD6-925B75B8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도체 문제는 내부장, 표면전하, 경계조건 순서로 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C4554-FB06-4623-8B65-144770F4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4C149-C4A6-4359-9AF8-0CBDBB98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84F1C-353E-4D90-8C02-5BA38A9C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EE2B8-FCC4-43D4-8180-998E2E55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DF3DBA-18FF-4BDE-B51E-9D7C8B42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192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정전평형인가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939A8-0C6B-4D3E-B618-9349E2EC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내부 E = 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63735-3737-4D7A-A7D7-03EFEE48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81238"/>
            <a:ext cx="900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4546A-A66D-43FB-8711-B1DC3A61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0872A-9644-4F03-ABEA-AD948301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1937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가우스면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E4E88-8CFE-4BD5-A137-13E71A64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03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내부·공동 총전하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9E90B-2750-4426-8E27-A644DCF1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81363"/>
            <a:ext cx="900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948B3-3EE2-41AF-B949-9BA8324B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F4135-5F65-4697-ABF3-6F9490CE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19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표면 경계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3CF4C-3440-4DD8-B871-CD5776B7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Eout = (σ/ε₀)n̂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827F6-0D11-48C7-88FE-9004AFF2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81488"/>
            <a:ext cx="900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367F7-2421-487C-B3AE-39E0156E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98791-0A43-4282-A059-ED456F21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19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필요하면 에너지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5E709-A224-41FD-A134-1D239380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005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W = ½QV 또는 장 적분</a:t>
            </a:r>
          </a:p>
        </p:txBody>
      </p:sp>
    </p:spTree>
    <p:extLst>
      <p:ext uri="{BB962C8B-B14F-4D97-AF65-F5344CB8AC3E}">
        <p14:creationId xmlns:p14="http://schemas.microsoft.com/office/powerpoint/2010/main" val="17776534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27897-7953-43C4-966F-5CAF836A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§3.1 / LAPLACE'S EQUATION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4091F-1E6F-4E7F-970B-85BBF5AE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7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전하가 없는 영역의 전위는 경계값이 결정한다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4790A-63EB-4B6E-9E34-EB231A07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4AD12-8E12-457F-B02D-37EBB709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24E10-38E0-4DF6-8CFA-629E1281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ED7B9-3891-416C-AEC2-96592E28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005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미분방정식보다 중요한 것은 평균값 성질과 해의 유일성이다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e244910794c03"/>
          <a:stretch xmlns:a="http://schemas.openxmlformats.org/drawingml/2006/main"/>
        </p:blipFill>
        <p:spPr>
          <a:xfrm xmlns:a="http://schemas.openxmlformats.org/drawingml/2006/main">
            <a:off x="3123889" y="3524250"/>
            <a:ext cx="5944221" cy="100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5263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77F9C-ADFF-47D6-8B17-7B98E7E2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§3.1.1 / BOUNDARY-VALUE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C190B-F76A-4684-AE2E-E5E125F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전하분포를 직접 몰라도 경계 전위로 내부 전위를 구할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696BF-6AE8-433D-BD89-2E69567A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EEDEB-5C9E-4EC4-AB2A-F3DE7646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E2FC4-5987-4D29-A4E4-D882BB3C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ACC48-C710-472E-87C8-226C4DB16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095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F82CD-DAFE-4DCB-A7EB-816372E6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954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5V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DB54E-078F-4F29-BB16-023AABD3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6954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2V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96A1EA-C76E-4AB8-B31E-F44D26E6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954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5V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A159B-F38C-409C-BEBE-A2CDEEBD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954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2V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67607-5B7C-41E1-92FE-D26DF281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6954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5V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E72B5-B862-45C5-B61F-EFA813B5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954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2V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D09B9B-DF6E-49BB-8349-F03E3F8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4290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ρ = 0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7fa38f4a7418d"/>
          <a:stretch xmlns:a="http://schemas.openxmlformats.org/drawingml/2006/main"/>
        </p:blipFill>
        <p:spPr>
          <a:xfrm xmlns:a="http://schemas.openxmlformats.org/drawingml/2006/main">
            <a:off x="6096000" y="2371485"/>
            <a:ext cx="4953000" cy="97203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3E327-3620-4AF0-97FF-AD594DA1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경계에서 V를 지정하고 영역 안에서 ∇²V = 0을 만족하는 함수를 찾는다.</a:t>
            </a:r>
          </a:p>
        </p:txBody>
      </p:sp>
    </p:spTree>
    <p:extLst>
      <p:ext uri="{BB962C8B-B14F-4D97-AF65-F5344CB8AC3E}">
        <p14:creationId xmlns:p14="http://schemas.microsoft.com/office/powerpoint/2010/main" val="14087756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85D9C6-EC33-4530-96AC-58CFDA1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§3.1.2 / ONE DIMENSION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25F88-B727-4D99-8B8A-4E9129F9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일차원 라플라스 해는 두 경계값을 잇는 직선이다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B36E50-0CC3-43B2-824E-4903AD62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30D15-4D3C-454E-961F-F0775A7D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0184E-D318-4204-98D2-A6AF4F67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32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022e9f7634139"/>
          <a:stretch xmlns:a="http://schemas.openxmlformats.org/drawingml/2006/main"/>
        </p:blipFill>
        <p:spPr>
          <a:xfrm xmlns:a="http://schemas.openxmlformats.org/drawingml/2006/main">
            <a:off x="952500" y="1796894"/>
            <a:ext cx="4953000" cy="882963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f7f59b0c54fd3"/>
          <a:stretch xmlns:a="http://schemas.openxmlformats.org/drawingml/2006/main"/>
        </p:blipFill>
        <p:spPr>
          <a:xfrm xmlns:a="http://schemas.openxmlformats.org/drawingml/2006/main">
            <a:off x="6191250" y="2054868"/>
            <a:ext cx="5048250" cy="46226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EFE02-7D5C-4F3F-9004-50EEB836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8" y="5333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1534D-D896-4089-8525-D91AFDBC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048" y="5333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8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239203" y="5334001"/>
            <a:ext cx="409384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191919"/>
            </a:solidFill>
            <a:prstDash val="soli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B7596-74CD-4463-BADA-FA3C9864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8" y="5333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54C33-4CF8-47E4-9494-2F80C688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8" y="3047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1" name=""/>
          <p:cNvCxnSpPr>
            <a:stCxn xmlns:a="http://schemas.openxmlformats.org/drawingml/2006/main" id="11" idx="0"/>
            <a:endCxn xmlns:a="http://schemas.openxmlformats.org/drawingml/2006/main" id="12" idx="4"/>
          </p:cNvCxnSpPr>
          <p:nvPr/>
        </p:nvCxnSpPr>
        <p:spPr>
          <a:xfrm xmlns:a="http://schemas.openxmlformats.org/drawingml/2006/main" flipV="1">
            <a:off x="1238251" y="3048953"/>
            <a:ext cx="0" cy="2284095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191919"/>
            </a:solidFill>
            <a:prstDash val="solid"/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F995D-66A1-4E37-B6B8-682A8713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0000">
            <a:off x="1231488" y="4188208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7F468-562D-4043-950B-9142F044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V₀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F30E8-7BF4-44F2-8C11-8B6F0140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768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350A3-D0B4-4476-A5A3-F062ABE0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911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5CE85-D176-40E8-8725-BED04E56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7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기울기가 일정하므로 전기장도 일정하다.</a:t>
            </a:r>
          </a:p>
        </p:txBody>
      </p:sp>
    </p:spTree>
    <p:extLst>
      <p:ext uri="{BB962C8B-B14F-4D97-AF65-F5344CB8AC3E}">
        <p14:creationId xmlns:p14="http://schemas.microsoft.com/office/powerpoint/2010/main" val="7769913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8387A-4DF1-4D9C-9B9E-5F34DC4C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MEAN-VALUE PROPERTY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CC40B-29A4-48CB-86D9-21670C0D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조화함수의 중심값은 주변값의 평균이다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96876-14E7-4EBB-92D9-CD9900C1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1E67C-7A23-4A74-AF67-1C03E163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6F4C9-3F6D-435B-A839-6EBA793D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47A970-B6A1-4DE6-B304-82F0FDB1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4952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18047-6F3B-4C50-AD06-CBE99213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048" y="4952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1334453" y="4953001"/>
            <a:ext cx="437959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191919"/>
            </a:solidFill>
            <a:prstDash val="solid"/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F73BA-8007-465D-A27B-A6B05486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581784" y="371071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02EB5-14CE-4421-8202-E093EA14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29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95E65-AF4F-4FA8-B904-4CF2038B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67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0F379-5D17-4FF5-B563-98CD1A46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09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8DDA6-54C6-44DD-80F5-E19FADD5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862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x−a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39822-E5AF-4357-A989-5908F543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51908D-9625-41D0-9EEC-2516DA18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1">
                <a:solidFill>
                  <a:srgbClr val="344054"/>
                </a:solidFill>
                <a:latin typeface="Times New Roman"/>
                <a:ea typeface="Times New Roman"/>
                <a:cs typeface="Times New Roman"/>
              </a:rPr>
              <a:t>x+a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d559ffcbcf4535"/>
          <a:stretch xmlns:a="http://schemas.openxmlformats.org/drawingml/2006/main"/>
        </p:blipFill>
        <p:spPr>
          <a:xfrm xmlns:a="http://schemas.openxmlformats.org/drawingml/2006/main">
            <a:off x="6286500" y="2650316"/>
            <a:ext cx="4572000" cy="795369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12DEF-C311-4FFD-A33B-1AFFBCDA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4812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점의 값이 양쪽 값보다 모두 크거나 모두 작을 수 없다.</a:t>
            </a:r>
          </a:p>
        </p:txBody>
      </p:sp>
    </p:spTree>
    <p:extLst>
      <p:ext uri="{BB962C8B-B14F-4D97-AF65-F5344CB8AC3E}">
        <p14:creationId xmlns:p14="http://schemas.microsoft.com/office/powerpoint/2010/main" val="4323109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7DD801-90EF-4B6D-9506-A8C50986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NO INTERIOR EXTREMA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3FDC9-5E4B-4DF6-88B8-710C1236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라플라스 해의 최대·최소는 경계에서 나타난다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FE020-61A1-4D8E-84E0-1C3F2B6A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68DFE-76CD-43C7-8F6C-1FF3B539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EFF7D-C2AB-4A3A-9111-FA242E34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E6340-2B7A-42C8-9A9E-67D7FE9B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8" y="5237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56067C-1CEE-4B51-A22A-ECE727EF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548" y="5237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1048703" y="5238751"/>
            <a:ext cx="4093845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191919"/>
            </a:solidFill>
            <a:prstDash val="solid"/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97908-8DB1-4FD9-980D-5FCEDE20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8" y="523779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8C2B4-883E-47AA-B305-BCA31CC2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8" y="2285048"/>
            <a:ext cx="1905" cy="190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9" idx="0"/>
            <a:endCxn xmlns:a="http://schemas.openxmlformats.org/drawingml/2006/main" id="10" idx="4"/>
          </p:cNvCxnSpPr>
          <p:nvPr/>
        </p:nvCxnSpPr>
        <p:spPr>
          <a:xfrm xmlns:a="http://schemas.openxmlformats.org/drawingml/2006/main" flipV="1">
            <a:off x="1047751" y="2286953"/>
            <a:ext cx="0" cy="2950845"/>
          </a:xfrm>
          <a:prstGeom xmlns:a="http://schemas.openxmlformats.org/drawingml/2006/main" prst="straightConnector1">
            <a:avLst/>
          </a:prstGeom>
          <a:ln xmlns:a="http://schemas.openxmlformats.org/drawingml/2006/main" w="26194" cap="rnd">
            <a:solidFill>
              <a:srgbClr val="191919"/>
            </a:solidFill>
            <a:prstDash val="solid"/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14D0B0-2DC6-47D5-B935-BB7532B6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91736">
            <a:off x="1322192" y="4393074"/>
            <a:ext cx="27979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84B22-01CC-46C1-8562-C0E804E3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56000">
            <a:off x="1544574" y="4219731"/>
            <a:ext cx="349376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91E600-6B3E-4AEB-8526-0A677633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367041">
            <a:off x="1745785" y="3910005"/>
            <a:ext cx="461306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E3C12-156D-42EA-8B74-D33541CB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504960">
            <a:off x="1988098" y="3509374"/>
            <a:ext cx="49102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22168-6548-43F2-A432-4B0BAA6B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883868">
            <a:off x="2298376" y="3157093"/>
            <a:ext cx="38482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9B9C7-B421-4B71-8366-3231F667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58387">
            <a:off x="2616980" y="2989026"/>
            <a:ext cx="26196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724D1-02A1-4D04-9E5C-BA6A4C21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0573">
            <a:off x="2855108" y="3041386"/>
            <a:ext cx="300059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5BBAC-C2D9-4B0C-A920-66D78466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20500">
            <a:off x="3093606" y="3227890"/>
            <a:ext cx="337412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6A9D9-6377-4FDC-89C2-6CBAC355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19819">
            <a:off x="3372941" y="3407394"/>
            <a:ext cx="293093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1A3F1-23C9-4199-B888-3E1591F2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47041">
            <a:off x="3647417" y="3490713"/>
            <a:ext cx="258491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6B53F-D448-4335-808D-4707244F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296">
            <a:off x="3905234" y="3505770"/>
            <a:ext cx="257207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871C8E-7E31-443B-9D29-DBF87634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89810">
            <a:off x="4147333" y="3571903"/>
            <a:ext cx="28736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66A3B-4579-4837-A144-F9A932A4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44208">
            <a:off x="4337422" y="3803001"/>
            <a:ext cx="421531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C61197-B2C7-4D20-A353-4F674149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27364">
            <a:off x="4530356" y="4213089"/>
            <a:ext cx="550014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E717E-3FF3-404A-91CB-CF842F6F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360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80B057-FE6D-47FE-A362-5263F6C5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B4231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B42318"/>
                </a:solidFill>
                <a:latin typeface="Apple SD Gothic Neo"/>
                <a:ea typeface="Apple SD Gothic Neo"/>
                <a:cs typeface="Apple SD Gothic Neo"/>
              </a:rPr>
              <a:t>내부 최대값이라면 평균값 성질과 충돌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609C7-B56E-4630-97E8-F5063214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476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전하가 없는 영역에서 전위의 봉우리나 골짜기는 내부에 고립되어 생기지 않는다.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747A81-929E-4482-8D3C-40D9C611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내부 극값이 보이면 전하·특이점·경계조건을 다시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38941537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C50864-30CD-441D-90E3-1ADCFF85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§3.1.3–3.1.4 / TWO AND THREE DIMENSIONS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9ADE7-13F0-48F8-9CB0-BD335C41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구 중심의 전위는 구면 전위의 평균과 같다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9A8BA-3291-45EA-BBA4-56DC36A1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26B5D-F88A-402E-BB85-7A0FEDFC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41246-E21A-49CD-9A3B-BC29A7C5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5EBFE-C091-4A2B-928B-43EA0C8A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1450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0FE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569D0-AB20-4800-B10E-9004683E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7EDE6-46DF-4015-A7E2-1804A97F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2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r₀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D8D25-A652-4E44-A21A-1829FD04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B15EC-10A4-4720-B665-48D72D5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527" y="468208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52601-294C-4874-9CBD-B683E55F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027" y="53741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197D1E-E01E-4576-9334-E6F41596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673" y="5374113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5411C-46F7-4BA1-BDAA-4CDB084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173" y="4682081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322C6-EFC7-4680-B996-B1323D2F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EFAA2B-4C36-4D99-9B74-3211D954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173" y="244261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8DFE9-22FE-414B-86A6-F75CFC48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2673" y="175058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61651-4965-4745-B27B-7041403A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0027" y="1750587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8C923-3AEF-4C4C-9586-07616891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2527" y="2442619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4674FA-D627-42DD-86BA-0FECE4AF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381125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1">
                <a:solidFill>
                  <a:srgbClr val="2563EB"/>
                </a:solidFill>
                <a:latin typeface="Times New Roman"/>
                <a:ea typeface="Times New Roman"/>
                <a:cs typeface="Times New Roman"/>
              </a:rPr>
              <a:t>S_R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9fb4df9bf44c6"/>
          <a:stretch xmlns:a="http://schemas.openxmlformats.org/drawingml/2006/main"/>
        </p:blipFill>
        <p:spPr>
          <a:xfrm xmlns:a="http://schemas.openxmlformats.org/drawingml/2006/main">
            <a:off x="6690447" y="2405063"/>
            <a:ext cx="3764107" cy="10001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001CB-9B3B-4A04-9223-84A388E3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반지름 R인 구가 전하 없는 영역 안에 있으면 모든 R에 대해 성립한다.</a:t>
            </a:r>
          </a:p>
        </p:txBody>
      </p:sp>
    </p:spTree>
    <p:extLst>
      <p:ext uri="{BB962C8B-B14F-4D97-AF65-F5344CB8AC3E}">
        <p14:creationId xmlns:p14="http://schemas.microsoft.com/office/powerpoint/2010/main" val="12523770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B83B85-8626-44A5-952C-06E30383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§3.1.5–3.1.6 / UNIQUENESS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9AAF1-CCE8-4E17-AA71-6099ED2D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경계조건을 만족하는 라플라스 해는 하나뿐이다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DD48B-3EA0-45CF-BD8C-547E18A7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DCC67-032E-4FF3-B176-8CFE9036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A6EC4-98EF-4A4E-837C-6E2152B1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36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66e6fd39448ea"/>
          <a:stretch xmlns:a="http://schemas.openxmlformats.org/drawingml/2006/main"/>
        </p:blipFill>
        <p:spPr>
          <a:xfrm xmlns:a="http://schemas.openxmlformats.org/drawingml/2006/main">
            <a:off x="1238250" y="1763913"/>
            <a:ext cx="9715500" cy="7107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D0A45-44F1-4FD7-A702-BECBDAB9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7063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5EA61-DCA0-4EE4-81B8-64D8A919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제1 유일성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C21D78-6528-4C5F-8F5B-A35A120A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경계의 V를 지정하면 내부 V가 유일하다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c4c6ec57b4888"/>
          <a:stretch xmlns:a="http://schemas.openxmlformats.org/drawingml/2006/main"/>
        </p:blipFill>
        <p:spPr>
          <a:xfrm xmlns:a="http://schemas.openxmlformats.org/drawingml/2006/main">
            <a:off x="1095375" y="4951603"/>
            <a:ext cx="4286250" cy="40284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9D421-9A19-4880-B2C9-D16C9B2C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7063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6F691-CE1D-4D33-ADD2-34823751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제2 유일성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7AE72-56FD-448C-B8B4-BF8D56DB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각 도체의 총전하와 바깥 경계를 지정하면 E가 유일하다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143de9260b4fe1"/>
          <a:stretch xmlns:a="http://schemas.openxmlformats.org/drawingml/2006/main"/>
        </p:blipFill>
        <p:spPr>
          <a:xfrm xmlns:a="http://schemas.openxmlformats.org/drawingml/2006/main">
            <a:off x="6715125" y="5033278"/>
            <a:ext cx="4286250" cy="23949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06253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782C5-7B62-4B81-A31C-901BDF14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PREVIEW / METHOD OF IMAGES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B9F31-EF33-4E7A-A914-86720040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1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경계값을 맞춘 후보해는 유일성 정리에 의해 실제 해가 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5F46C-156F-416A-B541-AA75B985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3385D0-7FBC-42F3-B83E-E2A2F691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77E2C-E452-415E-A783-F71B1A11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3A5C4-193A-4AD5-9C02-90823497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476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3D687-6D42-4C5F-AFA6-71C54925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C96E8-A2AC-4ED4-B605-42B8E098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90775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+q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850DA-AF2F-47EA-A953-879A166E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5911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FB0E4-D8A4-40AE-A5DC-57540214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676900"/>
            <a:ext cx="91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−q′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F86DF-940D-48E8-9D5A-597DE446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실제 영역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8D40B-74AC-4C90-BD1E-DC2F4310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5721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계산용 영상전하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6A2A8-73ED-4500-B872-FBEA3606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F928E-24B7-4FE8-B092-21E12093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13546-6426-48F7-BED3-1B7CB27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2CA98-28D6-4CAE-A990-E0417AA6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D210E-285F-4664-B188-B8ED0053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A3F37-EE3A-42F3-B424-16CF3185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14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1919"/>
          </a:solidFill>
          <a:ln xmlns:a="http://schemas.openxmlformats.org/drawingml/2006/main" w="0">
            <a:solidFill>
              <a:srgbClr val="19191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2C1A4-D954-4DFF-9532-D57FE942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i="1">
                <a:solidFill>
                  <a:srgbClr val="191919"/>
                </a:solidFill>
                <a:latin typeface="Times New Roman"/>
                <a:ea typeface="Times New Roman"/>
                <a:cs typeface="Times New Roman"/>
              </a:rPr>
              <a:t>V=0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8fe1b1a3c42ff"/>
          <a:stretch xmlns:a="http://schemas.openxmlformats.org/drawingml/2006/main"/>
        </p:blipFill>
        <p:spPr>
          <a:xfrm xmlns:a="http://schemas.openxmlformats.org/drawingml/2006/main">
            <a:off x="6191250" y="2740430"/>
            <a:ext cx="4762500" cy="42464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0A2D8E-95B1-4875-88F5-7CF3D8AE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476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다음 단계는 실제 영역 밖에 가상의 전하를 놓아 경계 전위를 맞추는 것이다.</a:t>
            </a:r>
          </a:p>
        </p:txBody>
      </p:sp>
    </p:spTree>
    <p:extLst>
      <p:ext uri="{BB962C8B-B14F-4D97-AF65-F5344CB8AC3E}">
        <p14:creationId xmlns:p14="http://schemas.microsoft.com/office/powerpoint/2010/main" val="64650980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C4E22-80FE-441E-87C1-9AEA1C0F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10.12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DC508-629D-4FE8-BDF2-9FD76069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세 문제로 에너지, 도체, 라플라스 방정식을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164F5-35C7-4DE9-AA21-151FE459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54317-FA92-44D3-88BE-EFFAB21D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72222-4CB9-402B-9267-4AF99D13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6A688-A423-4224-A4C1-D48AE7E6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B465B-6C41-45E7-90B8-2C29D61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점전하 조립 에너지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B32219-DED2-4A73-B628-58FB459D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14475"/>
            <a:ext cx="704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한 변의 길이가 a인 정삼각형 꼭짓점에 q, −2q, q를 놓는다. 무한대에서 조립하는 데 필요한 일을 구하고 부호를 해석하시오.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5ac67ffd44f9b"/>
          <a:stretch xmlns:a="http://schemas.openxmlformats.org/drawingml/2006/main"/>
        </p:blipFill>
        <p:spPr>
          <a:xfrm xmlns:a="http://schemas.openxmlformats.org/drawingml/2006/main">
            <a:off x="4095750" y="2343150"/>
            <a:ext cx="6246441" cy="4953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EAA7D-88FE-4C9A-B1B5-240DB405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798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0E462-FF2B-464C-BAA3-ED905FDC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F7366-8145-41BB-8535-6A00F100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평행판 축전기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11E26-B177-496A-B1D4-B1E4C8D3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704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넓이 A, 간격 d인 진공 평행판 축전기를 전위차 V로 충전한다. Q, 저장 에너지, 판 사이 에너지밀도를 구하시오.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2c1b5c5d24631"/>
          <a:stretch xmlns:a="http://schemas.openxmlformats.org/drawingml/2006/main"/>
        </p:blipFill>
        <p:spPr>
          <a:xfrm xmlns:a="http://schemas.openxmlformats.org/drawingml/2006/main">
            <a:off x="4095750" y="3914775"/>
            <a:ext cx="3017133" cy="4953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81DDA-BF06-40DD-B5F5-FE54D813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9613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FADDD-DDDF-47E2-A380-B652271E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399A3-F9E5-42F3-9C64-173F28D3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958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일차원 라플라스 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F30F6-20AA-476F-A80D-5EA3BA26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57725"/>
            <a:ext cx="7048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0 &lt; x &lt; d에서 ρ = 0이고 V(0)=V₀, V(d)=0이다. V(x)와 E(x)를 구하고 내부 극값의 존재 여부를 설명하시오.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63c88ca24470e"/>
          <a:stretch xmlns:a="http://schemas.openxmlformats.org/drawingml/2006/main"/>
        </p:blipFill>
        <p:spPr>
          <a:xfrm xmlns:a="http://schemas.openxmlformats.org/drawingml/2006/main">
            <a:off x="4095750" y="5486400"/>
            <a:ext cx="6543621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156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EC738-8C8D-4A80-BEB8-CBB49574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PRACTICE / RESULT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DFC30-680F-4E35-8AA8-0B840CA2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최종 답은 부호, 차원, 경계조건으로 검증한다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6642B-A545-4026-9083-7FE8931E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FCFD3-502B-41A0-AF10-CC058338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A84FB-1DDC-48AB-9D23-F34BEF78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4E6F8-79E1-489E-87A3-DD390AD7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240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97f16716848f9"/>
          <a:stretch xmlns:a="http://schemas.openxmlformats.org/drawingml/2006/main"/>
        </p:blipFill>
        <p:spPr>
          <a:xfrm xmlns:a="http://schemas.openxmlformats.org/drawingml/2006/main">
            <a:off x="2710988" y="1571625"/>
            <a:ext cx="4979324" cy="914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81E0B-56CE-46D9-8845-797AF824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47825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각 전하쌍의 거리와 부호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7B28D-EDE0-4992-8626-10301600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8913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4BD6CF-8428-429D-9123-5218ABF8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70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56a9f8fce4334"/>
          <a:stretch xmlns:a="http://schemas.openxmlformats.org/drawingml/2006/main"/>
        </p:blipFill>
        <p:spPr>
          <a:xfrm xmlns:a="http://schemas.openxmlformats.org/drawingml/2006/main">
            <a:off x="2632581" y="3114675"/>
            <a:ext cx="5136138" cy="9144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B6BAE-0572-4482-9A17-628D1740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J와 J/m³ 단위, ½QV 일치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5362D-F39D-47EC-9490-D4868ED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1963"/>
            <a:ext cx="1053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solidFill>
              <a:srgbClr val="3440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C9AB11-711B-4E20-9902-34845ECA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012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E0F0FE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246ac5ebb4f05"/>
          <a:stretch xmlns:a="http://schemas.openxmlformats.org/drawingml/2006/main"/>
        </p:blipFill>
        <p:spPr>
          <a:xfrm xmlns:a="http://schemas.openxmlformats.org/drawingml/2006/main">
            <a:off x="2383352" y="4657725"/>
            <a:ext cx="5634596" cy="9144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06F451-F9ED-4722-98C0-B4B6DF8E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두 경계값과 일정한 E</a:t>
            </a:r>
          </a:p>
        </p:txBody>
      </p:sp>
    </p:spTree>
    <p:extLst>
      <p:ext uri="{BB962C8B-B14F-4D97-AF65-F5344CB8AC3E}">
        <p14:creationId xmlns:p14="http://schemas.microsoft.com/office/powerpoint/2010/main" val="68593204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3B790-86C3-4C61-AD99-6198E37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W06 /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48A36-C0B8-4221-BE7C-39BC4913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525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전하의 재배치가 에너지와 경계조건을 함께 결정한다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2EDD1-8524-4D15-BC0A-A6C7C118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6038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829B1-6225-4575-9CF3-27E1A6F0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전자기학 2026 · WEEK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0C37E-03C8-4EF0-BDEA-682F25F5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5151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 i="0">
                <a:solidFill>
                  <a:srgbClr val="344054"/>
                </a:solidFill>
                <a:latin typeface="Apple SD Gothic Neo"/>
                <a:ea typeface="Apple SD Gothic Neo"/>
                <a:cs typeface="Apple SD Gothic Neo"/>
              </a:rPr>
              <a:t>40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4a975cb2a405e"/>
          <a:stretch xmlns:a="http://schemas.openxmlformats.org/drawingml/2006/main"/>
        </p:blipFill>
        <p:spPr>
          <a:xfrm xmlns:a="http://schemas.openxmlformats.org/drawingml/2006/main">
            <a:off x="1047750" y="2057426"/>
            <a:ext cx="10096500" cy="64764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0736F-2B36-4EEE-B822-7FB30CE5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에너지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BD83C-2BD5-401E-8BD1-10583E7E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전하배치를 만드는 데 필요한 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4C8F6-980C-4B62-B7F3-E491191F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481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도체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DBDF72-8895-45D4-8A27-2AB58F69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자유전하가 만든 등전위 경계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7D7EA-35C4-46FD-9D31-2F88C639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라플라스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C6E71-BE86-49AB-B12F-FE33A41C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243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191919"/>
                </a:solidFill>
                <a:latin typeface="Apple SD Gothic Neo"/>
                <a:ea typeface="Apple SD Gothic Neo"/>
                <a:cs typeface="Apple SD Gothic Neo"/>
              </a:rPr>
              <a:t>전하 없는 영역의 유일한 전위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4589A-93BF-4EFB-A777-4743DD05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00675"/>
            <a:ext cx="887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6EED4-02F9-4BCF-9A8E-06450C05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0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 i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다음: 유일성 정리를 이용한 영상법과 경계값 계산</a:t>
            </a:r>
          </a:p>
        </p:txBody>
      </p:sp>
    </p:spTree>
    <p:extLst>
      <p:ext uri="{BB962C8B-B14F-4D97-AF65-F5344CB8AC3E}">
        <p14:creationId xmlns:p14="http://schemas.microsoft.com/office/powerpoint/2010/main" val="619066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2026-09-25T12:47:31.6670000Z</dcterms:created>
  <dcterms:modified xsi:type="dcterms:W3CDTF">2026-09-25T12:47:31.6670000Z</dcterms:modified>
</coreProperties>
</file>