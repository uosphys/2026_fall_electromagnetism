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b570e2c184e74" /><Relationship Type="http://schemas.openxmlformats.org/officeDocument/2006/relationships/extended-properties" Target="/docProps/app.xml" Id="R470541f7e75e43a7" /><Relationship Type="http://schemas.openxmlformats.org/officeDocument/2006/relationships/officeDocument" Target="/ppt/presentation.xml" Id="R9a88e4a57904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038f440564008"/>
  </p:sldMasterIdLst>
  <p:notesMasterIdLst>
    <p:notesMasterId xmlns:r="http://schemas.openxmlformats.org/officeDocument/2006/relationships" r:id="Re545ccd506b74dd1"/>
  </p:notesMasterIdLst>
  <p:sldIdLst>
    <p:sldId xmlns:r="http://schemas.openxmlformats.org/officeDocument/2006/relationships" id="256" r:id="R8987ac50a9504ea3"/>
    <p:sldId xmlns:r="http://schemas.openxmlformats.org/officeDocument/2006/relationships" id="257" r:id="R2acb731953044d90"/>
    <p:sldId xmlns:r="http://schemas.openxmlformats.org/officeDocument/2006/relationships" id="258" r:id="R4cd1b5c82e7f43fb"/>
    <p:sldId xmlns:r="http://schemas.openxmlformats.org/officeDocument/2006/relationships" id="259" r:id="R1db0e40adb7a486d"/>
    <p:sldId xmlns:r="http://schemas.openxmlformats.org/officeDocument/2006/relationships" id="260" r:id="R1ea4448b785d4c3d"/>
    <p:sldId xmlns:r="http://schemas.openxmlformats.org/officeDocument/2006/relationships" id="261" r:id="R039433a237854ab3"/>
    <p:sldId xmlns:r="http://schemas.openxmlformats.org/officeDocument/2006/relationships" id="262" r:id="R3c74b993e3ed4d56"/>
    <p:sldId xmlns:r="http://schemas.openxmlformats.org/officeDocument/2006/relationships" id="263" r:id="Ra9a59e9198aa4bdc"/>
    <p:sldId xmlns:r="http://schemas.openxmlformats.org/officeDocument/2006/relationships" id="264" r:id="R619b80b6489145d4"/>
    <p:sldId xmlns:r="http://schemas.openxmlformats.org/officeDocument/2006/relationships" id="265" r:id="Rdf01fccac1294cde"/>
    <p:sldId xmlns:r="http://schemas.openxmlformats.org/officeDocument/2006/relationships" id="266" r:id="R5c04718cbde44e15"/>
    <p:sldId xmlns:r="http://schemas.openxmlformats.org/officeDocument/2006/relationships" id="267" r:id="Ra52ccbb13e424bf1"/>
    <p:sldId xmlns:r="http://schemas.openxmlformats.org/officeDocument/2006/relationships" id="268" r:id="Rc0a0b90ebfa346cf"/>
    <p:sldId xmlns:r="http://schemas.openxmlformats.org/officeDocument/2006/relationships" id="269" r:id="Rc296d0420072478a"/>
    <p:sldId xmlns:r="http://schemas.openxmlformats.org/officeDocument/2006/relationships" id="270" r:id="Rf370411f6ef54538"/>
    <p:sldId xmlns:r="http://schemas.openxmlformats.org/officeDocument/2006/relationships" id="271" r:id="Rca1cdbabf4c04178"/>
    <p:sldId xmlns:r="http://schemas.openxmlformats.org/officeDocument/2006/relationships" id="272" r:id="R5f9b5502e9c64eb4"/>
    <p:sldId xmlns:r="http://schemas.openxmlformats.org/officeDocument/2006/relationships" id="273" r:id="R07df325bf27140e3"/>
    <p:sldId xmlns:r="http://schemas.openxmlformats.org/officeDocument/2006/relationships" id="274" r:id="R12e3a1680fb240f8"/>
    <p:sldId xmlns:r="http://schemas.openxmlformats.org/officeDocument/2006/relationships" id="275" r:id="Rd63b4408b78c4d5a"/>
    <p:sldId xmlns:r="http://schemas.openxmlformats.org/officeDocument/2006/relationships" id="276" r:id="R422609bc6bc0495f"/>
    <p:sldId xmlns:r="http://schemas.openxmlformats.org/officeDocument/2006/relationships" id="277" r:id="R4736c6e8487b416e"/>
    <p:sldId xmlns:r="http://schemas.openxmlformats.org/officeDocument/2006/relationships" id="278" r:id="R3bbba00175d744d9"/>
    <p:sldId xmlns:r="http://schemas.openxmlformats.org/officeDocument/2006/relationships" id="279" r:id="Rbd2fd5207a444521"/>
    <p:sldId xmlns:r="http://schemas.openxmlformats.org/officeDocument/2006/relationships" id="280" r:id="R03fb21a3f47645a6"/>
    <p:sldId xmlns:r="http://schemas.openxmlformats.org/officeDocument/2006/relationships" id="281" r:id="Rb6199223da354e1b"/>
    <p:sldId xmlns:r="http://schemas.openxmlformats.org/officeDocument/2006/relationships" id="282" r:id="R3f5a8b8d02db4ad8"/>
    <p:sldId xmlns:r="http://schemas.openxmlformats.org/officeDocument/2006/relationships" id="283" r:id="R135fc2fa3cad41f1"/>
    <p:sldId xmlns:r="http://schemas.openxmlformats.org/officeDocument/2006/relationships" id="284" r:id="R6407491013054bb6"/>
    <p:sldId xmlns:r="http://schemas.openxmlformats.org/officeDocument/2006/relationships" id="285" r:id="R23b03091d00940be"/>
    <p:sldId xmlns:r="http://schemas.openxmlformats.org/officeDocument/2006/relationships" id="286" r:id="R00a33788720140a5"/>
    <p:sldId xmlns:r="http://schemas.openxmlformats.org/officeDocument/2006/relationships" id="287" r:id="R8af5ca3be95449ec"/>
    <p:sldId xmlns:r="http://schemas.openxmlformats.org/officeDocument/2006/relationships" id="288" r:id="R80fe716dbc094d8f"/>
    <p:sldId xmlns:r="http://schemas.openxmlformats.org/officeDocument/2006/relationships" id="289" r:id="R13ceefbfa3f845e6"/>
    <p:sldId xmlns:r="http://schemas.openxmlformats.org/officeDocument/2006/relationships" id="290" r:id="R69b88c3d9bc64363"/>
    <p:sldId xmlns:r="http://schemas.openxmlformats.org/officeDocument/2006/relationships" id="291" r:id="R32cb486990a54e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bc148f6ea44dc" /><Relationship Type="http://schemas.openxmlformats.org/officeDocument/2006/relationships/slideMaster" Target="/ppt/slideMasters/slideMaster1.xml" Id="Rb1a038f440564008" /><Relationship Type="http://schemas.openxmlformats.org/officeDocument/2006/relationships/notesMaster" Target="/ppt/notesMasters/notesMaster1.xml" Id="Re545ccd506b74dd1" /><Relationship Type="http://schemas.openxmlformats.org/officeDocument/2006/relationships/presProps" Target="/ppt/presProps.xml" Id="Rbf678864534f4b25" /><Relationship Type="http://schemas.openxmlformats.org/officeDocument/2006/relationships/tableStyles" Target="/ppt/tableStyles.xml" Id="R3c170bf1fdf44765" /><Relationship Type="http://schemas.openxmlformats.org/officeDocument/2006/relationships/slide" Target="/ppt/slides/slide1.xml" Id="R8987ac50a9504ea3" /><Relationship Type="http://schemas.openxmlformats.org/officeDocument/2006/relationships/slide" Target="/ppt/slides/slide2.xml" Id="R2acb731953044d90" /><Relationship Type="http://schemas.openxmlformats.org/officeDocument/2006/relationships/slide" Target="/ppt/slides/slide3.xml" Id="R4cd1b5c82e7f43fb" /><Relationship Type="http://schemas.openxmlformats.org/officeDocument/2006/relationships/slide" Target="/ppt/slides/slide4.xml" Id="R1db0e40adb7a486d" /><Relationship Type="http://schemas.openxmlformats.org/officeDocument/2006/relationships/slide" Target="/ppt/slides/slide5.xml" Id="R1ea4448b785d4c3d" /><Relationship Type="http://schemas.openxmlformats.org/officeDocument/2006/relationships/slide" Target="/ppt/slides/slide6.xml" Id="R039433a237854ab3" /><Relationship Type="http://schemas.openxmlformats.org/officeDocument/2006/relationships/slide" Target="/ppt/slides/slide7.xml" Id="R3c74b993e3ed4d56" /><Relationship Type="http://schemas.openxmlformats.org/officeDocument/2006/relationships/slide" Target="/ppt/slides/slide8.xml" Id="Ra9a59e9198aa4bdc" /><Relationship Type="http://schemas.openxmlformats.org/officeDocument/2006/relationships/slide" Target="/ppt/slides/slide9.xml" Id="R619b80b6489145d4" /><Relationship Type="http://schemas.openxmlformats.org/officeDocument/2006/relationships/slide" Target="/ppt/slides/slide10.xml" Id="Rdf01fccac1294cde" /><Relationship Type="http://schemas.openxmlformats.org/officeDocument/2006/relationships/slide" Target="/ppt/slides/slide11.xml" Id="R5c04718cbde44e15" /><Relationship Type="http://schemas.openxmlformats.org/officeDocument/2006/relationships/slide" Target="/ppt/slides/slide12.xml" Id="Ra52ccbb13e424bf1" /><Relationship Type="http://schemas.openxmlformats.org/officeDocument/2006/relationships/slide" Target="/ppt/slides/slide13.xml" Id="Rc0a0b90ebfa346cf" /><Relationship Type="http://schemas.openxmlformats.org/officeDocument/2006/relationships/slide" Target="/ppt/slides/slide14.xml" Id="Rc296d0420072478a" /><Relationship Type="http://schemas.openxmlformats.org/officeDocument/2006/relationships/slide" Target="/ppt/slides/slide15.xml" Id="Rf370411f6ef54538" /><Relationship Type="http://schemas.openxmlformats.org/officeDocument/2006/relationships/slide" Target="/ppt/slides/slide16.xml" Id="Rca1cdbabf4c04178" /><Relationship Type="http://schemas.openxmlformats.org/officeDocument/2006/relationships/slide" Target="/ppt/slides/slide17.xml" Id="R5f9b5502e9c64eb4" /><Relationship Type="http://schemas.openxmlformats.org/officeDocument/2006/relationships/slide" Target="/ppt/slides/slide18.xml" Id="R07df325bf27140e3" /><Relationship Type="http://schemas.openxmlformats.org/officeDocument/2006/relationships/slide" Target="/ppt/slides/slide19.xml" Id="R12e3a1680fb240f8" /><Relationship Type="http://schemas.openxmlformats.org/officeDocument/2006/relationships/slide" Target="/ppt/slides/slide20.xml" Id="Rd63b4408b78c4d5a" /><Relationship Type="http://schemas.openxmlformats.org/officeDocument/2006/relationships/slide" Target="/ppt/slides/slide21.xml" Id="R422609bc6bc0495f" /><Relationship Type="http://schemas.openxmlformats.org/officeDocument/2006/relationships/slide" Target="/ppt/slides/slide22.xml" Id="R4736c6e8487b416e" /><Relationship Type="http://schemas.openxmlformats.org/officeDocument/2006/relationships/slide" Target="/ppt/slides/slide23.xml" Id="R3bbba00175d744d9" /><Relationship Type="http://schemas.openxmlformats.org/officeDocument/2006/relationships/slide" Target="/ppt/slides/slide24.xml" Id="Rbd2fd5207a444521" /><Relationship Type="http://schemas.openxmlformats.org/officeDocument/2006/relationships/slide" Target="/ppt/slides/slide25.xml" Id="R03fb21a3f47645a6" /><Relationship Type="http://schemas.openxmlformats.org/officeDocument/2006/relationships/slide" Target="/ppt/slides/slide26.xml" Id="Rb6199223da354e1b" /><Relationship Type="http://schemas.openxmlformats.org/officeDocument/2006/relationships/slide" Target="/ppt/slides/slide27.xml" Id="R3f5a8b8d02db4ad8" /><Relationship Type="http://schemas.openxmlformats.org/officeDocument/2006/relationships/slide" Target="/ppt/slides/slide28.xml" Id="R135fc2fa3cad41f1" /><Relationship Type="http://schemas.openxmlformats.org/officeDocument/2006/relationships/slide" Target="/ppt/slides/slide29.xml" Id="R6407491013054bb6" /><Relationship Type="http://schemas.openxmlformats.org/officeDocument/2006/relationships/slide" Target="/ppt/slides/slide30.xml" Id="R23b03091d00940be" /><Relationship Type="http://schemas.openxmlformats.org/officeDocument/2006/relationships/slide" Target="/ppt/slides/slide31.xml" Id="R00a33788720140a5" /><Relationship Type="http://schemas.openxmlformats.org/officeDocument/2006/relationships/slide" Target="/ppt/slides/slide32.xml" Id="R8af5ca3be95449ec" /><Relationship Type="http://schemas.openxmlformats.org/officeDocument/2006/relationships/slide" Target="/ppt/slides/slide33.xml" Id="R80fe716dbc094d8f" /><Relationship Type="http://schemas.openxmlformats.org/officeDocument/2006/relationships/slide" Target="/ppt/slides/slide34.xml" Id="R13ceefbfa3f845e6" /><Relationship Type="http://schemas.openxmlformats.org/officeDocument/2006/relationships/slide" Target="/ppt/slides/slide35.xml" Id="R69b88c3d9bc64363" /><Relationship Type="http://schemas.openxmlformats.org/officeDocument/2006/relationships/slide" Target="/ppt/slides/slide36.xml" Id="R32cb486990a5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8143f27d86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c7fa8e4854fd8" /><Relationship Type="http://schemas.openxmlformats.org/officeDocument/2006/relationships/notesMaster" Target="/ppt/notesMasters/notesMaster1.xml" Id="R5aa1db2af523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0a6a3285a34b24" /><Relationship Type="http://schemas.openxmlformats.org/officeDocument/2006/relationships/notesMaster" Target="/ppt/notesMasters/notesMaster1.xml" Id="Re7f19c796e924e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99518189004cb4" /><Relationship Type="http://schemas.openxmlformats.org/officeDocument/2006/relationships/notesMaster" Target="/ppt/notesMasters/notesMaster1.xml" Id="R8fbea97b19f044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1700cc5e14e66" /><Relationship Type="http://schemas.openxmlformats.org/officeDocument/2006/relationships/notesMaster" Target="/ppt/notesMasters/notesMaster1.xml" Id="R092eff9afbed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345deb7004e4e" /><Relationship Type="http://schemas.openxmlformats.org/officeDocument/2006/relationships/notesMaster" Target="/ppt/notesMasters/notesMaster1.xml" Id="Rd90e0d3def364f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68ad6c92745de" /><Relationship Type="http://schemas.openxmlformats.org/officeDocument/2006/relationships/notesMaster" Target="/ppt/notesMasters/notesMaster1.xml" Id="Rb761f5ea637f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71fae5d8cc4262" /><Relationship Type="http://schemas.openxmlformats.org/officeDocument/2006/relationships/notesMaster" Target="/ppt/notesMasters/notesMaster1.xml" Id="R69d906ab696142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88ff1835294693" /><Relationship Type="http://schemas.openxmlformats.org/officeDocument/2006/relationships/notesMaster" Target="/ppt/notesMasters/notesMaster1.xml" Id="R5f44afb5a169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b2f0a887f4846" /><Relationship Type="http://schemas.openxmlformats.org/officeDocument/2006/relationships/notesMaster" Target="/ppt/notesMasters/notesMaster1.xml" Id="R857cd57f6511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d672678f249b4" /><Relationship Type="http://schemas.openxmlformats.org/officeDocument/2006/relationships/notesMaster" Target="/ppt/notesMasters/notesMaster1.xml" Id="R2a99e0219dc642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b4d46b4d8436c" /><Relationship Type="http://schemas.openxmlformats.org/officeDocument/2006/relationships/notesMaster" Target="/ppt/notesMasters/notesMaster1.xml" Id="Rdb2a50f6910c4c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c88e8aa8e74059" /><Relationship Type="http://schemas.openxmlformats.org/officeDocument/2006/relationships/notesMaster" Target="/ppt/notesMasters/notesMaster1.xml" Id="R39c8fcb99d6141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162f253c7046af" /><Relationship Type="http://schemas.openxmlformats.org/officeDocument/2006/relationships/notesMaster" Target="/ppt/notesMasters/notesMaster1.xml" Id="R6e3d219a8aa948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f2dfeb4aa4926" /><Relationship Type="http://schemas.openxmlformats.org/officeDocument/2006/relationships/notesMaster" Target="/ppt/notesMasters/notesMaster1.xml" Id="R0e7ee74331f64b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5a663a082b48a6" /><Relationship Type="http://schemas.openxmlformats.org/officeDocument/2006/relationships/notesMaster" Target="/ppt/notesMasters/notesMaster1.xml" Id="R7abd1095dcf349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70102ac0664188" /><Relationship Type="http://schemas.openxmlformats.org/officeDocument/2006/relationships/notesMaster" Target="/ppt/notesMasters/notesMaster1.xml" Id="R1dbb3e5201cc42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1139297c164865" /><Relationship Type="http://schemas.openxmlformats.org/officeDocument/2006/relationships/notesMaster" Target="/ppt/notesMasters/notesMaster1.xml" Id="Rc9f463ed6e8947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d698ab65e64ef4" /><Relationship Type="http://schemas.openxmlformats.org/officeDocument/2006/relationships/notesMaster" Target="/ppt/notesMasters/notesMaster1.xml" Id="R55edaee7505f46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ff39ff2f4b4906" /><Relationship Type="http://schemas.openxmlformats.org/officeDocument/2006/relationships/notesMaster" Target="/ppt/notesMasters/notesMaster1.xml" Id="R30a0f47985c643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0eda775cf34a29" /><Relationship Type="http://schemas.openxmlformats.org/officeDocument/2006/relationships/notesMaster" Target="/ppt/notesMasters/notesMaster1.xml" Id="Rf41fd2324d8749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0f6a4859f2437b" /><Relationship Type="http://schemas.openxmlformats.org/officeDocument/2006/relationships/notesMaster" Target="/ppt/notesMasters/notesMaster1.xml" Id="Ra274e8f68b6b47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c510cc692e4e7b" /><Relationship Type="http://schemas.openxmlformats.org/officeDocument/2006/relationships/notesMaster" Target="/ppt/notesMasters/notesMaster1.xml" Id="R85f31706f86949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9dcb7c8f5f4e27" /><Relationship Type="http://schemas.openxmlformats.org/officeDocument/2006/relationships/notesMaster" Target="/ppt/notesMasters/notesMaster1.xml" Id="Raf5ce35079f341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80dde7aca3465b" /><Relationship Type="http://schemas.openxmlformats.org/officeDocument/2006/relationships/notesMaster" Target="/ppt/notesMasters/notesMaster1.xml" Id="R03b03ded0ff542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5c3b16028214324" /><Relationship Type="http://schemas.openxmlformats.org/officeDocument/2006/relationships/notesMaster" Target="/ppt/notesMasters/notesMaster1.xml" Id="R03fe4e0e0eeb40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b3a94e194f4540" /><Relationship Type="http://schemas.openxmlformats.org/officeDocument/2006/relationships/notesMaster" Target="/ppt/notesMasters/notesMaster1.xml" Id="R7795af152931493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f3cec27047496a" /><Relationship Type="http://schemas.openxmlformats.org/officeDocument/2006/relationships/notesMaster" Target="/ppt/notesMasters/notesMaster1.xml" Id="Rf64d386eab544d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bc1f2d49a2461b" /><Relationship Type="http://schemas.openxmlformats.org/officeDocument/2006/relationships/notesMaster" Target="/ppt/notesMasters/notesMaster1.xml" Id="R5298baac69ee47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5ccf556a4b4aa3" /><Relationship Type="http://schemas.openxmlformats.org/officeDocument/2006/relationships/notesMaster" Target="/ppt/notesMasters/notesMaster1.xml" Id="Rd09e7e263f7242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c7d15d172694125" /><Relationship Type="http://schemas.openxmlformats.org/officeDocument/2006/relationships/notesMaster" Target="/ppt/notesMasters/notesMaster1.xml" Id="R9e3f89f0603246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24a7e90ab84834" /><Relationship Type="http://schemas.openxmlformats.org/officeDocument/2006/relationships/notesMaster" Target="/ppt/notesMasters/notesMaster1.xml" Id="R7d6a05fc92834dd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e91bf9c3d0c4cf5" /><Relationship Type="http://schemas.openxmlformats.org/officeDocument/2006/relationships/notesMaster" Target="/ppt/notesMasters/notesMaster1.xml" Id="R36e00ee175b84ea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245a1c9b10b43b7" /><Relationship Type="http://schemas.openxmlformats.org/officeDocument/2006/relationships/notesMaster" Target="/ppt/notesMasters/notesMaster1.xml" Id="R57013d0d055f4cc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c35856d2e84949" /><Relationship Type="http://schemas.openxmlformats.org/officeDocument/2006/relationships/notesMaster" Target="/ppt/notesMasters/notesMaster1.xml" Id="R3fd3e241e7d348e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19ebc28e754998" /><Relationship Type="http://schemas.openxmlformats.org/officeDocument/2006/relationships/notesMaster" Target="/ppt/notesMasters/notesMaster1.xml" Id="Ra454e6877ded45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16e394e206c4d00" /><Relationship Type="http://schemas.openxmlformats.org/officeDocument/2006/relationships/notesMaster" Target="/ppt/notesMasters/notesMaster1.xml" Id="R0dffe05145ee4c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실제 전하에서 접지 도체평면으로 향하는 전기장선과 평면 아래의 영상전하를 통해 영상법을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§3.1–§3.3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일정과 네 가지 완료 증거를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§3.1–§3.3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유일성 정리가 영상법과 변수 분리법을 하나의 경계값 논리로 연결함을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§3.1–§3.3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영역 밖의 가상 전하로 도체 경계의 전위를 맞춘다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\nabla^2V=0\ \text{in }\Omega,\qquad V|_{\partial\Omega}=f\quad\Longrightarrow\quad V\ \text{is unique}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§3.1–§3.2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영상전하가 물리적으로 존재할 필요는 없다. 실제 영역의 전위와 경계값만 같으면 충분하다.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\nabla^2V=0\ \text{in }\Omega,\qquad V|_{\partial\Omega}=f\quad\Longrightarrow\quad V\ \text{is unique}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접지된 무한 평면 위 점전하 문제의 실제 영역과 경계조건을 정의한다.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 평면에 대한 영상전하의 위치와 부호를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q'= -q,\qquad \mathbf r_q=(0,0,a),\qquad \mathbf r_{q'}=(0,0,-a)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식은 z &gt; 0에서만 물리적 전위를 뜻한다. z &lt; 0의 영상전하는 경계값을 만드는 계산 장치이다.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V(\rho,z)=\frac{q}{4\pi\epsilon_0}\left[\frac{1}{\sqrt{\rho^2+(z-a)^2}}-\frac{1}{\sqrt{\rho^2+(z+a)^2}}\right]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경계조건을 확인한 뒤 유일성 정리를 적용하면 다른 해를 찾을 필요가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V(\rho,0)=0,\qquad V(\rho,z)\sim \frac{1}{r^2}\ \ (r\to\infty)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전위의 법선 미분으로 접지 평면의 면전하밀도를 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\sigma(\rho)=-\epsilon_0\left.\frac{\partial V}{\partial z}\right|_{0^+}=-\frac{qa}{2\pi(\rho^2+a^2)^{3/2}}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접지선이 전하를 공급하므로 도체의 총전하는 고정되지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Q_{\rm ind}=\int_0^\infty\sigma(\rho)\,2\pi\rho\,\mathrm d\rho=-q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힘은 영상전하를 고정한 채 계산한다. 에너지는 도체의 유도전하가 함께 변하므로 단순한 두 점전하 에너지의 절반이다.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F=-\frac{q^2}{16\pi\epsilon_0a^2}\,\hat{\mathbf z},\qquad U=-\frac{q^2}{16\pi\epsilon_0a}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 위의 모든 점에서 전위가 0이 되도록 거리비를 일정하게 만든다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 구 문제의 영상전하 위치와 크기를 기하학적으로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b=\frac{R^2}{a},\qquad q'=-\frac{R}{a}q\qquad(a&gt;R)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전하와 하나의 영상전하가 만드는 전위가 r = R 경계를 만족한다.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V(\mathbf r)=\frac{1}{4\pi\epsilon_0}\left(\frac{q}{|\mathbf r-a\hat{\mathbf z}|}+\frac{q'}{|\mathbf r-b\hat{\mathbf z}|}\right)\quad(r\ge 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거리비와 q′/q = −R/a가 정확히 상쇄되어 모든 θ에서 V = 0이다.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r=R:\quad \frac{|\mathbf r-a\hat{\mathbf z}|}{|\mathbf r-b\hat{\mathbf z}|}=\frac{a}{R}\quad\Longrightarrow\quad V(R,\theta)=0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 구의 유도 면전하밀도와 각도 의존성을 해석한다.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\sigma(\theta)=-\frac{q}{4\pi R}\frac{a^2-R^2}{(a^2+R^2-2aR\cos\theta)^{3/2}}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 전체의 면전하를 적분하면 q′가 나온다. 접지 때문에 그 크기는 q와 같을 필요가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Q_{\rm ind}=q'=-\frac{R}{a}q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힘은 실제 전하 위치에서 영상전하가 만드는 장에 q를 곱해 구한다. 방향은 항상 구 쪽이다.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F=-\frac{1}{4\pi\epsilon_0}\frac{q^2Ra}{(a^2-R^2)^2}\,\hat{\mathbf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접지 조건과 고립 도체의 총전하 조건 차이를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q_1'=-\frac{R}{a}q,\quad b=\frac{R^2}{a},\qquad q_0'=Q+\frac{R}{a}q\ \text{(구 중심)}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영상법 문제의 표준 점검 순서와 적용 한계를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라플라스 방정식을 여러 상미분방정식으로 나누고 경계조건으로 계수를 정한다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\frac{\partial^2V}{\partial x^2}+\frac{\partial^2V}{\partial y^2}=0,\qquad V(x,y)=X(x)Y(y)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 = XY를 대입한 뒤 한 변수 항은 다른 변수와 무관해야 하므로 둘 다 분리상수와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\frac{\partial^2V}{\partial x^2}+\frac{\partial^2V}{\partial y^2}=0,\qquad V(x,y)=X(x)Y(y)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방향의 경계조건이 사인·코사인을 고르고, 다른 방향에서는 지수함수 또는 쌍곡함수가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\frac{X''}{X}=-\frac{Y''}{Y}=-k^2,\qquad X''-k^2X=0,\quad Y''+k^2Y=0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직사각형 영역의 대표 경계값 문제와 좌표 선택을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남은 경계 x = b의 함수 f(y)를 맞추기 위해 모든 모드를 선형결합한다.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V(x,y)=\sum_{n=1}^{\infty}A_n\sinh\!\left(\frac{n\pi x}{a}\right)\sin\!\left(\frac{n\pi y}{a}\right)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사인함수의 직교성이 경계함수에서 n번째 모드만 골라낸다.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A_n=\frac{2}{a\sinh(n\pi b/a)}\int_0^a f(y)\sin\!\left(\frac{n\pi y}{a}\right)\mathrm 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복잡한 급수 계산 전에 경계함수의 모양을 먼저 확인하면 필요한 모드를 즉시 알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f(y)=V_0\sin\!\left(\frac{\pi y}{a}\right)\Rightarrow V=V_0\frac{\sinh(\pi x/a)}{\sinh(\pi b/a)}\sin\!\left(\frac{\pi y}{a}\right)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푸리에 급수 경계값의 수렴과 검산 항목을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§3.3.1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방위각 φ에 의존하지 않으면 반지름과 극각의 두 방정식만 남는다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\frac{1}{r^2}\frac{\partial}{\partial r}\!\left(r^2\frac{\partial V}{\partial r}\right)+\frac{1}{r^2\sin\theta}\frac{\partial}{\partial\theta}\!\left(\sin\theta\frac{\partial V}{\partial\theta}\right)=0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V(r,θ)=R(r)Θ(θ)를 대입하면 각도 방정식의 정규해가 르장드르 다항식이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\frac{1}{r^2}\frac{\partial}{\partial r}\!\left(r^2\frac{\partial V}{\partial r}\right)+\frac{1}{r^2\sin\theta}\frac{\partial}{\partial\theta}\!\left(\sin\theta\frac{\partial V}{\partial\theta}\right)=0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상수 경계는 ℓ=0, cosθ 경계는 ℓ=1이 담당한다. 원점과 무한대에서 유한한 항만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V(r,\theta)=\sum_{\ell=0}^{\infty}\left(A_\ell r^\ell+\frac{B_\ell}{r^{\ell+1}}\right)P_\ell(\cos\theta)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 변수 분리법으로 균일장 속 접지 구의 전위를 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V(r,\theta)=-E_0\left(r-\frac{R^3}{r^2}\right)\cos\theta\quad(r\ge 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구의 위아래에 반대 부호의 면전하가 생기며 먼 거리에서는 유도된 점 쌍극자처럼 보인다.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\sigma(\theta)=3\epsilon_0E_0\cos\theta,\qquad \mathbf p=4\pi\epsilon_0R^3\mathbf E_0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§3.3.2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10월 19일 연습문제의 세 축을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§3.2–§3.3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영상법과 변수 분리법을 경계값 문제의 두 풀이 전략으로 통합하고 중간고사 범위를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\text{경계조건}\xrightarrow{\ \text{유일성}\ }\text{영상법}\qquad\text{라플라스 방정식}\xrightarrow{\ \text{변수 분리}\ }\text{급수해}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§3.1–§3.3</a:t>
            </a:r>
          </a:p>
          <a:p xmlns:a="http://schemas.openxmlformats.org/drawingml/2006/main">
            <a:r>
              <a:t>- 사용자 지정 7주차 범위: §3.1 복습, §3.2, §3.3</a:t>
            </a:r>
          </a:p>
          <a:p xmlns:a="http://schemas.openxmlformats.org/drawingml/2006/main">
            <a:r>
              <a:t>- 전자기학 강의안 PPT·PDF 제작 지침 v1.3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6339192a3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1ddd5a0f841bc" /><Relationship Type="http://schemas.openxmlformats.org/officeDocument/2006/relationships/slideLayout" Target="/ppt/slideLayouts/slideLayout1.xml" Id="Rafb86b583668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86b583668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4d95b99a34be7" /><Relationship Type="http://schemas.openxmlformats.org/officeDocument/2006/relationships/notesSlide" Target="/ppt/notesSlides/notesSlide1.xml" Id="R627ed4e611c741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d49b59fc464f" /><Relationship Type="http://schemas.openxmlformats.org/officeDocument/2006/relationships/notesSlide" Target="/ppt/notesSlides/notesSlide2.xml" Id="Rf4cd2ce33dbf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65fe45a54c90" /><Relationship Type="http://schemas.openxmlformats.org/officeDocument/2006/relationships/notesSlide" Target="/ppt/notesSlides/notesSlide3.xml" Id="R83e86ce5ce37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b8aa6d24a4a69" /><Relationship Type="http://schemas.openxmlformats.org/officeDocument/2006/relationships/image" Target="/ppt/media/image.png" Id="R9a8883a2f1f2403b" /><Relationship Type="http://schemas.openxmlformats.org/officeDocument/2006/relationships/notesSlide" Target="/ppt/notesSlides/notesSlide4.xml" Id="Rc673ceba88384e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0ebe243b44819" /><Relationship Type="http://schemas.openxmlformats.org/officeDocument/2006/relationships/image" Target="/ppt/media/image2.png" Id="R4aa0fd67a8f1420e" /><Relationship Type="http://schemas.openxmlformats.org/officeDocument/2006/relationships/notesSlide" Target="/ppt/notesSlides/notesSlide5.xml" Id="R3775581b323642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fe3d3ea1642b6" /><Relationship Type="http://schemas.openxmlformats.org/officeDocument/2006/relationships/notesSlide" Target="/ppt/notesSlides/notesSlide6.xml" Id="Rb0e7303ac0ca40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584bbb29646fa" /><Relationship Type="http://schemas.openxmlformats.org/officeDocument/2006/relationships/image" Target="/ppt/media/image3.png" Id="Refdfbee2534d4080" /><Relationship Type="http://schemas.openxmlformats.org/officeDocument/2006/relationships/notesSlide" Target="/ppt/notesSlides/notesSlide7.xml" Id="R0b472d1ddd7048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cd3fe110849dd" /><Relationship Type="http://schemas.openxmlformats.org/officeDocument/2006/relationships/image" Target="/ppt/media/image4.png" Id="R58148f4f6495440d" /><Relationship Type="http://schemas.openxmlformats.org/officeDocument/2006/relationships/notesSlide" Target="/ppt/notesSlides/notesSlide8.xml" Id="R3008488e7b0849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3ddac905f46a1" /><Relationship Type="http://schemas.openxmlformats.org/officeDocument/2006/relationships/image" Target="/ppt/media/image5.png" Id="R96cb61a2225f4e47" /><Relationship Type="http://schemas.openxmlformats.org/officeDocument/2006/relationships/notesSlide" Target="/ppt/notesSlides/notesSlide9.xml" Id="Rab278977a5fe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1034a61c6402b" /><Relationship Type="http://schemas.openxmlformats.org/officeDocument/2006/relationships/image" Target="/ppt/media/image6.png" Id="R5577484333554cce" /><Relationship Type="http://schemas.openxmlformats.org/officeDocument/2006/relationships/notesSlide" Target="/ppt/notesSlides/notesSlide10.xml" Id="Reac7724be5e641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31738013e45f9" /><Relationship Type="http://schemas.openxmlformats.org/officeDocument/2006/relationships/image" Target="/ppt/media/image7.png" Id="Rfa5f101a82214ca2" /><Relationship Type="http://schemas.openxmlformats.org/officeDocument/2006/relationships/notesSlide" Target="/ppt/notesSlides/notesSlide11.xml" Id="R9bf0c6f8690149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7722d6d3b446a" /><Relationship Type="http://schemas.openxmlformats.org/officeDocument/2006/relationships/image" Target="/ppt/media/image8.png" Id="R32eec444dbbb474b" /><Relationship Type="http://schemas.openxmlformats.org/officeDocument/2006/relationships/notesSlide" Target="/ppt/notesSlides/notesSlide12.xml" Id="R70671014193048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035640e2c496e" /><Relationship Type="http://schemas.openxmlformats.org/officeDocument/2006/relationships/notesSlide" Target="/ppt/notesSlides/notesSlide13.xml" Id="Rb9e2e180ca4e4e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4c31654174ec4" /><Relationship Type="http://schemas.openxmlformats.org/officeDocument/2006/relationships/image" Target="/ppt/media/image9.png" Id="R30001deef02347df" /><Relationship Type="http://schemas.openxmlformats.org/officeDocument/2006/relationships/notesSlide" Target="/ppt/notesSlides/notesSlide14.xml" Id="R74069c28579b46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ef10e5414d9c" /><Relationship Type="http://schemas.openxmlformats.org/officeDocument/2006/relationships/image" Target="/ppt/media/image10.png" Id="R45f2145a049149a2" /><Relationship Type="http://schemas.openxmlformats.org/officeDocument/2006/relationships/notesSlide" Target="/ppt/notesSlides/notesSlide15.xml" Id="Rd60cc60f45f445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1a49bfe594587" /><Relationship Type="http://schemas.openxmlformats.org/officeDocument/2006/relationships/image" Target="/ppt/media/image11.png" Id="R5608c114f0d145f8" /><Relationship Type="http://schemas.openxmlformats.org/officeDocument/2006/relationships/notesSlide" Target="/ppt/notesSlides/notesSlide16.xml" Id="R53bc6e4520d24e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49ea3875e4a96" /><Relationship Type="http://schemas.openxmlformats.org/officeDocument/2006/relationships/image" Target="/ppt/media/image12.png" Id="R30e9911cdef14b5e" /><Relationship Type="http://schemas.openxmlformats.org/officeDocument/2006/relationships/notesSlide" Target="/ppt/notesSlides/notesSlide17.xml" Id="Re493ec129d7344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1dc757ea24777" /><Relationship Type="http://schemas.openxmlformats.org/officeDocument/2006/relationships/image" Target="/ppt/media/image13.png" Id="R61c889270b9a418d" /><Relationship Type="http://schemas.openxmlformats.org/officeDocument/2006/relationships/notesSlide" Target="/ppt/notesSlides/notesSlide18.xml" Id="Rbe60f12a74e44e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1ffea2ab64aa5" /><Relationship Type="http://schemas.openxmlformats.org/officeDocument/2006/relationships/image" Target="/ppt/media/image14.png" Id="R50566e827a7f4c98" /><Relationship Type="http://schemas.openxmlformats.org/officeDocument/2006/relationships/notesSlide" Target="/ppt/notesSlides/notesSlide19.xml" Id="R3cd13306a7ff44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b7d100ae4ebb" /><Relationship Type="http://schemas.openxmlformats.org/officeDocument/2006/relationships/image" Target="/ppt/media/image15.png" Id="R8760dd87af0c4e6a" /><Relationship Type="http://schemas.openxmlformats.org/officeDocument/2006/relationships/notesSlide" Target="/ppt/notesSlides/notesSlide20.xml" Id="R18ac8748ba7044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ff910ca87496a" /><Relationship Type="http://schemas.openxmlformats.org/officeDocument/2006/relationships/notesSlide" Target="/ppt/notesSlides/notesSlide21.xml" Id="R0f97a141139046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1a5589779473f" /><Relationship Type="http://schemas.openxmlformats.org/officeDocument/2006/relationships/image" Target="/ppt/media/image16.png" Id="Re28e2701a27f412e" /><Relationship Type="http://schemas.openxmlformats.org/officeDocument/2006/relationships/notesSlide" Target="/ppt/notesSlides/notesSlide22.xml" Id="R24d3e1d8164246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00f1956d248fb" /><Relationship Type="http://schemas.openxmlformats.org/officeDocument/2006/relationships/image" Target="/ppt/media/image17.png" Id="Rfeae0bd7f29944bd" /><Relationship Type="http://schemas.openxmlformats.org/officeDocument/2006/relationships/notesSlide" Target="/ppt/notesSlides/notesSlide23.xml" Id="Reb3c15c4155e4e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ae26198354c22" /><Relationship Type="http://schemas.openxmlformats.org/officeDocument/2006/relationships/image" Target="/ppt/media/image18.png" Id="Rafb225fbc5dc4489" /><Relationship Type="http://schemas.openxmlformats.org/officeDocument/2006/relationships/notesSlide" Target="/ppt/notesSlides/notesSlide24.xml" Id="Rfff4e5ce9bc946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d767177904080" /><Relationship Type="http://schemas.openxmlformats.org/officeDocument/2006/relationships/notesSlide" Target="/ppt/notesSlides/notesSlide25.xml" Id="R8e1d764d017347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1fd7af6b74070" /><Relationship Type="http://schemas.openxmlformats.org/officeDocument/2006/relationships/image" Target="/ppt/media/image19.png" Id="R37d85dab3b4a47b1" /><Relationship Type="http://schemas.openxmlformats.org/officeDocument/2006/relationships/notesSlide" Target="/ppt/notesSlides/notesSlide26.xml" Id="Rf4b5954f8a5244d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228cbaf44aad" /><Relationship Type="http://schemas.openxmlformats.org/officeDocument/2006/relationships/image" Target="/ppt/media/image20.png" Id="R7fabc6c732bd4528" /><Relationship Type="http://schemas.openxmlformats.org/officeDocument/2006/relationships/notesSlide" Target="/ppt/notesSlides/notesSlide27.xml" Id="Rd7b614b1b11540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96e3ada4a4d02" /><Relationship Type="http://schemas.openxmlformats.org/officeDocument/2006/relationships/image" Target="/ppt/media/image21.png" Id="R24863d9a6442483a" /><Relationship Type="http://schemas.openxmlformats.org/officeDocument/2006/relationships/notesSlide" Target="/ppt/notesSlides/notesSlide28.xml" Id="R6f2d95301c464c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2d546160c4263" /><Relationship Type="http://schemas.openxmlformats.org/officeDocument/2006/relationships/notesSlide" Target="/ppt/notesSlides/notesSlide29.xml" Id="Ree6a5408fab545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58ba48c214bca" /><Relationship Type="http://schemas.openxmlformats.org/officeDocument/2006/relationships/image" Target="/ppt/media/image22.png" Id="Rb112552ca0664f99" /><Relationship Type="http://schemas.openxmlformats.org/officeDocument/2006/relationships/notesSlide" Target="/ppt/notesSlides/notesSlide30.xml" Id="Rf35e82ae7ff44a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df363dd814390" /><Relationship Type="http://schemas.openxmlformats.org/officeDocument/2006/relationships/image" Target="/ppt/media/image23.png" Id="R846150c8d41d4e3a" /><Relationship Type="http://schemas.openxmlformats.org/officeDocument/2006/relationships/notesSlide" Target="/ppt/notesSlides/notesSlide31.xml" Id="R8de4605ec35b42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000cebf844f7" /><Relationship Type="http://schemas.openxmlformats.org/officeDocument/2006/relationships/image" Target="/ppt/media/image24.png" Id="Rd2d5c1adf619464d" /><Relationship Type="http://schemas.openxmlformats.org/officeDocument/2006/relationships/notesSlide" Target="/ppt/notesSlides/notesSlide32.xml" Id="Reea39c136e0a4fa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30069e6a44a1" /><Relationship Type="http://schemas.openxmlformats.org/officeDocument/2006/relationships/image" Target="/ppt/media/image25.png" Id="R44155179f95b496a" /><Relationship Type="http://schemas.openxmlformats.org/officeDocument/2006/relationships/notesSlide" Target="/ppt/notesSlides/notesSlide33.xml" Id="R87df2d4fa4d24ba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fb59739734c1c" /><Relationship Type="http://schemas.openxmlformats.org/officeDocument/2006/relationships/image" Target="/ppt/media/image26.png" Id="R0c3c40914a8a4f57" /><Relationship Type="http://schemas.openxmlformats.org/officeDocument/2006/relationships/notesSlide" Target="/ppt/notesSlides/notesSlide34.xml" Id="R9507f91785e2463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0eab355c4360" /><Relationship Type="http://schemas.openxmlformats.org/officeDocument/2006/relationships/notesSlide" Target="/ppt/notesSlides/notesSlide35.xml" Id="R73928b9503ed4c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78ac740054ddc" /><Relationship Type="http://schemas.openxmlformats.org/officeDocument/2006/relationships/image" Target="/ppt/media/image27.png" Id="R1ddeb646441d450d" /><Relationship Type="http://schemas.openxmlformats.org/officeDocument/2006/relationships/notesSlide" Target="/ppt/notesSlides/notesSlide36.xml" Id="R6b2791eae7b1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4D891-727A-40F2-B5B2-3C11204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19E36-9A3C-44F8-8418-25A7C4D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ELECTROMAGNETISM 2026 · WEEK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A7FD5-24B1-4492-BBBE-28D00051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23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영상법과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변수 분리법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2FA5E-0E90-408A-9D43-687ADA4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D388-1A7D-47FB-9150-4FE4F15D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Griffiths §3.1 복습 · §3.2 · §3.3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35C8A-5675-4D2E-BCA7-E24FA3F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10월 15일 강의 · 10월 19일 연습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BE13C-2C1B-4776-A2D2-4F8B2754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47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BA9A2-51CD-4338-9855-9A947C1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5265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CF1BB-4A69-4352-8814-3DA3FF9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571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3405-BCDC-4561-91C1-E5114FCA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596" y="2580791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283A6-31DB-4C7A-86A6-EB0BCDF5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173" y="37328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7"/>
          </p:cNvCxnSpPr>
          <p:nvPr/>
        </p:nvCxnSpPr>
        <p:spPr>
          <a:xfrm xmlns:a="http://schemas.openxmlformats.org/drawingml/2006/main" flipH="1">
            <a:off x="9382799" y="2582417"/>
            <a:ext cx="791076" cy="115071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0F74E-43D5-4746-B902-49BB65B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022" y="261368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26672-0CED-4D5A-9AAB-FD8E00C1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7328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13" idx="4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9858376" y="2615593"/>
            <a:ext cx="385599" cy="111725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15CE1-6137-459E-A07C-17327761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673" y="26279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26101-0406-47AE-873E-05947B19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673" y="37328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16" idx="4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0334626" y="2629853"/>
            <a:ext cx="0" cy="110299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4BABD-C3E2-48F8-B1AB-4526F55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323" y="261368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2AF4B-4742-456F-8C1B-F36F2775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923" y="37328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425276" y="2615593"/>
            <a:ext cx="385600" cy="111725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EA6E0-8785-483A-8DF0-7DF1E4CF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49" y="2580791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CDF89-B9FA-4475-9202-85015A08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173" y="37328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495375" y="2582417"/>
            <a:ext cx="791077" cy="115071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0A5DA-16C9-4F34-9B16-2A98B57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433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FE301-00A4-401F-8DF7-CFCF1800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00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18111-4F86-49C1-91CB-206661A4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054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−q′</a:t>
            </a:r>
          </a:p>
        </p:txBody>
      </p:sp>
    </p:spTree>
    <p:extLst>
      <p:ext uri="{BB962C8B-B14F-4D97-AF65-F5344CB8AC3E}">
        <p14:creationId xmlns:p14="http://schemas.microsoft.com/office/powerpoint/2010/main" val="75446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B519C-5A82-4076-89F2-D04D830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W07 / 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28F87-E538-43D6-BA73-02070071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7주차 수업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4C32C-EB4B-4324-816C-0433EF47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66847-DC0F-4795-ADE4-116FF67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EABD9-B058-477D-9F38-DAC95C4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32B4A-61A0-4E1B-8454-36CE704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CBD71-AD04-41AC-B5DD-8ED9A70E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10.15 목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§3.1 복습 · §3.2 · §3.3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AA40-737C-435C-90B9-9CBEC5F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연습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256FE-43A1-4F94-A147-10077464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10.19 월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영상법·변수 분리법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BEE6D-630E-41E0-8830-70EBC270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2C7E0-0171-4E27-AF29-C6CDE66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517C9-8E28-48A3-BCD7-07B7F74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영상전하의 위치와 크기를 경계조건으로 정한다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C8296-15E5-4DD0-861D-B4775E7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7D92A-AB1E-4CA9-B5E8-E84E6E03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81325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접지된 평면과 구의 유도전하를 계산한다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8BEC8-34D3-43F0-89E2-0FC0F2F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776D3-79FC-4F6E-B41D-1053EFEF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직사각형 경계값을 푸리에 급수로 전개한다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86B47-70BC-41EA-A03A-D2AEA57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1D6A1-244F-441A-9B5F-3B8A1B5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67225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축대칭 구면 해에서 필요한 항을 고른다</a:t>
            </a:r>
          </a:p>
        </p:txBody>
      </p:sp>
    </p:spTree>
    <p:extLst>
      <p:ext uri="{BB962C8B-B14F-4D97-AF65-F5344CB8AC3E}">
        <p14:creationId xmlns:p14="http://schemas.microsoft.com/office/powerpoint/2010/main" val="219289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09A62-08E9-43A8-9450-0E6079B3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W07 / LEARNING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04BA5-CBE7-439A-8762-9274F4F2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경계값 문제를 푸는 두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CB9AB-F523-4650-ACFB-8C28BE78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D7C0-4837-4F64-BF49-E01B064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0DB4B-AFE9-4B1F-9DBD-6CDA0F3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632A-CB16-4283-BCD2-6B235F3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956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F47D8-B5BE-4196-9AF2-CE1E604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146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7D80D-B6EF-416F-862E-DEF4779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경계조건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30BD0-F89B-4134-B5D7-E08611B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도체 표면의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8F986-76E4-4879-BDA0-DEFD549A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B48A3-A919-49E4-99FB-84B8F7B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2029778" y="3333751"/>
            <a:ext cx="175069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4DE26-1D38-4DB1-BCCB-94E4F950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956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DEE2C-C471-4BF0-A320-B756D341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146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DC452-1E8D-42CF-A98A-F243F0D7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유일성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F54B9-910D-4BD1-83B9-32936E1D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후보해의 정당화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46C79-0C1F-45E7-B541-92E056EA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3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0F7E8-76E0-4A9F-8081-DD15CDF8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887278" y="3333751"/>
            <a:ext cx="175069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B0B5B-E1C1-4EAE-9FA0-B43FE4A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C1A6C-DE70-4884-97F5-4B1AB97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146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4EBAD-CA4D-427A-A8A8-5FCC3E1B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영상법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61FB7-237E-4943-911B-A2726EC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가상 원천으로 경계 일치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182AB-3AB5-4B9F-8B50-FF6BD32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9C25-8F86-4AB2-8735-9DC9304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473" y="3332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7744778" y="3333751"/>
            <a:ext cx="175069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715E5-6BAA-4ED9-AC4B-7555A6F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956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2752A-537D-415A-AF58-2866641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1146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A16F5-9DD9-44C8-B118-AE770685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변수 분리법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764292-1FAA-4692-B5F7-6B7DD03E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고유함수의 합으로 경계 일치</a:t>
            </a:r>
          </a:p>
        </p:txBody>
      </p:sp>
    </p:spTree>
    <p:extLst>
      <p:ext uri="{BB962C8B-B14F-4D97-AF65-F5344CB8AC3E}">
        <p14:creationId xmlns:p14="http://schemas.microsoft.com/office/powerpoint/2010/main" val="641836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93628-F032-4062-BFBE-E7DBC152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§3.1 RECAP · §3.2 / METHOD OF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983C-08A7-4D35-8353-EDBB61A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유일성 정리가 영상법을 정당화한다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D0871-0F68-43C2-9C39-8D57C1CB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4E72A-F92A-471B-B7A6-DD64281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DFA0A-19CC-4063-B66F-ADCFD5AB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0AB7A-DA14-46DF-B3CA-C5FB26A3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실제 영역 밖의 가상 전하로 도체 경계의 전위를 맞춘다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883a2f1f2403b"/>
          <a:stretch xmlns:a="http://schemas.openxmlformats.org/drawingml/2006/main"/>
        </p:blipFill>
        <p:spPr>
          <a:xfrm xmlns:a="http://schemas.openxmlformats.org/drawingml/2006/main">
            <a:off x="1524000" y="3729452"/>
            <a:ext cx="9144000" cy="6849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E3A05-E230-40B8-B471-CA03BDAE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§3.1 / UNIQUENESS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01A75-DD21-4BDE-8A15-77C5724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경계조건을 만족하는 후보해는 실제 해이다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3F8E1-17A5-4915-81A8-180A8A0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E2F2C-FC63-40B6-B171-1A04C27D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300E0-B94A-41B8-BBB1-E74C5AB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fd67a8f1420e"/>
          <a:stretch xmlns:a="http://schemas.openxmlformats.org/drawingml/2006/main"/>
        </p:blipFill>
        <p:spPr>
          <a:xfrm xmlns:a="http://schemas.openxmlformats.org/drawingml/2006/main">
            <a:off x="857250" y="2107881"/>
            <a:ext cx="10477500" cy="7848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C679E-8FFB-4D15-8FA8-13D93DC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D5EEC-0C0B-4667-B1DB-80AA04B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영상전하가 물리적으로 존재할 필요는 없다. 실제 영역의 전위와 경계값만 같으면 충분하다.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F219C-7E3F-41F5-9A1A-41D860E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47C97-971B-4DED-9C4C-6AA1406D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43500"/>
            <a:ext cx="769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해의 적용 영역을 먼저 적는다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CBF00-6C6C-43EF-BCFD-0EE76C70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8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8736F-9200-4A28-9DE3-A280443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81650"/>
            <a:ext cx="769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영상전하는 그 영역 밖에 둔다</a:t>
            </a:r>
          </a:p>
        </p:txBody>
      </p:sp>
    </p:spTree>
    <p:extLst>
      <p:ext uri="{BB962C8B-B14F-4D97-AF65-F5344CB8AC3E}">
        <p14:creationId xmlns:p14="http://schemas.microsoft.com/office/powerpoint/2010/main" val="98463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090201-8715-4DE5-9457-DA02060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§3.2.1 / GROUNDED 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2CCAD-9A8E-4F94-A8D0-118ED57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점전하와 접지된 무한 도체평면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DD7AB-0362-4D24-930A-03983DB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B380C-284F-4D8F-A695-0FB98A0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C59D3-E541-4175-A90C-D746E147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ABB7-41B2-41B6-8BF2-88FEF198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0B916-0808-4BC8-97AC-47D344F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E5206-53C2-49B2-9F80-E70A884B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83023-034C-4316-B251-D321C6F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EBA4B-2440-4C81-85EC-213C6154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A4CCB-F6FA-4FE1-B5BC-4A2F299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86290-D129-4D51-B8B5-BC51B7BA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E96F8-98E3-4F6A-8ABB-CFC4EC8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59D44-920C-47B8-BC81-C652A1D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234DD-DFC9-410D-9186-D1539CEE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050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60E81-CCCD-4B07-B837-BA305971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917C9-8BC8-43EE-B7CB-CC8685B5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E7B4F-CF95-463F-9978-04D97D8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18" idx="7"/>
          </p:cNvCxnSpPr>
          <p:nvPr/>
        </p:nvCxnSpPr>
        <p:spPr>
          <a:xfrm xmlns:a="http://schemas.openxmlformats.org/drawingml/2006/main" flipH="1">
            <a:off x="1762799" y="2572424"/>
            <a:ext cx="1522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AFD7B-A228-4402-BBC8-5E0F59D3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8A1C3-725D-4CED-AF31-F9D6A524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1" idx="7"/>
          </p:cNvCxnSpPr>
          <p:nvPr/>
        </p:nvCxnSpPr>
        <p:spPr>
          <a:xfrm xmlns:a="http://schemas.openxmlformats.org/drawingml/2006/main" flipH="1">
            <a:off x="2524799" y="2572424"/>
            <a:ext cx="760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A97CC-F5E3-4834-8204-5314CE5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9153B-A64F-4FCB-AAF2-39BD5B83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3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286126" y="2572703"/>
            <a:ext cx="0" cy="1426845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AFFB0-3F4E-42C8-B1B7-C468973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AFC5B-7A13-4D16-AF68-FB1B3362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6" idx="5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286799" y="2572424"/>
            <a:ext cx="760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DFC8A-1FC7-432C-8E04-970EA03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98CB5-DB3E-4352-A7B8-19847EF0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29" idx="5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286799" y="2572424"/>
            <a:ext cx="1522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755A3-45A3-41AC-BC94-1A8C1EC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실제 전하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827C9-0CEF-414E-ACA9-C58CBA44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B2A3A-FCD4-4BC1-8C5C-D4218897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목표: z &gt; 0에서 라플라스 방정식을 만족하고 z = 0에서 전위가 0인 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7FFBE-4474-48DB-B3C3-BDD07A79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도체 내부를 직접 풀지 않고 경계값만 맞춘다.</a:t>
            </a:r>
          </a:p>
        </p:txBody>
      </p:sp>
    </p:spTree>
    <p:extLst>
      <p:ext uri="{BB962C8B-B14F-4D97-AF65-F5344CB8AC3E}">
        <p14:creationId xmlns:p14="http://schemas.microsoft.com/office/powerpoint/2010/main" val="663625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7C8E4F-B2F7-47D6-B55C-983598F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§3.2.1 / IMAGE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EF6C7-B496-470A-BA04-7584B86B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거울 위치의 반대 전하가 평면 전위를 0으로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EBA44-17D0-42D7-BB6F-848E312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22432-2E67-4A63-9641-3686CDC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BAE96-C20D-4E56-8E2D-C5ED73D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980F2-3F14-454A-9368-AA41B8DD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3A58-3686-4784-ABC3-CBD1C848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1506B-547B-4988-8A4F-F5EF0CA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3EFDC-F49F-4EBF-B09F-CECB16E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4B952-941A-4018-A209-AC45CEC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CAA42-1B60-47A0-A58D-E98DE47B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7B8BF-4F06-4BB2-8D75-25EF8FF2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B349D-4F5E-4B62-B9D2-47D4BD7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FC581-3504-4B27-9DCF-1ACF48B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5D5D3-05E7-480E-9702-579FD774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050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FEAFC-F93F-4A9E-A4AF-CA802A7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67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FDBDE-5C85-44A3-A9C8-2667B5FA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340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76963-C3FF-42FF-8D99-31FC568B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B4621-CD13-4E0F-8D2D-59DB5C9A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BA6C6-B826-4B55-91E3-94CA062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0" idx="7"/>
          </p:cNvCxnSpPr>
          <p:nvPr/>
        </p:nvCxnSpPr>
        <p:spPr>
          <a:xfrm xmlns:a="http://schemas.openxmlformats.org/drawingml/2006/main" flipH="1">
            <a:off x="1762799" y="2572424"/>
            <a:ext cx="1522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FE96D-3386-42C0-B59D-7AD8C69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FB4D6-3141-4AF1-8F7C-82ABC262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3" idx="7"/>
          </p:cNvCxnSpPr>
          <p:nvPr/>
        </p:nvCxnSpPr>
        <p:spPr>
          <a:xfrm xmlns:a="http://schemas.openxmlformats.org/drawingml/2006/main" flipH="1">
            <a:off x="2524799" y="2572424"/>
            <a:ext cx="760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483C2-8BAA-416D-94B4-C67349E2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5AF64-3E81-41A2-86F6-CCA07C3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5" idx="4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3286126" y="2572703"/>
            <a:ext cx="0" cy="1426845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3AAB7-A567-4256-B601-0AC8D4B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9A454-9E1C-4C46-8543-99483D19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8" idx="5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286799" y="2572424"/>
            <a:ext cx="760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5C45F-089B-4998-BCF0-5CCCF9E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8E199-48A0-4D32-9AEF-A954581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173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31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286799" y="2572424"/>
            <a:ext cx="1522653" cy="1427403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DE6CA9-B753-4EB6-ACDF-9D74E7A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실제 영역 z &gt; 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DEED5A-D2A1-40A8-8293-52006B2D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055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계산용 영역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fbee2534d4080"/>
          <a:stretch xmlns:a="http://schemas.openxmlformats.org/drawingml/2006/main"/>
        </p:blipFill>
        <p:spPr>
          <a:xfrm xmlns:a="http://schemas.openxmlformats.org/drawingml/2006/main">
            <a:off x="6381750" y="2660400"/>
            <a:ext cx="4476750" cy="3465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AED53-CCF7-4DC7-A2F9-CAEE56A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전하에서 평면의 모든 점까지 거리가 같으므로 전위가 상쇄된다.</a:t>
            </a:r>
          </a:p>
        </p:txBody>
      </p:sp>
    </p:spTree>
    <p:extLst>
      <p:ext uri="{BB962C8B-B14F-4D97-AF65-F5344CB8AC3E}">
        <p14:creationId xmlns:p14="http://schemas.microsoft.com/office/powerpoint/2010/main" val="1651338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43941-3363-4F69-8A2D-8C4A9BD7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§3.2.1 / POTENTIAL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C5634-F6A9-4D8C-A2E3-AECAC7B7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영역의 전위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A7AE6-435B-4799-AAC2-6C39D085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15B4C-EC0C-45F5-9A27-A37F4737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45299-6AB3-47A0-A135-11B9B3C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48f4f6495440d"/>
          <a:stretch xmlns:a="http://schemas.openxmlformats.org/drawingml/2006/main"/>
        </p:blipFill>
        <p:spPr>
          <a:xfrm xmlns:a="http://schemas.openxmlformats.org/drawingml/2006/main">
            <a:off x="2055091" y="1905000"/>
            <a:ext cx="8081818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533D-CB20-4F02-ABD8-A5FBA85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28562-7931-4126-B8B2-E2BC68D4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식은 z &gt; 0에서만 물리적 전위를 뜻한다. z &lt; 0의 영상전하는 경계값을 만드는 계산 장치이다.</a:t>
            </a:r>
          </a:p>
        </p:txBody>
      </p:sp>
    </p:spTree>
    <p:extLst>
      <p:ext uri="{BB962C8B-B14F-4D97-AF65-F5344CB8AC3E}">
        <p14:creationId xmlns:p14="http://schemas.microsoft.com/office/powerpoint/2010/main" val="96609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EE9AB-3F4F-407B-9B45-7B89C8C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BOUNDARY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2D44D-AE9B-4D0D-ACB9-B84D8498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전위식은 평면 경계와 무한대 조건을 만족한다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C8F49-9880-4031-886F-4115FA57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656C7-8184-4AB0-B3A7-48EEF226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D63D0-BDB0-45D9-A1C5-638B003D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b61a2225f4e47"/>
          <a:stretch xmlns:a="http://schemas.openxmlformats.org/drawingml/2006/main"/>
        </p:blipFill>
        <p:spPr>
          <a:xfrm xmlns:a="http://schemas.openxmlformats.org/drawingml/2006/main">
            <a:off x="1977910" y="1905000"/>
            <a:ext cx="8236179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0815D-5672-4C5B-A691-817B2F6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83F62-8CF9-4D7E-9ACF-560E7011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경계조건을 확인한 뒤 유일성 정리를 적용하면 다른 해를 찾을 필요가 없다.</a:t>
            </a:r>
          </a:p>
        </p:txBody>
      </p:sp>
    </p:spTree>
    <p:extLst>
      <p:ext uri="{BB962C8B-B14F-4D97-AF65-F5344CB8AC3E}">
        <p14:creationId xmlns:p14="http://schemas.microsoft.com/office/powerpoint/2010/main" val="1612296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B2A31-8A98-4F63-8C01-79C0E51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INDUCED SURFACE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699A-D8E0-4DB2-8CA7-333D861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유도된 면전하는 전하 바로 아래에 가장 많이 모인다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301A2-5E19-4FAE-B8C4-0BFA56F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996C-AAF3-473F-9BE4-3A2472B7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BD5F-E935-4B8D-B972-374B59C3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5F1E-B8EC-4765-9678-3F4D0103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A8DF9-D3A1-4D17-B1E5-B61D7CCA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9BB86-FE08-4C39-9432-B3A0DECA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56232-43DF-45F5-92AC-39712C89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FEA11-23C3-4890-992B-589E74FA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46CD6-6661-4F93-A6EB-7DCCDA99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60243-96F1-4456-B194-FB0D975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37155-60B1-4FF6-9EA4-D02A14F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87683-43F3-49DA-93F0-0ECCC542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BC05E-96CA-41A6-93EA-45F8F1F7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050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5A754-D852-435D-BA47-F87F3FC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48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B0A7F-BB74-45F3-8FB5-525EC78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76200" cy="1212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4E85A-D8B7-4B68-A620-256ED7CE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48150"/>
            <a:ext cx="76200" cy="171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FB79E-D1E3-417E-84D0-92027190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248150"/>
            <a:ext cx="76200" cy="254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1F36D-AEC3-453C-A4EA-31326B0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48150"/>
            <a:ext cx="76200" cy="387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06C73-708C-4F80-8C25-6AEFF9B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48150"/>
            <a:ext cx="76200" cy="565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86284-3257-400E-8769-9D4300B8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481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EF143-0825-40BF-9914-D800495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48150"/>
            <a:ext cx="76200" cy="565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FA6BA-7A6D-46B7-8F64-BAD468E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48150"/>
            <a:ext cx="76200" cy="387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EBE6C-62E0-4CD6-AF34-5E8D7450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48150"/>
            <a:ext cx="76200" cy="254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135C5-AC08-4A2C-9F90-66228688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48150"/>
            <a:ext cx="76200" cy="171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6E862-6722-4873-BF43-9E00E530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48150"/>
            <a:ext cx="76200" cy="1212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455CC-BA3D-4BFA-99A1-F60B9895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σ(ρ) &lt;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40341-773A-4C24-9D7E-DEBF20E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파란 막대의 길이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5B452-E09B-40EC-8193-EDA94F7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29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∝ |σ(ρ)|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7484333554cce"/>
          <a:stretch xmlns:a="http://schemas.openxmlformats.org/drawingml/2006/main"/>
        </p:blipFill>
        <p:spPr>
          <a:xfrm xmlns:a="http://schemas.openxmlformats.org/drawingml/2006/main">
            <a:off x="6191250" y="2433433"/>
            <a:ext cx="4953000" cy="848134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01C14-AF06-441F-B094-B1694AC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법선 미분이 면전하밀도를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609651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16403-0AB0-4114-A6E9-ED073F68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CHARGE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E5EB7-F4DD-4A77-B81E-62A77BC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평면에 유도된 총전하는 −q이다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EFF7-3C35-4392-BFF3-B88D11F8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D107A-992F-4F94-9145-BF4702B2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19BC1-9797-4239-876A-80379A9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f101a82214ca2"/>
          <a:stretch xmlns:a="http://schemas.openxmlformats.org/drawingml/2006/main"/>
        </p:blipFill>
        <p:spPr>
          <a:xfrm xmlns:a="http://schemas.openxmlformats.org/drawingml/2006/main">
            <a:off x="3283337" y="1905000"/>
            <a:ext cx="5625326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2DA18-24D4-4380-AF21-FD9261EA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91823-0A04-4C94-AB31-C30B5C0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접지선이 전하를 공급하므로 도체의 총전하는 고정되지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54308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4FF4A-57CD-4C31-A012-D5C26CD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FORCE AND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7E9B1-E1E6-4861-916F-8304AD2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힘은 영상전하와의 쿨롱 힘으로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8A347-0AC3-4066-A39C-29A7930C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AF96C-5BE7-43DF-83F8-27539440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F233A-E5C3-4FBC-A477-5C7B397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ec444dbbb474b"/>
          <a:stretch xmlns:a="http://schemas.openxmlformats.org/drawingml/2006/main"/>
        </p:blipFill>
        <p:spPr>
          <a:xfrm xmlns:a="http://schemas.openxmlformats.org/drawingml/2006/main">
            <a:off x="2657431" y="1905000"/>
            <a:ext cx="6877138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77045-ACC8-448F-B7CD-E26C927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B6BAB-0911-4856-AB41-843451C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힘은 영상전하를 고정한 채 계산한다. 에너지는 도체의 유도전하가 함께 변하므로 단순한 두 점전하 에너지의 절반이다.</a:t>
            </a:r>
          </a:p>
        </p:txBody>
      </p:sp>
    </p:spTree>
    <p:extLst>
      <p:ext uri="{BB962C8B-B14F-4D97-AF65-F5344CB8AC3E}">
        <p14:creationId xmlns:p14="http://schemas.microsoft.com/office/powerpoint/2010/main" val="1349745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6647E-9267-406F-9B3C-8C108F59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§3.2.2 / GROUNDED 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636EB-8ED1-4562-8A76-1B70EB31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구면 경계에는 위치와 크기가 다른 영상전하가 필요하다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5768F-4571-4EA8-B5AD-B98C69A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8E8D1-E4F7-4073-B244-327272F5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8543-6C54-4914-8857-0BB3E8D7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0A640-A8A7-43CC-800B-2298B9EA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구면 위의 모든 점에서 전위가 0이 되도록 거리비를 일정하게 만든다</a:t>
            </a:r>
          </a:p>
        </p:txBody>
      </p:sp>
    </p:spTree>
    <p:extLst>
      <p:ext uri="{BB962C8B-B14F-4D97-AF65-F5344CB8AC3E}">
        <p14:creationId xmlns:p14="http://schemas.microsoft.com/office/powerpoint/2010/main" val="1617122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C56D7-1CC6-45D1-B4AF-747AB57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§3.2.2 /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E9908-4B07-4B50-8F60-016F453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영상전하는 구 안의 같은 축 위에 놓인다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56ABA-7CA8-44FB-82B9-678B99F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ED37F-9348-4961-AAC9-3B634706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019B-3575-4401-8E57-F05B7E0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BF7B2-4C57-4449-93D6-3D0DB546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4C2E7-E0C8-43AE-A6B7-280D2F8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65031-5CA5-4510-859E-C23C3AAD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821BC-694D-4BDE-A178-EB1D1EF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85943-C973-4B57-B6DC-6AC21AE4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C58FA-9E1E-44A9-AA2C-BCF4E2C6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95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B3F9E-CD54-45BB-B517-3549076D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88F4E-D838-4AE8-9902-D61322A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B09E-258E-4C8E-9B05-B6CAB6D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E448C-2400-418B-B484-1330D2E2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01deef02347df"/>
          <a:stretch xmlns:a="http://schemas.openxmlformats.org/drawingml/2006/main"/>
        </p:blipFill>
        <p:spPr>
          <a:xfrm xmlns:a="http://schemas.openxmlformats.org/drawingml/2006/main">
            <a:off x="6810375" y="2431933"/>
            <a:ext cx="4000500" cy="66063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5AB07-4330-4F0E-8FE4-76D45658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 &gt; R이면 b &lt; R이므로 영상전하는 실제 영역 r ≥ R 밖에 있다.</a:t>
            </a:r>
          </a:p>
        </p:txBody>
      </p:sp>
    </p:spTree>
    <p:extLst>
      <p:ext uri="{BB962C8B-B14F-4D97-AF65-F5344CB8AC3E}">
        <p14:creationId xmlns:p14="http://schemas.microsoft.com/office/powerpoint/2010/main" val="11195780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7974E-648A-4B62-9680-3DAA1760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§3.2.2 / POTENTIAL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02C4-77D8-47A2-B6B4-8E0112CF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 구 바깥의 전위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81256-F4BB-4D36-A981-0FFBFB4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9B68F-5E89-416F-A999-D27AB5A7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4F6DE-145F-4982-8093-DBC4E42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2145a049149a2"/>
          <a:stretch xmlns:a="http://schemas.openxmlformats.org/drawingml/2006/main"/>
        </p:blipFill>
        <p:spPr>
          <a:xfrm xmlns:a="http://schemas.openxmlformats.org/drawingml/2006/main">
            <a:off x="1953617" y="1905000"/>
            <a:ext cx="8284766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FAB9D-DF01-4CE9-9A4B-8331B87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12166-7866-4F03-80F0-07B8941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전하와 하나의 영상전하가 만드는 전위가 r = R 경계를 만족한다.</a:t>
            </a:r>
          </a:p>
        </p:txBody>
      </p:sp>
    </p:spTree>
    <p:extLst>
      <p:ext uri="{BB962C8B-B14F-4D97-AF65-F5344CB8AC3E}">
        <p14:creationId xmlns:p14="http://schemas.microsoft.com/office/powerpoint/2010/main" val="12551976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BB74D-86D4-4680-AAAF-19CF5EC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BOUNDARY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9766-4969-48AD-A16C-965A8531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거리비가 구면 전체에서 일정하다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484F-7F5E-49FE-A15F-9D72E92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BE9C8-F3F1-49D2-BD18-BDA4CCAB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2CAE9-8393-4B31-82EE-76DEC56A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c114f0d145f8"/>
          <a:stretch xmlns:a="http://schemas.openxmlformats.org/drawingml/2006/main"/>
        </p:blipFill>
        <p:spPr>
          <a:xfrm xmlns:a="http://schemas.openxmlformats.org/drawingml/2006/main">
            <a:off x="2107750" y="1905000"/>
            <a:ext cx="7976499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EAB77-AEAC-4089-BE5D-213DB8F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D5752-CE0F-4787-8DE8-FE3E7EA6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거리비와 q′/q = −R/a가 정확히 상쇄되어 모든 θ에서 V = 0이다.</a:t>
            </a:r>
          </a:p>
        </p:txBody>
      </p:sp>
    </p:spTree>
    <p:extLst>
      <p:ext uri="{BB962C8B-B14F-4D97-AF65-F5344CB8AC3E}">
        <p14:creationId xmlns:p14="http://schemas.microsoft.com/office/powerpoint/2010/main" val="1693099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56A5B-41E6-4EB2-9A5B-2C755A6B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INDUCED SURFACE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C88B5-F8D5-46DD-885B-6E76C9F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가까운 쪽 구면에 유도전하가 집중된다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46B53-3529-4820-8994-2BA0E4B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546BB-653C-4540-80DB-8BEA6B6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3D03A-0B92-4BE1-8396-74F1B05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C8060-FE23-4106-A4D2-2A3A606E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311F3-54C6-4053-83BF-AF2A5B1B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BC326-751A-45C8-B31D-46D903E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3B872-E7FE-421E-B050-408D890B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E63BC-84F4-4820-A99E-B105C016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75724-94B7-4FDD-9964-AABA1FC0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B752-6734-4F40-82D7-31B8F81C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33A8F-FCDA-432A-AEEC-2FDD68CF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7334D-04B0-4CE6-88DF-3BB5420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397" y="23289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776C4-5AD1-4795-B234-DB70F899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21" y="2684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0FF6F-BBB9-4CB7-9D30-62CEF2C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439" y="3083932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E649D-328A-4EC5-8C1C-4D348163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05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644F7-EE3A-454C-8142-7E5A289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439" y="3926468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7C2EC-7FD8-4734-9CBE-06A668D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21" y="43255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86348-0316-492E-BB5D-23C1BB85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397" y="46814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9911cdef14b5e"/>
          <a:stretch xmlns:a="http://schemas.openxmlformats.org/drawingml/2006/main"/>
        </p:blipFill>
        <p:spPr>
          <a:xfrm xmlns:a="http://schemas.openxmlformats.org/drawingml/2006/main">
            <a:off x="6572250" y="2356855"/>
            <a:ext cx="4762500" cy="81079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4D6BC-CA67-4687-A73E-B695196A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θ = 0에서 |σ|가 가장 크고 반대편으로 갈수록 작아진다.</a:t>
            </a:r>
          </a:p>
        </p:txBody>
      </p:sp>
    </p:spTree>
    <p:extLst>
      <p:ext uri="{BB962C8B-B14F-4D97-AF65-F5344CB8AC3E}">
        <p14:creationId xmlns:p14="http://schemas.microsoft.com/office/powerpoint/2010/main" val="1202989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E4037-7009-4494-91C8-E1078FE3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TOTAL INDUCED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8FF07-E1E7-41A8-B065-A78F017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 구의 총 유도전하는 영상전하와 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A13EF-084F-471A-A8ED-DDA9E69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6186A-B4FB-4431-AF6E-3C04D1E9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8551D-4B38-45E2-9CD3-EC0EF83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889270b9a418d"/>
          <a:stretch xmlns:a="http://schemas.openxmlformats.org/drawingml/2006/main"/>
        </p:blipFill>
        <p:spPr>
          <a:xfrm xmlns:a="http://schemas.openxmlformats.org/drawingml/2006/main">
            <a:off x="4133134" y="1905000"/>
            <a:ext cx="3925732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F4BB-7EB2-4F35-9F0F-1A62A10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0A1CE-5E1E-4D83-A849-C49A77D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구면 전체의 면전하를 적분하면 q′가 나온다. 접지 때문에 그 크기는 q와 같을 필요가 없다.</a:t>
            </a:r>
          </a:p>
        </p:txBody>
      </p:sp>
    </p:spTree>
    <p:extLst>
      <p:ext uri="{BB962C8B-B14F-4D97-AF65-F5344CB8AC3E}">
        <p14:creationId xmlns:p14="http://schemas.microsoft.com/office/powerpoint/2010/main" val="13365598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5F866-EF16-456D-86D8-E8F06583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FORCE ON THE REAL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8392-13B1-45EC-8424-AA16C472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전하가 받는 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158AA-2EDF-43CF-9027-F3A0CE0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EF3C9-65D6-48CE-9BF8-30C15786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AF7FF-4E8D-4BA4-B885-20B8F62A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66e827a7f4c98"/>
          <a:stretch xmlns:a="http://schemas.openxmlformats.org/drawingml/2006/main"/>
        </p:blipFill>
        <p:spPr>
          <a:xfrm xmlns:a="http://schemas.openxmlformats.org/drawingml/2006/main">
            <a:off x="3787392" y="1905000"/>
            <a:ext cx="4617215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1F08E-6A8B-4DEF-A4BD-AAAFA9B6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20111-08B5-43E2-805B-8EF80387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힘은 실제 전하 위치에서 영상전하가 만드는 장에 q를 곱해 구한다. 방향은 항상 구 쪽이다.</a:t>
            </a:r>
          </a:p>
        </p:txBody>
      </p:sp>
    </p:spTree>
    <p:extLst>
      <p:ext uri="{BB962C8B-B14F-4D97-AF65-F5344CB8AC3E}">
        <p14:creationId xmlns:p14="http://schemas.microsoft.com/office/powerpoint/2010/main" val="222444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761CE-E833-4303-BB45-4555A49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ISOLATED CONDUCTING 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C7B94-3F3C-47CA-A088-6662E1A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고립된 구의 총전하는 중심 영상전하가 맞춘다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D7363-BEB1-44CB-97C0-EBE7030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0122-A80E-4DEF-9622-7AC644F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B29C6-2961-4717-BDF6-5E8D0713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0705-A987-4984-B3A6-A2425625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671B6-BFA0-4BCA-9DF5-CB5557B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62F0B-944B-42E0-BE4D-567AEAE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D8FAA-9A74-4D07-A056-B3644E4F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1D510-FF3B-4103-B817-400DEB2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E8C9D-EB56-4620-AD28-EA8B5056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95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9E7E2-8EB5-4E29-B091-F5EC5A96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AA747-B0DC-4925-A664-A64394C5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73CD4-FF65-43F2-B31E-4AB6F54C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1167F-5382-423C-8E6B-05C518F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67676-E39D-411E-8772-0FFEBD1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5901F-D8EA-464A-8C9C-C5C14F8B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q₀′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0dd87af0c4e6a"/>
          <a:stretch xmlns:a="http://schemas.openxmlformats.org/drawingml/2006/main"/>
        </p:blipFill>
        <p:spPr>
          <a:xfrm xmlns:a="http://schemas.openxmlformats.org/drawingml/2006/main">
            <a:off x="6572250" y="2478503"/>
            <a:ext cx="4762500" cy="56749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DBDD5-8A7D-497A-9E18-32CD3F5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중심 전하는 구면 전위를 일정하게 올리지만 등전위 조건은 깨뜨리지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602708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2BBE2-E801-494C-A363-006D051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METHOD OF IMAGES /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765F9-665B-423F-9B74-8B7E7757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영상법은 경계와 대칭이 맞을 때만 간단하다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EB439-E182-41E5-8A6B-5EFD4D0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E94DE-3399-47D1-A6D3-07F6208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950E5-AAFF-4D4C-A30B-BBBB956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4D6F-C085-4C24-97F6-786FED06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먼저 적을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BEB1E-9EFC-44DE-82B2-AD1007E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FB4F1-5BD5-43C0-8DE2-7B8F3B53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 전위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도체의 총전하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96190-1FBA-4F43-A86B-717EB6D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반드시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E9ECE-8BE5-4094-92D6-0FBD0596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BD6B1-572E-4B1C-BFE9-CCE2F81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영상전하가 실제 영역 밖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경계조건 만족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무한대 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6CADC-F439-409C-9DEA-B2B6A13B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00116-66ED-434C-93F8-0EA854A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46BE2-C061-44E2-A11E-1D7576A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영상전하는 실제 전하가 아님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내부장은 해석 대상 아님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에너지의 1/2 계수</a:t>
            </a:r>
          </a:p>
        </p:txBody>
      </p:sp>
    </p:spTree>
    <p:extLst>
      <p:ext uri="{BB962C8B-B14F-4D97-AF65-F5344CB8AC3E}">
        <p14:creationId xmlns:p14="http://schemas.microsoft.com/office/powerpoint/2010/main" val="4194221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85F5E-8742-43B3-BA94-988E783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§3.3 / SEPARATION OF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2C36A-3BDA-4F4C-814A-1B2FC32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변수 분리법은 경계함수를 고유함수의 합으로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2E18-24FB-4CFB-AA16-5852A552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272B3-64E5-4AAE-A94C-1B759DC5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1D021-DA02-4542-B0DE-EF4250E6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726C1-5B8B-4FEC-B3BE-1449477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라플라스 방정식을 여러 상미분방정식으로 나누고 경계조건으로 계수를 정한다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e2701a27f412e"/>
          <a:stretch xmlns:a="http://schemas.openxmlformats.org/drawingml/2006/main"/>
        </p:blipFill>
        <p:spPr>
          <a:xfrm xmlns:a="http://schemas.openxmlformats.org/drawingml/2006/main">
            <a:off x="2805559" y="3571875"/>
            <a:ext cx="6580883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991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B1472-B39E-43A5-90D2-766B3F6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§3.3.1 / CARTESIAN COORDINATES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4520B-7395-4880-A28F-945876D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곱 형태를 가정하면 두 변수의 식이 분리된다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54CE0-BEB9-4125-AD48-77CA118A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9E417-DB11-4AFA-A607-F716ED3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145D-B8D0-4826-968B-14F095B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e0bd7f29944bd"/>
          <a:stretch xmlns:a="http://schemas.openxmlformats.org/drawingml/2006/main"/>
        </p:blipFill>
        <p:spPr>
          <a:xfrm xmlns:a="http://schemas.openxmlformats.org/drawingml/2006/main">
            <a:off x="2178808" y="1905000"/>
            <a:ext cx="7834384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800DF-F502-4BB4-95D1-F1495DEA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6D212-01C4-4F95-B8DC-C5E749F3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 = XY를 대입한 뒤 한 변수 항은 다른 변수와 무관해야 하므로 둘 다 분리상수와 같다.</a:t>
            </a:r>
          </a:p>
        </p:txBody>
      </p:sp>
    </p:spTree>
    <p:extLst>
      <p:ext uri="{BB962C8B-B14F-4D97-AF65-F5344CB8AC3E}">
        <p14:creationId xmlns:p14="http://schemas.microsoft.com/office/powerpoint/2010/main" val="15664390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C2C0A-29C1-4EB4-BC6E-2C54B082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SEPARATED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6AA87-6BD7-4409-A0C2-B4C91FA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분리상수의 부호가 해의 모양을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B394D-AF8F-4E33-AE13-2FF20AF5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280CC-6258-46D8-B7A9-8BBA16B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4F64F-9E61-483A-A95F-C7919D3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225fbc5dc4489"/>
          <a:stretch xmlns:a="http://schemas.openxmlformats.org/drawingml/2006/main"/>
        </p:blipFill>
        <p:spPr>
          <a:xfrm xmlns:a="http://schemas.openxmlformats.org/drawingml/2006/main">
            <a:off x="857250" y="1963377"/>
            <a:ext cx="10477500" cy="10738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95236-3DB9-4765-AC7C-CEE5653F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94054-EB0F-4E61-899F-BB5BBAB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방향의 경계조건이 사인·코사인을 고르고, 다른 방향에서는 지수함수 또는 쌍곡함수가 남는다.</a:t>
            </a:r>
          </a:p>
        </p:txBody>
      </p:sp>
    </p:spTree>
    <p:extLst>
      <p:ext uri="{BB962C8B-B14F-4D97-AF65-F5344CB8AC3E}">
        <p14:creationId xmlns:p14="http://schemas.microsoft.com/office/powerpoint/2010/main" val="20047202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502C3-3E13-410A-A232-882C663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RECTANGULAR REGION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916B-537F-4E35-924F-69B4CF4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변은 0, 한 변은 f(y)인 직사각형 경계값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86138-97E3-4235-989C-B19467C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EF91A-AC1A-4E37-AF5E-4FD2D0A6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6EFFC-41EF-4CBA-82B3-A28EF03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FEF34-9DA0-4DAF-AC01-0AEC888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381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8854E-F3E4-4A7D-B2A0-E658AA4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67275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2A9D9-64E1-4D49-95C4-BDC0272A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67000"/>
            <a:ext cx="381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6ED12-C6A9-4DFD-85AC-C865937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V(0,y)=0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F5BA-8AB6-4F80-8333-11CAA5FB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V(b,y)=f(y)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47F78-04D8-4530-AEC8-985480AD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81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V(x,0)=0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E22D7-896F-414B-99FE-EF85F3C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71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V(x,a)=0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B15C-1404-45B5-871C-ADB849B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434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41282-CF3A-4F29-AF35-2979398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33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187FD-562C-4EEF-AD5F-3416747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 &lt; y &lt; a의 두 경계가 사인 고유함수를 선택한다.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x = 0의 경계가 sinh 항을 선택한다.</a:t>
            </a:r>
          </a:p>
        </p:txBody>
      </p:sp>
    </p:spTree>
    <p:extLst>
      <p:ext uri="{BB962C8B-B14F-4D97-AF65-F5344CB8AC3E}">
        <p14:creationId xmlns:p14="http://schemas.microsoft.com/office/powerpoint/2010/main" val="8131361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B724-6CB1-413E-A743-9DFEDFB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MODE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B8551-B070-43B9-B4B1-EBE9C8D9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모드는 라플라스 방정식과 세 영 경계를 만족한다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85998-B760-44E7-89A1-DF07986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74B40-6F3B-46F7-A72A-F6EF1ED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7A8C8-DFA4-4B27-A4E7-2C43F82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85dab3b4a47b1"/>
          <a:stretch xmlns:a="http://schemas.openxmlformats.org/drawingml/2006/main"/>
        </p:blipFill>
        <p:spPr>
          <a:xfrm xmlns:a="http://schemas.openxmlformats.org/drawingml/2006/main">
            <a:off x="2893029" y="1905000"/>
            <a:ext cx="6405942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CD957-13AA-4978-98CD-6FA35F58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01903-53E9-4180-B7E2-F878159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남은 경계 x = b의 함수 f(y)를 맞추기 위해 모든 모드를 선형결합한다.</a:t>
            </a:r>
          </a:p>
        </p:txBody>
      </p:sp>
    </p:spTree>
    <p:extLst>
      <p:ext uri="{BB962C8B-B14F-4D97-AF65-F5344CB8AC3E}">
        <p14:creationId xmlns:p14="http://schemas.microsoft.com/office/powerpoint/2010/main" val="244645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C073F-7A5D-4161-B250-D819499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FOURIER COEFFICIENTS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D07B3-F0B1-437C-BE93-E6F11140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직교성을 이용해 각 모드의 계수를 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C7030-5394-4080-B627-BC8C97F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4CD39-3D2E-4FA8-A23E-4819DC5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36D45-E4DF-43CE-A168-5274CAC5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c6c732bd4528"/>
          <a:stretch xmlns:a="http://schemas.openxmlformats.org/drawingml/2006/main"/>
        </p:blipFill>
        <p:spPr>
          <a:xfrm xmlns:a="http://schemas.openxmlformats.org/drawingml/2006/main">
            <a:off x="2140232" y="1905000"/>
            <a:ext cx="7911536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19826-F813-4FC5-B205-DDCB36F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56F58-2F21-432A-93B8-4A6F370F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사인함수의 직교성이 경계함수에서 n번째 모드만 골라낸다.</a:t>
            </a:r>
          </a:p>
        </p:txBody>
      </p:sp>
    </p:spTree>
    <p:extLst>
      <p:ext uri="{BB962C8B-B14F-4D97-AF65-F5344CB8AC3E}">
        <p14:creationId xmlns:p14="http://schemas.microsoft.com/office/powerpoint/2010/main" val="4473913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9D507-4BF6-40BD-AE4C-A3D0D5D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SINGLE-MODE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4BFE5-954E-4F5B-867F-FC3F940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경계가 하나의 사인 모드이면 급수도 한 항으로 끝난다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A6192-87F7-4082-A465-57FE53B9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D52B2-B87B-4178-886C-7C6852C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47670-E868-4D4B-B0E2-1DC0C8F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63d9a6442483a"/>
          <a:stretch xmlns:a="http://schemas.openxmlformats.org/drawingml/2006/main"/>
        </p:blipFill>
        <p:spPr>
          <a:xfrm xmlns:a="http://schemas.openxmlformats.org/drawingml/2006/main">
            <a:off x="1495367" y="1905000"/>
            <a:ext cx="9201265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56B9-AF49-4BFD-A354-D8F5930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A85B-A479-43F3-B85C-E85D3AC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급수 계산 전에 경계함수의 모양을 먼저 확인하면 필요한 모드를 즉시 알 수 있다.</a:t>
            </a:r>
          </a:p>
        </p:txBody>
      </p:sp>
    </p:spTree>
    <p:extLst>
      <p:ext uri="{BB962C8B-B14F-4D97-AF65-F5344CB8AC3E}">
        <p14:creationId xmlns:p14="http://schemas.microsoft.com/office/powerpoint/2010/main" val="5625099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1F49F-40CD-4B35-9B7C-309FFA1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SERIES SOLUTION /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365D4-6C9C-4251-AAE4-DD4A5B9B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급수해는 내부에서 매끄럽고 경계의 불연속점에서 평균으로 수렴한다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9B739-90DE-4EA4-8C67-1D6D45C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9E518-0F65-44E0-BF20-5127163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C73E-87BB-4DC4-BDD7-815B706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74E29-2239-47CD-A8EB-D9769AF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4856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70DE-23A1-458C-A1F0-2F82B88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048" y="4856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048703" y="4857751"/>
            <a:ext cx="390334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088C3-8882-4713-80F1-0411B04C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4856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1B03D-9E3B-4582-9721-1622F81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2380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9" idx="0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V="1">
            <a:off x="1047751" y="2382203"/>
            <a:ext cx="0" cy="2474595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81BE7-E7DC-43A2-AF1C-A8DBDB5C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F4186-3AFA-4FCA-AF5D-675758D8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2417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019C7-5D9F-4388-B975-B0E83A9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24175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5BC8F-004D-4F21-827C-E3DE60DE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39328-5892-4CFC-8953-AA5FF6D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f(y)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2B05B-6375-48CA-9918-47E53BF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경계의 계단함수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9776D-E1ED-4C17-B8DF-7C56389D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검산 순서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AD49A-9C9E-44A6-BFF4-FFC5D55F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FBD7F-C2BA-4111-A557-FC91DAB3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항이 라플라스 방정식을 만족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94A81-5100-4F2C-BFD2-1FFE0D4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05E5B-6F42-4F06-BA7B-64BC822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모든 경계조건을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23725-EED6-4ED4-925D-8E9D4F8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47C32-0400-49F6-B09D-FE271772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대칭성과 단위를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7553F-2B6A-4276-9CB4-FC930EF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30376-E170-4550-BF4B-269E554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모드 수를 늘려 내부 수렴을 확인</a:t>
            </a:r>
          </a:p>
        </p:txBody>
      </p:sp>
    </p:spTree>
    <p:extLst>
      <p:ext uri="{BB962C8B-B14F-4D97-AF65-F5344CB8AC3E}">
        <p14:creationId xmlns:p14="http://schemas.microsoft.com/office/powerpoint/2010/main" val="15911812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FA828-84C0-42BA-A022-1D1657D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§3.3.2 / SPHERICAL COORDINATES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C157A-9757-4D64-8D27-E4B57BB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축대칭 구면 문제는 르장드르 다항식으로 분리된다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C9A02-FA48-4BB2-9CE5-887D40B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611B3-3713-42B9-BD6D-E25BB92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AE5CE-2016-4570-BAE4-7FC7A68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E58C9-7856-4C08-97E1-7965A82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방위각 φ에 의존하지 않으면 반지름과 극각의 두 방정식만 남는다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2552ca0664f99"/>
          <a:stretch xmlns:a="http://schemas.openxmlformats.org/drawingml/2006/main"/>
        </p:blipFill>
        <p:spPr>
          <a:xfrm xmlns:a="http://schemas.openxmlformats.org/drawingml/2006/main">
            <a:off x="2594029" y="3571875"/>
            <a:ext cx="7003943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9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EA9A-4E79-4C6D-BD9D-2065CFE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AXIAL SYMMETRY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A8364-53F4-49FE-B06F-E63B54A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축대칭 라플라스 방정식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C99EA-B19C-4D09-A94F-2377A95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06118-E0F9-4E11-BF38-EC9718B9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E8042-D246-4AB2-B37F-786D7115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150c8d41d4e3a"/>
          <a:stretch xmlns:a="http://schemas.openxmlformats.org/drawingml/2006/main"/>
        </p:blipFill>
        <p:spPr>
          <a:xfrm xmlns:a="http://schemas.openxmlformats.org/drawingml/2006/main">
            <a:off x="1926986" y="1905000"/>
            <a:ext cx="8338027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B143-B8EB-4141-A11C-EFB67E2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93910-8A18-47D5-A0F0-ECD049AC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V(r,θ)=R(r)Θ(θ)를 대입하면 각도 방정식의 정규해가 르장드르 다항식이 된다.</a:t>
            </a:r>
          </a:p>
        </p:txBody>
      </p:sp>
    </p:spTree>
    <p:extLst>
      <p:ext uri="{BB962C8B-B14F-4D97-AF65-F5344CB8AC3E}">
        <p14:creationId xmlns:p14="http://schemas.microsoft.com/office/powerpoint/2010/main" val="1092847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0578D-E32A-4F09-BFE7-BA76DA3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LEGENDRE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96DB3-93A7-488B-9EB3-17EF203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경계의 각도 의존성이 필요한 ℓ을 고른다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86AE-0233-4740-A5BA-F6F16BA9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47852-D786-4F70-B65E-3BE62343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8FF5-290E-46F8-9192-39DC1E0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5c1adf619464d"/>
          <a:stretch xmlns:a="http://schemas.openxmlformats.org/drawingml/2006/main"/>
        </p:blipFill>
        <p:spPr>
          <a:xfrm xmlns:a="http://schemas.openxmlformats.org/drawingml/2006/main">
            <a:off x="3043440" y="1905000"/>
            <a:ext cx="6105120" cy="119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EEB34-B5B4-4239-9EBF-DBA49EB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054A7-33EC-4DE2-B538-D7D5D22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상수 경계는 ℓ=0, cosθ 경계는 ℓ=1이 담당한다. 원점과 무한대에서 유한한 항만 남긴다.</a:t>
            </a:r>
          </a:p>
        </p:txBody>
      </p:sp>
    </p:spTree>
    <p:extLst>
      <p:ext uri="{BB962C8B-B14F-4D97-AF65-F5344CB8AC3E}">
        <p14:creationId xmlns:p14="http://schemas.microsoft.com/office/powerpoint/2010/main" val="7406318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9A058-8079-4239-9C2C-9B60AAF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EXAMPLE / CONDUCTING 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37329-A616-4F91-9FD4-78C0610D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균일장 속 접지 구는 ℓ = 1 항만 필요하다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EFF11-8F94-4E13-AADF-341B2C0F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44C4F-69F4-4087-87AB-217417DE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A965B-02A4-4B90-82F7-2B6B2544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EB7CF-7245-4400-A597-F3D380D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2142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FE43D-E88B-4798-935C-540C194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142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096328" y="2143126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94241-349A-42A9-8F98-67D93C8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E50BC-B5D7-4D82-BB1E-6BA3D7BD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096328" y="2667001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48B5E-B374-453B-BD5F-2A4DC28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31899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EAC3C-DE5D-41C7-8B0B-78D6D76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31899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096328" y="3190876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08294-2AF9-40F1-A824-17EB0AC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3713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B763D-9569-4ACC-B4A0-F8C91B5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3713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096328" y="3714751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397EA-3FCA-477A-878E-24E86A1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4237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3C83B-6DED-4937-998A-22DD755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4237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8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1096328" y="4238626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5FE07-8C03-440C-A9D3-3DE74CD6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4761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23B39-7DF6-4DA7-BF35-A811FE26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4761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21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096328" y="4762501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E7F62-BC19-4829-838F-F9752751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3" y="5285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1F872-DA73-441E-825D-627A20F3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5285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1096328" y="5286376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3B424-DAD8-4F16-A3E7-975714B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AAAAE-543E-414E-A973-9A56F87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E₀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55179f95b496a"/>
          <a:stretch xmlns:a="http://schemas.openxmlformats.org/drawingml/2006/main"/>
        </p:blipFill>
        <p:spPr>
          <a:xfrm xmlns:a="http://schemas.openxmlformats.org/drawingml/2006/main">
            <a:off x="6381750" y="2278224"/>
            <a:ext cx="4762500" cy="777551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E9C7CE-0E61-453B-9176-B0142809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−E₀r cosθ와 B₁ cosθ/r²의 합이 r = R에서 0이 되도록 B₁을 정한다.</a:t>
            </a:r>
          </a:p>
        </p:txBody>
      </p:sp>
    </p:spTree>
    <p:extLst>
      <p:ext uri="{BB962C8B-B14F-4D97-AF65-F5344CB8AC3E}">
        <p14:creationId xmlns:p14="http://schemas.microsoft.com/office/powerpoint/2010/main" val="13377210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74F93-9D63-487C-A903-5833291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INDUCED DIPOLE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71CB9-D1C4-407B-AEDD-FCE06E26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유도 면전하와 쌍극자 모멘트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B6FAB-FDC1-4ED8-8D2C-67CCFED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914CA-41CC-4DE9-BF32-9030CF6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0F0D0-A559-4963-94F1-5D69E442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c40914a8a4f57"/>
          <a:stretch xmlns:a="http://schemas.openxmlformats.org/drawingml/2006/main"/>
        </p:blipFill>
        <p:spPr>
          <a:xfrm xmlns:a="http://schemas.openxmlformats.org/drawingml/2006/main">
            <a:off x="857250" y="1997522"/>
            <a:ext cx="10477500" cy="1005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34AC5-74CA-4FB8-9E7B-5F2929E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86D6-3E5E-4AA8-8949-DF69B7D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구의 위아래에 반대 부호의 면전하가 생기며 먼 거리에서는 유도된 점 쌍극자처럼 보인다.</a:t>
            </a:r>
          </a:p>
        </p:txBody>
      </p:sp>
    </p:spTree>
    <p:extLst>
      <p:ext uri="{BB962C8B-B14F-4D97-AF65-F5344CB8AC3E}">
        <p14:creationId xmlns:p14="http://schemas.microsoft.com/office/powerpoint/2010/main" val="15230500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0AEAD-1F1E-4D1D-8204-0E852E03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10.19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04BF-D165-4114-8BE1-1D9BA3B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문제로 영상법과 변수 분리법을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D97FB-CB72-45AC-A98F-B3AB3C11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E0E9F-CA0A-49CE-8F70-4551A68C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19778-9781-40FB-BACF-478C90A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FF324-F765-4DE2-9D45-D4ADF2AC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41A4-F19E-4B6A-9F8F-1FF9A473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 평면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765C6-7253-40C2-ADC2-98FC3C6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높이 a의 점전하에 대한 V, σ, Q_ind, 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0D8D6-63A7-42EA-B727-EB9E43A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2BA9A-C3AA-44FF-8B20-2F58A134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4E22B-DC59-422B-B477-6BB141A8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 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3DD77-8B53-49EE-8CB4-5BC3E3E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 q′와 위치 b, 경계조건, 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CB0B4-70AE-439E-A6AA-700C4B9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7475D-2D46-483B-AD9C-BFD09B2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A7E53-FBB3-4508-A5D3-CB22DE2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직사각형 영역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5D3EF-CE91-4500-95AE-48C812B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4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경계함수의 사인 급수와 내부 전위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1573D-E0E3-4CE1-96C5-6D411F66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모든 풀이에서 실제 영역, 경계조건, 검산 항목을 먼저 적는다.</a:t>
            </a:r>
          </a:p>
        </p:txBody>
      </p:sp>
    </p:spTree>
    <p:extLst>
      <p:ext uri="{BB962C8B-B14F-4D97-AF65-F5344CB8AC3E}">
        <p14:creationId xmlns:p14="http://schemas.microsoft.com/office/powerpoint/2010/main" val="5794763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E8864-6A4D-4BA8-9AA8-FDAE06E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W07 /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9F882-CEE6-4E73-A3ED-CAC12376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경계조건이 해의 형태와 계수를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26AF2-EF68-448A-B03A-2294A6C8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1E4BD-033A-402A-9D96-0809547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E3A23-A519-424F-8177-ED900200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eb646441d450d"/>
          <a:stretch xmlns:a="http://schemas.openxmlformats.org/drawingml/2006/main"/>
        </p:blipFill>
        <p:spPr>
          <a:xfrm xmlns:a="http://schemas.openxmlformats.org/drawingml/2006/main">
            <a:off x="952500" y="1957985"/>
            <a:ext cx="10287000" cy="751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30BF3-17D3-48FE-8D18-1C6E906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영상법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4105C-17A0-45C1-A17B-91A2DF9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단순한 도체 경계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가상 전하로 경계 일치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43C22-DF52-4320-82AD-6C2F4F14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변수 분리법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AA799-E919-4CBA-86E6-27369AA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좌표대칭에 맞는 고유함수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급수 계수로 경계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9DF37-92D0-4A39-A0BC-1EFC6D5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공통 검산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8BBD9-A6C0-4F56-AA41-2C679AC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라플라스 방정식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경계조건·적용 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8C057-75EB-4C61-96FC-5DB63EA2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292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122AA-8170-4A7C-9773-B0E24E38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0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중간고사 범위: 제1장부터 제3장 §3.3까지</a:t>
            </a:r>
          </a:p>
        </p:txBody>
      </p:sp>
    </p:spTree>
    <p:extLst>
      <p:ext uri="{BB962C8B-B14F-4D97-AF65-F5344CB8AC3E}">
        <p14:creationId xmlns:p14="http://schemas.microsoft.com/office/powerpoint/2010/main" val="297421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2026-10-05T23:57:59.9240000Z</dcterms:created>
  <dcterms:modified xsi:type="dcterms:W3CDTF">2026-10-05T23:57:59.9240000Z</dcterms:modified>
</coreProperties>
</file>