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60"/>
  </p:normalViewPr>
  <p:slideViewPr>
    <p:cSldViewPr snapToGrid="0">
      <p:cViewPr varScale="1">
        <p:scale>
          <a:sx n="96" d="100"/>
          <a:sy n="96" d="100"/>
        </p:scale>
        <p:origin x="200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표지. 전하에서 나온 전기장 선과 닫힌 면을 이용해 이번 주의 핵심 질문을 예고한다.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66–83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차시의 날짜와 범위, 학생이 수업 후 수행해야 할 네 가지 완료 증거를 제시한다.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59–85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쿨롱 법칙의 크기, 방향, 원천점과 관측점을 구분한다.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\mathbf E(\mathbf r)=\frac{1}{4\pi\epsilon_0}\,q\,\frac{\mathbf r-\mathbf r'}{|\mathbf r-\mathbf r'|^3}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59–61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중첩원리를 벡터합으로 적용하고 각 전하의 변위벡터가 서로 다름을 강조한다.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\mathbf E(\mathbf r)=\frac{1}{4\pi\epsilon_0}\sum_{i=1}^{N}q_i\frac{\mathbf r-\mathbf r_i}{|\mathbf r-\mathbf r_i|^3}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61–62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선, 면, 체적 전하밀도에 맞는 미소 전하를 선택하고 같은 쿨롱 적분에 넣는다.</a:t>
            </a:r>
          </a:p>
          <a:p>
            <a:endParaRPr/>
          </a:p>
          <a:p>
            <a:r>
              <a:t>[Equation source]</a:t>
            </a:r>
          </a:p>
          <a:p>
            <a:r>
              <a:t>- \mathbf E(\mathbf r)=\frac{1}{4\pi\epsilon_0}\int\frac{\mathbf r-\mathbf r'}{|\mathbf r-\mathbf r'|^3}\,\mathrm dq,\qquad \mathrm dq=\lambda\,\mathrm dl'=\sigma\,\mathrm da'=\rho\,\mathrm d\tau'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62–66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 주 학습 경로를 전하분포, 장방정식, 전위, 전위방정식의 순서로 제시한다.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59–85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직접 적분의 계산 부담을 확인하고, 가우스 법칙과 전위가 필요한 이유를 제시한다.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\mathbf E(\mathbf r)=\frac{1}{4\pi\epsilon_0}\int \rho(\mathbf r')\frac{\mathbf r-\mathbf r'}{|\mathbf r-\mathbf r'|^3}\,\mathrm d\tau'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p. 66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점전하의 1/r² 장을 선밀도로 읽고 전기장선의 기본 규칙을 설명한다.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66–68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면벡터의 방향과 내적이 선택하는 성분을 도식과 식으로 연결한다.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\Phi_E=\int_S\mathbf E\cdot\mathrm d\mathbf a=\int_S E\cos\theta\,\mathrm da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68–69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점전하의 구면 플럭스에서 r² 상쇄를 확인한다.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\oint_{S_r}\mathbf E\cdot\mathrm d\mathbf a=\frac{q}{4\pi\epsilon_0r^2}(4\pi r^2)=\frac{q}{\epsilon_0}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68–69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가우스 법칙의 정량적 진술과 내부 전하, 외부 전하, 면 모양의 역할을 구분한다.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\boxed{\ \oint_S\mathbf E\cdot\mathrm d\mathbf a=\frac{Q_{\mathrm{enc}}}{\epsilon_0}\ 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69–70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발산정리로 가우스 법칙의 적분형을 미분형으로 바꾼다.</a:t>
            </a:r>
          </a:p>
          <a:p>
            <a:endParaRPr/>
          </a:p>
          <a:p>
            <a:r>
              <a:t>[Equation source]</a:t>
            </a:r>
          </a:p>
          <a:p>
            <a:r>
              <a:t>- \oint_S\mathbf E\cdot\mathrm d\mathbf a=\int_V(\nabla\cdot\mathbf E)\,\mathrm d\tau,\qquad Q_{\mathrm{enc}}=\int_V\rho\,\mathrm d\tau</a:t>
            </a:r>
          </a:p>
          <a:p>
            <a:r>
              <a:t>- \boxed{\ \nabla\cdot\mathbf E=\frac{\rho}{\epsilon_0}\ 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70–71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지난 주의 델타함수 항등식을 이용해 가우스 법칙 미분형을 직접 확인한다.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\nabla\cdot\left(\frac{\hat{\mathbf R}}{R^2}\right)=4\pi\delta^3(\mathbf R),\qquad \mathbf R=\mathbf r-\mathbf r'</a:t>
            </a:r>
          </a:p>
          <a:p>
            <a:r>
              <a:t>- \nabla\cdot\mathbf E=\frac{1}{4\pi\epsilon_0}\int 4\pi\delta^3(\mathbf r-\mathbf r')\rho(\mathbf r')\,\mathrm d\tau'=\frac{\rho(\mathbf r)}{\epsilon_0}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p. 71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가우스 법칙으로 E를 직접 구할 수 있는 세 가지 대칭과 가우스 면을 대응시킨다.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72–73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균일한 대전 구 외부의 장을 가우스 법칙으로 계산한다.</a:t>
            </a:r>
          </a:p>
          <a:p>
            <a:endParaRPr/>
          </a:p>
          <a:p>
            <a:r>
              <a:t>[Equation source]</a:t>
            </a:r>
          </a:p>
          <a:p>
            <a:r>
              <a:t>- E(4\pi r^2)=\frac{q}{\epsilon_0}\quad\Longrightarrow\quad \mathbf E=\frac{1}{4\pi\epsilon_0}\frac{q}{r^2}\hat{\mathbf r}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71–72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균일한 체적전하 구의 안팎 전기장을 비교하고 경계에서의 연속성을 확인한다.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\mathbf E(r)=\begin{cases}\dfrac{\rho r}{3\epsilon_0}\hat{\mathbf r},&amp;r&lt;R\\[5pt]\dfrac{\rho R^3}{3\epsilon_0r^2}\hat{\mathbf r},&amp;r\ge R\end{cases}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71–76; Problem 2.12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원통대칭에서 옆면 플럭스와 포함 선전하를 이용한다.</a:t>
            </a:r>
          </a:p>
          <a:p>
            <a:endParaRPr/>
          </a:p>
          <a:p>
            <a:r>
              <a:t>[Equation source]</a:t>
            </a:r>
          </a:p>
          <a:p>
            <a:r>
              <a:t>- E(2\pi sL)=\frac{\lambda L}{\epsilon_0}\quad\Longrightarrow\quad \mathbf E=\frac{\lambda}{2\pi\epsilon_0s}\hat{\mathbf s}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72–76; Problem 2.13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필박스를 이용해 무한 평면의 거리와 무관한 전기장을 계산한다.</a:t>
            </a:r>
          </a:p>
          <a:p>
            <a:endParaRPr/>
          </a:p>
          <a:p>
            <a:r>
              <a:t>[Equation source]</a:t>
            </a:r>
          </a:p>
          <a:p>
            <a:r>
              <a:t>- 2EA=\frac{\sigma A}{\epsilon_0}\quad\Longrightarrow\quad \mathbf E=\frac{\sigma}{2\epsilon_0}\hat{\mathbf n}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74–75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각 평면의 장을 방향까지 포함해 중첩한다.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\mathbf E=\begin{cases}\mathbf 0,&amp;\text{outside}\\[3pt]\dfrac{\sigma}{\epsilon_0}\hat{\mathbf n},&amp;\text{between plates}\end{cases}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75–76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가우스 법칙 적용에서 반복되는 네 가지 오류를 구분한다.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71–76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점전하 전기장의 선적분이 경로가 아니라 끝점에만 의존함을 계산한다.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\int_a^b\mathbf E\cdot\mathrm d\mathbf l=\frac{q}{4\pi\epsilon_0}\left(\frac1{r_a}-\frac1{r_b}\right)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77–78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스토크스 정리로 정전기장의 순환 법칙과 회전 법칙을 연결한다.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\boxed{\ \oint\mathbf E\cdot\mathrm d\mathbf l=0\ }\qquad\Longleftrightarrow\qquad\boxed{\ \nabla\times\mathbf E=\mathbf 0\ 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77–78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두 경로로 만든 닫힌 루프를 이용해 경로독립성을 설명한다.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\int_a^b\mathbf E\cdot\mathrm d\mathbf l\ \text{is independent of path}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78–79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경로독립성을 이용해 전위 함수를 정의한다.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\boxed{\ V(\mathbf r)\equiv-\int_O^{\mathbf r}\mathbf E\cdot\mathrm d\mathbf l\ 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p. 79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전위차가 기준점과 무관하고 선적분의 음수임을 정리한다.</a:t>
            </a:r>
          </a:p>
          <a:p>
            <a:endParaRPr/>
          </a:p>
          <a:p>
            <a:r>
              <a:t>[Equation source]</a:t>
            </a:r>
          </a:p>
          <a:p>
            <a:r>
              <a:t>- V(b)-V(a)=-\int_a^b\mathbf E\cdot\mathrm d\mathbf l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79–80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전위의 정의에서 E = -∇V를 도출하고 입력, 연산자, 출력을 구분한다.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\boxed{\ \mathbf E=-\nabla V\ 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79–80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전위 표현이 벡터 문제를 스칼라 문제로 줄이는 이유를 성분 관계로 설명한다.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\frac{\partial E_x}{\partial y}=\frac{\partial E_y}{\partial x},\quad \frac{\partial E_z}{\partial y}=\frac{\partial E_y}{\partial z},\quad \frac{\partial E_x}{\partial z}=\frac{\partial E_z}{\partial x}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80–81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고도 비유로 전위 기준 변경이 모든 값에 같은 상수를 더할 뿐임을 설명한다.</a:t>
            </a:r>
          </a:p>
          <a:p>
            <a:endParaRPr/>
          </a:p>
          <a:p>
            <a:r>
              <a:t>[Equation source]</a:t>
            </a:r>
          </a:p>
          <a:p>
            <a:r>
              <a:t>- V'(\mathbf r)=V(\mathbf r)+K,\qquad \nabla V'=\nabla V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81–82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무한 평면처럼 전하분포가 무한히 연장될 때 무한대 기준이 실패하는 이유를 설명한다.</a:t>
            </a:r>
          </a:p>
          <a:p>
            <a:endParaRPr/>
          </a:p>
          <a:p>
            <a:r>
              <a:t>[Equation source]</a:t>
            </a:r>
          </a:p>
          <a:p>
            <a:r>
              <a:t>- V(z)-V(0)=-\frac{\sigma}{2\epsilon_0}|z|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81–82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등전위면의 정의와 전기장선이 수직으로 교차하는 이유를 연결한다.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\mathrm dV=\nabla V\cdot\mathrm d\mathbf l=-\mathbf E\cdot\mathrm d\mathbf l=0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p. 80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전위 중첩이 벡터 합이 아닌 스칼라 합이라는 이점과 볼트 단위를 정리한다.</a:t>
            </a:r>
          </a:p>
          <a:p>
            <a:endParaRPr/>
          </a:p>
          <a:p>
            <a:r>
              <a:t>[Equation source]</a:t>
            </a:r>
          </a:p>
          <a:p>
            <a:r>
              <a:t>- V=\sum_iV_i,\qquad [V]=\mathrm{J/C}=\mathrm V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p. 82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Griffiths Example 2.7의 구면껍질 전위를 구하고 E와 V의 차이를 강조한다.</a:t>
            </a:r>
          </a:p>
          <a:p>
            <a:endParaRPr/>
          </a:p>
          <a:p>
            <a:r>
              <a:t>[Equation source]</a:t>
            </a:r>
          </a:p>
          <a:p>
            <a:r>
              <a:t>- V(r)=\frac{1}{4\pi\epsilon_0}\begin{cases}\dfrac{q}{R},&amp;r&lt;R\\[5pt]\dfrac{q}{r},&amp;r\ge R\end{cases}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82–83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가우스 법칙에 E = -∇V를 대입해 포아송 방정식을 얻는다.</a:t>
            </a:r>
          </a:p>
          <a:p>
            <a:endParaRPr/>
          </a:p>
          <a:p>
            <a:r>
              <a:t>[Equation source]</a:t>
            </a:r>
          </a:p>
          <a:p>
            <a:r>
              <a:t>- \nabla\cdot\mathbf E=\frac{\rho}{\epsilon_0},\quad \mathbf E=-\nabla V\quad\Longrightarrow\quad \boxed{\ \nabla^2V=-\frac{\rho}{\epsilon_0}\ 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83–84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전하가 없는 영역에서 포아송 방정식이 라플라스 방정식으로 줄어드는 조건을 설명한다.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\rho=0\quad\Longrightarrow\quad \boxed{\ \nabla^2V=0\ }</a:t>
            </a:r>
          </a:p>
          <a:p>
            <a:r>
              <a:t>- \nabla^2V=\frac{\partial^2V}{\partial x^2}+\frac{\partial^2V}{\partial y^2}+\frac{\partial^2V}{\partial z^2}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p. 84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쿨롱 전위 적분이 포아송 방정식과 일치함을 확인하고 영역별 적용 조건을 정리한다.</a:t>
            </a:r>
          </a:p>
          <a:p>
            <a:endParaRPr/>
          </a:p>
          <a:p>
            <a:r>
              <a:t>[Equation source]</a:t>
            </a:r>
          </a:p>
          <a:p>
            <a:r>
              <a:t>- V(r)=\frac{1}{4\pi\epsilon_0}\int\frac{\rho(\mathbf r')}{|\mathbf r-\mathbf r'|}\,\mathrm d\tau'\quad\Longrightarrow\quad \nabla^2V=-\frac{\rho}{\epsilon_0}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84–85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2.20을 이용해 curl 판정과 전위 적분을 확인한다. 답은 발표자 노트에만 둔다. 정답: A는 불가능, B는 가능.</a:t>
            </a:r>
          </a:p>
          <a:p>
            <a:endParaRPr/>
          </a:p>
          <a:p>
            <a:r>
              <a:t>[Equation source]</a:t>
            </a:r>
          </a:p>
          <a:p>
            <a:r>
              <a:t>- \begin{aligned}\mathbf E_A&amp;=k(xy\,\hat{\mathbf x}+2yz\,\hat{\mathbf y}+3xz\,\hat{\mathbf z})\\[4pt]\mathbf E_B&amp;=k(y^2\,\hat{\mathbf x}+(2xy+z^2)\hat{\mathbf y}+2yz\,\hat{\mathbf z})\end{aligned}</a:t>
            </a:r>
          </a:p>
          <a:p>
            <a:r>
              <a:t>- \nabla\times\mathbf E_A\ne\mathbf0,\qquad \nabla\times\mathbf E_B=\mathbf0,\qquad V_B=-k(xy^2+yz^2)+K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p. 80; Problem 2.20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연습문제 세 개를 완전한 문장과 조건으로 제시한다.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\mathbf E=kr^3\hat{\mathbf r}\quad\Longrightarrow\quad \rho(r)=\ ?,\quad Q(R)=\ ?</a:t>
            </a:r>
          </a:p>
          <a:p>
            <a:r>
              <a:t>- \sigma=\mathrm{const.},\ r=R:\quad \mathbf E_{\mathrm{in/out}}\ ?,\qquad V_{\mathrm{in/out}}\ ?\quad(V(\infty)=0)</a:t>
            </a:r>
          </a:p>
          <a:p>
            <a:r>
              <a:t>- \pm\sigma\ \text{parallel planes, separation }d:\quad \mathbf E\ ?,\qquad V_- -V_+\ ?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70–83; Problems 2.9, 2.11, Example 2.6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연습문제의 최종 결과와 반드시 확인할 물리 검증 항목을 제시한다.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\rho=\epsilon_0\nabla\cdot\mathbf E=5\epsilon_0kr^2,\qquad Q(R)=4\pi\epsilon_0kR^5</a:t>
            </a:r>
          </a:p>
          <a:p>
            <a:r>
              <a:t>- \mathbf E=\begin{cases}0,&amp;r&lt;R\\ \dfrac{Q}{4\pi\epsilon_0r^2}\hat{\mathbf r},&amp;r&gt;R\end{cases},\qquad V=\frac{Q}{4\pi\epsilon_0}\begin{cases}1/R,&amp;r&lt;R\\1/r,&amp;r&gt;R\end{cases}</a:t>
            </a:r>
          </a:p>
          <a:p>
            <a:r>
              <a:t>- \mathbf E_{\mathrm{between}}=\frac{\sigma}{\epsilon_0}\hat{\mathbf n},\qquad V_- -V_+=-\frac{\sigma d}{\epsilon_0}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70–83; Problems 2.9, 2.11, Example 2.6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쿨롱 법칙, 장방정식, 전위, 포아송·라플라스 방정식을 하나의 흐름으로 통합한다.</a:t>
            </a:r>
          </a:p>
          <a:p>
            <a:endParaRPr/>
          </a:p>
          <a:p>
            <a:r>
              <a:t>[Equation source]</a:t>
            </a:r>
          </a:p>
          <a:p>
            <a:r>
              <a:t>- \nabla\cdot\mathbf E=\frac{\rho}{\epsilon_0},\qquad \nabla\times\mathbf E=0,\qquad \mathbf E=-\nabla V,\qquad \nabla^2V=-\frac{\rho}{\epsilon_0}</a:t>
            </a:r>
          </a:p>
          <a:p>
            <a:r>
              <a:t>- \nabla\cdot\mathbf E=\frac{\rho}{\epsilon_0},\quad \mathbf E=-\nabla V\quad\Longrightarrow\quad \boxed{\ \nabla^2V=-\frac{\rho}{\epsilon_0}\ }</a:t>
            </a:r>
          </a:p>
          <a:p>
            <a:endParaRPr/>
          </a:p>
          <a:p>
            <a:r>
              <a:t>[Sources]</a:t>
            </a:r>
          </a:p>
          <a:p>
            <a:r>
              <a:t>- Griffiths, Introduction to Electrodynamics, 4e, pp. 59–85</a:t>
            </a:r>
          </a:p>
          <a:p>
            <a:r>
              <a:t>- 날짜별 강의내용 문서, 4-5주차 항목</a:t>
            </a:r>
          </a:p>
          <a:p>
            <a:r>
              <a:t>- 전자기학 강의안 PPT·PDF 제작 정책 v1.5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1996797D-D6DD-4EC6-A1D5-E33F0F3744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1696BD-FAF6-470E-A2E7-ECE9AE1374F9}"/>
              </a:ext>
            </a:extLst>
          </p:cNvPr>
          <p:cNvSpPr>
            <a:spLocks noGrp="1"/>
          </p:cNvSpPr>
          <p:nvPr/>
        </p:nvSpPr>
        <p:spPr>
          <a:xfrm>
            <a:off x="762000" y="60960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ELECTROMAGNETISM 2026 · WEEK 04-05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C2C5D5-06D7-4DB0-9541-24D791BD3DA6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6858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5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전기장의 발산과 회전</a:t>
            </a:r>
          </a:p>
          <a:p>
            <a:pPr algn="l">
              <a:lnSpc>
                <a:spcPct val="94000"/>
              </a:lnSpc>
              <a:buNone/>
              <a:defRPr sz="5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그리고 전위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ECFA8-7E06-448E-8DC6-3FC2DE3D5725}"/>
              </a:ext>
            </a:extLst>
          </p:cNvPr>
          <p:cNvSpPr>
            <a:spLocks noGrp="1"/>
          </p:cNvSpPr>
          <p:nvPr/>
        </p:nvSpPr>
        <p:spPr>
          <a:xfrm>
            <a:off x="781050" y="3833813"/>
            <a:ext cx="53340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B38C34-30C0-400B-B66B-D31566ADB7E4}"/>
              </a:ext>
            </a:extLst>
          </p:cNvPr>
          <p:cNvSpPr>
            <a:spLocks noGrp="1"/>
          </p:cNvSpPr>
          <p:nvPr/>
        </p:nvSpPr>
        <p:spPr>
          <a:xfrm>
            <a:off x="762000" y="41719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Griffiths §2.1 · §2.2 · §2.3.1–§2.3.3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5DBDD9-6105-40C8-9D14-72FF6EB38B7E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9월 28일 강의 · 10월 1일 강의 · 10월 5일 연습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0508DC-90EA-4BBB-B809-54446FFF3116}"/>
              </a:ext>
            </a:extLst>
          </p:cNvPr>
          <p:cNvSpPr>
            <a:spLocks noGrp="1"/>
          </p:cNvSpPr>
          <p:nvPr/>
        </p:nvSpPr>
        <p:spPr>
          <a:xfrm>
            <a:off x="9658350" y="2867025"/>
            <a:ext cx="209550" cy="2095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A58FA1F-ED2A-4D2A-837D-AD1CE7FE91A0}"/>
              </a:ext>
            </a:extLst>
          </p:cNvPr>
          <p:cNvSpPr>
            <a:spLocks noGrp="1"/>
          </p:cNvSpPr>
          <p:nvPr/>
        </p:nvSpPr>
        <p:spPr>
          <a:xfrm>
            <a:off x="9990773" y="2970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592091-5F5C-4362-AE3C-83BE55691DB2}"/>
              </a:ext>
            </a:extLst>
          </p:cNvPr>
          <p:cNvSpPr>
            <a:spLocks noGrp="1"/>
          </p:cNvSpPr>
          <p:nvPr/>
        </p:nvSpPr>
        <p:spPr>
          <a:xfrm>
            <a:off x="11333798" y="2970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7" name="Straight Arrow Connector 66"/>
          <p:cNvCxnSpPr>
            <a:stCxn id="8" idx="6"/>
            <a:endCxn id="9" idx="2"/>
          </p:cNvCxnSpPr>
          <p:nvPr/>
        </p:nvCxnSpPr>
        <p:spPr>
          <a:xfrm>
            <a:off x="9992678" y="2971801"/>
            <a:ext cx="134112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44AEF70-AB95-4DB1-A9F4-43C1507A316A}"/>
              </a:ext>
            </a:extLst>
          </p:cNvPr>
          <p:cNvSpPr>
            <a:spLocks noGrp="1"/>
          </p:cNvSpPr>
          <p:nvPr/>
        </p:nvSpPr>
        <p:spPr>
          <a:xfrm>
            <a:off x="9973371" y="305832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A3D46-B374-44E6-9F5B-1519FFB22AD4}"/>
              </a:ext>
            </a:extLst>
          </p:cNvPr>
          <p:cNvSpPr>
            <a:spLocks noGrp="1"/>
          </p:cNvSpPr>
          <p:nvPr/>
        </p:nvSpPr>
        <p:spPr>
          <a:xfrm>
            <a:off x="11214165" y="357228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0" name="Straight Arrow Connector 69"/>
          <p:cNvCxnSpPr>
            <a:stCxn id="11" idx="5"/>
            <a:endCxn id="12" idx="2"/>
          </p:cNvCxnSpPr>
          <p:nvPr/>
        </p:nvCxnSpPr>
        <p:spPr>
          <a:xfrm>
            <a:off x="9974997" y="3059955"/>
            <a:ext cx="1239168" cy="513279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1B474E77-B193-4A81-A7F5-C4F30A1FF1C5}"/>
              </a:ext>
            </a:extLst>
          </p:cNvPr>
          <p:cNvSpPr>
            <a:spLocks noGrp="1"/>
          </p:cNvSpPr>
          <p:nvPr/>
        </p:nvSpPr>
        <p:spPr>
          <a:xfrm>
            <a:off x="9923817" y="313249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C3DD843-9E81-4C39-B857-929F5F37BC13}"/>
              </a:ext>
            </a:extLst>
          </p:cNvPr>
          <p:cNvSpPr>
            <a:spLocks noGrp="1"/>
          </p:cNvSpPr>
          <p:nvPr/>
        </p:nvSpPr>
        <p:spPr>
          <a:xfrm>
            <a:off x="10873479" y="4082154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3" name="Straight Arrow Connector 72"/>
          <p:cNvCxnSpPr>
            <a:stCxn id="14" idx="5"/>
            <a:endCxn id="15" idx="1"/>
          </p:cNvCxnSpPr>
          <p:nvPr/>
        </p:nvCxnSpPr>
        <p:spPr>
          <a:xfrm>
            <a:off x="9925443" y="3134118"/>
            <a:ext cx="948315" cy="94831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49EAA39-E11B-4DDE-95FB-351843B1F55E}"/>
              </a:ext>
            </a:extLst>
          </p:cNvPr>
          <p:cNvSpPr>
            <a:spLocks noGrp="1"/>
          </p:cNvSpPr>
          <p:nvPr/>
        </p:nvSpPr>
        <p:spPr>
          <a:xfrm>
            <a:off x="9849654" y="318204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2521922-2531-41C6-AB64-11F215771F8D}"/>
              </a:ext>
            </a:extLst>
          </p:cNvPr>
          <p:cNvSpPr>
            <a:spLocks noGrp="1"/>
          </p:cNvSpPr>
          <p:nvPr/>
        </p:nvSpPr>
        <p:spPr>
          <a:xfrm>
            <a:off x="10363607" y="4422840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6" name="Straight Arrow Connector 75"/>
          <p:cNvCxnSpPr>
            <a:stCxn id="17" idx="4"/>
            <a:endCxn id="18" idx="1"/>
          </p:cNvCxnSpPr>
          <p:nvPr/>
        </p:nvCxnSpPr>
        <p:spPr>
          <a:xfrm>
            <a:off x="9850606" y="3183951"/>
            <a:ext cx="513279" cy="1239168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9A3D2FB-65DB-4293-A47A-BC5A5BC5530A}"/>
              </a:ext>
            </a:extLst>
          </p:cNvPr>
          <p:cNvSpPr>
            <a:spLocks noGrp="1"/>
          </p:cNvSpPr>
          <p:nvPr/>
        </p:nvSpPr>
        <p:spPr>
          <a:xfrm>
            <a:off x="9762173" y="31994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83A663F-70DA-4976-913C-E5A81924DD6B}"/>
              </a:ext>
            </a:extLst>
          </p:cNvPr>
          <p:cNvSpPr>
            <a:spLocks noGrp="1"/>
          </p:cNvSpPr>
          <p:nvPr/>
        </p:nvSpPr>
        <p:spPr>
          <a:xfrm>
            <a:off x="9762173" y="454247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9" name="Straight Arrow Connector 78"/>
          <p:cNvCxnSpPr>
            <a:stCxn id="20" idx="4"/>
            <a:endCxn id="21" idx="0"/>
          </p:cNvCxnSpPr>
          <p:nvPr/>
        </p:nvCxnSpPr>
        <p:spPr>
          <a:xfrm>
            <a:off x="9763126" y="3201353"/>
            <a:ext cx="0" cy="134112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3EE04E7-EC1A-45B1-91D5-73DFF77FCDD9}"/>
              </a:ext>
            </a:extLst>
          </p:cNvPr>
          <p:cNvSpPr>
            <a:spLocks noGrp="1"/>
          </p:cNvSpPr>
          <p:nvPr/>
        </p:nvSpPr>
        <p:spPr>
          <a:xfrm>
            <a:off x="9674691" y="318204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4FE3F15-DC00-47D1-8547-65EB9FEB8B4F}"/>
              </a:ext>
            </a:extLst>
          </p:cNvPr>
          <p:cNvSpPr>
            <a:spLocks noGrp="1"/>
          </p:cNvSpPr>
          <p:nvPr/>
        </p:nvSpPr>
        <p:spPr>
          <a:xfrm>
            <a:off x="9160738" y="4422840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2" name="Straight Arrow Connector 81"/>
          <p:cNvCxnSpPr>
            <a:stCxn id="23" idx="3"/>
            <a:endCxn id="24" idx="0"/>
          </p:cNvCxnSpPr>
          <p:nvPr/>
        </p:nvCxnSpPr>
        <p:spPr>
          <a:xfrm flipH="1">
            <a:off x="9161691" y="3183672"/>
            <a:ext cx="513279" cy="1239168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C95238CE-0375-4A29-B69E-2D3FDB38176A}"/>
              </a:ext>
            </a:extLst>
          </p:cNvPr>
          <p:cNvSpPr>
            <a:spLocks noGrp="1"/>
          </p:cNvSpPr>
          <p:nvPr/>
        </p:nvSpPr>
        <p:spPr>
          <a:xfrm>
            <a:off x="9600528" y="313249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2FD77E2-AD87-4DC2-AEA5-2657A82F18C8}"/>
              </a:ext>
            </a:extLst>
          </p:cNvPr>
          <p:cNvSpPr>
            <a:spLocks noGrp="1"/>
          </p:cNvSpPr>
          <p:nvPr/>
        </p:nvSpPr>
        <p:spPr>
          <a:xfrm>
            <a:off x="8650866" y="4082154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5" name="Straight Arrow Connector 84"/>
          <p:cNvCxnSpPr>
            <a:stCxn id="26" idx="3"/>
            <a:endCxn id="27" idx="7"/>
          </p:cNvCxnSpPr>
          <p:nvPr/>
        </p:nvCxnSpPr>
        <p:spPr>
          <a:xfrm flipH="1">
            <a:off x="8652492" y="3134118"/>
            <a:ext cx="948315" cy="94831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F71252A1-FA43-4925-9B98-37E01176485A}"/>
              </a:ext>
            </a:extLst>
          </p:cNvPr>
          <p:cNvSpPr>
            <a:spLocks noGrp="1"/>
          </p:cNvSpPr>
          <p:nvPr/>
        </p:nvSpPr>
        <p:spPr>
          <a:xfrm>
            <a:off x="9550974" y="305832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22E761-FD43-409E-8497-5F67FBCF4055}"/>
              </a:ext>
            </a:extLst>
          </p:cNvPr>
          <p:cNvSpPr>
            <a:spLocks noGrp="1"/>
          </p:cNvSpPr>
          <p:nvPr/>
        </p:nvSpPr>
        <p:spPr>
          <a:xfrm>
            <a:off x="8310180" y="357228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8" name="Straight Arrow Connector 87"/>
          <p:cNvCxnSpPr>
            <a:stCxn id="29" idx="2"/>
            <a:endCxn id="30" idx="7"/>
          </p:cNvCxnSpPr>
          <p:nvPr/>
        </p:nvCxnSpPr>
        <p:spPr>
          <a:xfrm flipH="1">
            <a:off x="8311806" y="3059282"/>
            <a:ext cx="1239168" cy="513279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24B22C60-4D84-4E1F-8559-FC2A16C42525}"/>
              </a:ext>
            </a:extLst>
          </p:cNvPr>
          <p:cNvSpPr>
            <a:spLocks noGrp="1"/>
          </p:cNvSpPr>
          <p:nvPr/>
        </p:nvSpPr>
        <p:spPr>
          <a:xfrm>
            <a:off x="9533573" y="2970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C609D92-BA84-4604-9944-437F4B47F4FE}"/>
              </a:ext>
            </a:extLst>
          </p:cNvPr>
          <p:cNvSpPr>
            <a:spLocks noGrp="1"/>
          </p:cNvSpPr>
          <p:nvPr/>
        </p:nvSpPr>
        <p:spPr>
          <a:xfrm>
            <a:off x="8190548" y="2970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1" name="Straight Arrow Connector 90"/>
          <p:cNvCxnSpPr>
            <a:stCxn id="32" idx="2"/>
            <a:endCxn id="33" idx="6"/>
          </p:cNvCxnSpPr>
          <p:nvPr/>
        </p:nvCxnSpPr>
        <p:spPr>
          <a:xfrm flipH="1">
            <a:off x="8192453" y="2971801"/>
            <a:ext cx="134112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A1DE8BC9-A6AD-46AA-B010-0BA3526E6108}"/>
              </a:ext>
            </a:extLst>
          </p:cNvPr>
          <p:cNvSpPr>
            <a:spLocks noGrp="1"/>
          </p:cNvSpPr>
          <p:nvPr/>
        </p:nvSpPr>
        <p:spPr>
          <a:xfrm>
            <a:off x="9550974" y="288336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97BF9E-E6E4-4AAF-9424-2AD0C8A6AC7C}"/>
              </a:ext>
            </a:extLst>
          </p:cNvPr>
          <p:cNvSpPr>
            <a:spLocks noGrp="1"/>
          </p:cNvSpPr>
          <p:nvPr/>
        </p:nvSpPr>
        <p:spPr>
          <a:xfrm>
            <a:off x="8310180" y="236941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4" name="Straight Arrow Connector 93"/>
          <p:cNvCxnSpPr>
            <a:stCxn id="35" idx="1"/>
            <a:endCxn id="36" idx="6"/>
          </p:cNvCxnSpPr>
          <p:nvPr/>
        </p:nvCxnSpPr>
        <p:spPr>
          <a:xfrm flipH="1" flipV="1">
            <a:off x="8312085" y="2370366"/>
            <a:ext cx="1239168" cy="513279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03C90BEF-D7A5-4A63-96E4-90058EA05B1B}"/>
              </a:ext>
            </a:extLst>
          </p:cNvPr>
          <p:cNvSpPr>
            <a:spLocks noGrp="1"/>
          </p:cNvSpPr>
          <p:nvPr/>
        </p:nvSpPr>
        <p:spPr>
          <a:xfrm>
            <a:off x="9600528" y="280920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4E99115-813B-4690-8EFD-7E26C154148C}"/>
              </a:ext>
            </a:extLst>
          </p:cNvPr>
          <p:cNvSpPr>
            <a:spLocks noGrp="1"/>
          </p:cNvSpPr>
          <p:nvPr/>
        </p:nvSpPr>
        <p:spPr>
          <a:xfrm>
            <a:off x="8650866" y="1859541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7" name="Straight Arrow Connector 96"/>
          <p:cNvCxnSpPr>
            <a:stCxn id="38" idx="1"/>
            <a:endCxn id="39" idx="5"/>
          </p:cNvCxnSpPr>
          <p:nvPr/>
        </p:nvCxnSpPr>
        <p:spPr>
          <a:xfrm flipH="1" flipV="1">
            <a:off x="8652492" y="1861167"/>
            <a:ext cx="948315" cy="94831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AAD308D-12D8-48B2-B8D7-A5612F46F01F}"/>
              </a:ext>
            </a:extLst>
          </p:cNvPr>
          <p:cNvSpPr>
            <a:spLocks noGrp="1"/>
          </p:cNvSpPr>
          <p:nvPr/>
        </p:nvSpPr>
        <p:spPr>
          <a:xfrm>
            <a:off x="9674691" y="275964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826735E-18F7-4544-8FAA-226E37EB4C2E}"/>
              </a:ext>
            </a:extLst>
          </p:cNvPr>
          <p:cNvSpPr>
            <a:spLocks noGrp="1"/>
          </p:cNvSpPr>
          <p:nvPr/>
        </p:nvSpPr>
        <p:spPr>
          <a:xfrm>
            <a:off x="9160738" y="1518855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00" name="Straight Arrow Connector 99"/>
          <p:cNvCxnSpPr>
            <a:stCxn id="41" idx="0"/>
            <a:endCxn id="42" idx="5"/>
          </p:cNvCxnSpPr>
          <p:nvPr/>
        </p:nvCxnSpPr>
        <p:spPr>
          <a:xfrm flipH="1" flipV="1">
            <a:off x="9162364" y="1520481"/>
            <a:ext cx="513279" cy="1239168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44383870-CDA8-4A65-9B0E-EEE0B5A59DD0}"/>
              </a:ext>
            </a:extLst>
          </p:cNvPr>
          <p:cNvSpPr>
            <a:spLocks noGrp="1"/>
          </p:cNvSpPr>
          <p:nvPr/>
        </p:nvSpPr>
        <p:spPr>
          <a:xfrm>
            <a:off x="9762173" y="27422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5B215D0-FB4E-4262-A1F8-1176C5FB0379}"/>
              </a:ext>
            </a:extLst>
          </p:cNvPr>
          <p:cNvSpPr>
            <a:spLocks noGrp="1"/>
          </p:cNvSpPr>
          <p:nvPr/>
        </p:nvSpPr>
        <p:spPr>
          <a:xfrm>
            <a:off x="9762173" y="139922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03" name="Straight Arrow Connector 102"/>
          <p:cNvCxnSpPr>
            <a:stCxn id="44" idx="0"/>
            <a:endCxn id="45" idx="4"/>
          </p:cNvCxnSpPr>
          <p:nvPr/>
        </p:nvCxnSpPr>
        <p:spPr>
          <a:xfrm flipV="1">
            <a:off x="9763126" y="1401128"/>
            <a:ext cx="0" cy="134112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40DD55B4-0EED-49B5-933C-440D803F336B}"/>
              </a:ext>
            </a:extLst>
          </p:cNvPr>
          <p:cNvSpPr>
            <a:spLocks noGrp="1"/>
          </p:cNvSpPr>
          <p:nvPr/>
        </p:nvSpPr>
        <p:spPr>
          <a:xfrm>
            <a:off x="9849654" y="275964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E634181-7632-44E2-841C-B76C37F2B9FF}"/>
              </a:ext>
            </a:extLst>
          </p:cNvPr>
          <p:cNvSpPr>
            <a:spLocks noGrp="1"/>
          </p:cNvSpPr>
          <p:nvPr/>
        </p:nvSpPr>
        <p:spPr>
          <a:xfrm>
            <a:off x="10363607" y="1518855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06" name="Straight Arrow Connector 105"/>
          <p:cNvCxnSpPr>
            <a:stCxn id="47" idx="0"/>
            <a:endCxn id="48" idx="3"/>
          </p:cNvCxnSpPr>
          <p:nvPr/>
        </p:nvCxnSpPr>
        <p:spPr>
          <a:xfrm flipV="1">
            <a:off x="9850606" y="1520481"/>
            <a:ext cx="513279" cy="1239168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8B4FBB56-A659-43A8-A814-8D0346902E7C}"/>
              </a:ext>
            </a:extLst>
          </p:cNvPr>
          <p:cNvSpPr>
            <a:spLocks noGrp="1"/>
          </p:cNvSpPr>
          <p:nvPr/>
        </p:nvSpPr>
        <p:spPr>
          <a:xfrm>
            <a:off x="9923817" y="280920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7E6612C-8179-4B99-8001-4616FDB432B7}"/>
              </a:ext>
            </a:extLst>
          </p:cNvPr>
          <p:cNvSpPr>
            <a:spLocks noGrp="1"/>
          </p:cNvSpPr>
          <p:nvPr/>
        </p:nvSpPr>
        <p:spPr>
          <a:xfrm>
            <a:off x="10873479" y="1859541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09" name="Straight Arrow Connector 108"/>
          <p:cNvCxnSpPr>
            <a:stCxn id="50" idx="7"/>
            <a:endCxn id="51" idx="3"/>
          </p:cNvCxnSpPr>
          <p:nvPr/>
        </p:nvCxnSpPr>
        <p:spPr>
          <a:xfrm flipV="1">
            <a:off x="9925443" y="1861167"/>
            <a:ext cx="948315" cy="94831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6446AFC7-0480-40B5-840B-BEC41AB89206}"/>
              </a:ext>
            </a:extLst>
          </p:cNvPr>
          <p:cNvSpPr>
            <a:spLocks noGrp="1"/>
          </p:cNvSpPr>
          <p:nvPr/>
        </p:nvSpPr>
        <p:spPr>
          <a:xfrm>
            <a:off x="9973371" y="288336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E50DE2C-D08B-48A1-A88D-08404C4E6BD4}"/>
              </a:ext>
            </a:extLst>
          </p:cNvPr>
          <p:cNvSpPr>
            <a:spLocks noGrp="1"/>
          </p:cNvSpPr>
          <p:nvPr/>
        </p:nvSpPr>
        <p:spPr>
          <a:xfrm>
            <a:off x="11214165" y="236941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12" name="Straight Arrow Connector 111"/>
          <p:cNvCxnSpPr>
            <a:stCxn id="53" idx="6"/>
            <a:endCxn id="54" idx="3"/>
          </p:cNvCxnSpPr>
          <p:nvPr/>
        </p:nvCxnSpPr>
        <p:spPr>
          <a:xfrm flipV="1">
            <a:off x="9975276" y="2371039"/>
            <a:ext cx="1239168" cy="513279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6A61B297-E75D-48B1-9EB1-93D3F7ADADE3}"/>
              </a:ext>
            </a:extLst>
          </p:cNvPr>
          <p:cNvSpPr>
            <a:spLocks noGrp="1"/>
          </p:cNvSpPr>
          <p:nvPr/>
        </p:nvSpPr>
        <p:spPr>
          <a:xfrm>
            <a:off x="8867775" y="2076450"/>
            <a:ext cx="1790700" cy="1790700"/>
          </a:xfrm>
          <a:prstGeom prst="ellipse">
            <a:avLst/>
          </a:prstGeom>
          <a:noFill/>
          <a:ln w="1905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E585A69-6157-4621-811F-17EF8D2B1A30}"/>
              </a:ext>
            </a:extLst>
          </p:cNvPr>
          <p:cNvSpPr>
            <a:spLocks noGrp="1"/>
          </p:cNvSpPr>
          <p:nvPr/>
        </p:nvSpPr>
        <p:spPr>
          <a:xfrm>
            <a:off x="8334375" y="1543050"/>
            <a:ext cx="2857500" cy="2857500"/>
          </a:xfrm>
          <a:prstGeom prst="ellipse">
            <a:avLst/>
          </a:prstGeom>
          <a:noFill/>
          <a:ln w="1905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1480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6325C49-D5FC-46E6-9C11-F9D63C4261F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W04-05 / LEARNING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08B52F-7E6A-4FD0-8A18-25FC88DDFF0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4-5주차 수업 목표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C30117-CEE7-48FF-9CE0-B67CF7610D08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51083C-BEED-4783-8897-CD83ED750EE5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D2CB92-0407-4C53-96DE-F0EFAD086776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E59320-AF7A-42BD-9509-E2CCC64AE2D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강의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71E85-E49F-4713-A0C0-40CE1559FA92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333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9.28 월
§2.1–§2.2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27F05E-F3CE-4FC9-BB06-FE5C7B664688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강의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2D1804-1D65-448E-8E7B-40077DE97CBC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333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10.1 목
§2.3.1–§2.3.3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32B8C7-2ECD-4C1D-85FB-29C24CE67AA7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연습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3ABD6A-EA81-4C5C-B2D0-C9C860797313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342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10.5 월
가우스 법칙·전위·라플라스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D7390D-D574-4815-8C17-7EDCDE2FD3DD}"/>
              </a:ext>
            </a:extLst>
          </p:cNvPr>
          <p:cNvSpPr>
            <a:spLocks noGrp="1"/>
          </p:cNvSpPr>
          <p:nvPr/>
        </p:nvSpPr>
        <p:spPr>
          <a:xfrm rot="5400000">
            <a:off x="2143125" y="3795713"/>
            <a:ext cx="40957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DF98E-CA38-4C2F-AA3E-F87CD4273B4F}"/>
              </a:ext>
            </a:extLst>
          </p:cNvPr>
          <p:cNvSpPr>
            <a:spLocks noGrp="1"/>
          </p:cNvSpPr>
          <p:nvPr/>
        </p:nvSpPr>
        <p:spPr>
          <a:xfrm>
            <a:off x="4819650" y="17526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완료 증거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B597B1-5227-44CA-A601-72D837FC0B09}"/>
              </a:ext>
            </a:extLst>
          </p:cNvPr>
          <p:cNvSpPr>
            <a:spLocks noGrp="1"/>
          </p:cNvSpPr>
          <p:nvPr/>
        </p:nvSpPr>
        <p:spPr>
          <a:xfrm>
            <a:off x="4819650" y="226695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F6DCB2-B37D-44F7-B005-59D55CDB0EDD}"/>
              </a:ext>
            </a:extLst>
          </p:cNvPr>
          <p:cNvSpPr>
            <a:spLocks noGrp="1"/>
          </p:cNvSpPr>
          <p:nvPr/>
        </p:nvSpPr>
        <p:spPr>
          <a:xfrm>
            <a:off x="5505450" y="2247900"/>
            <a:ext cx="542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쿨롱 법칙을 연속전하분포에 적용한다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F2ECC6-E70D-4ECC-8F13-76C16C30B543}"/>
              </a:ext>
            </a:extLst>
          </p:cNvPr>
          <p:cNvSpPr>
            <a:spLocks noGrp="1"/>
          </p:cNvSpPr>
          <p:nvPr/>
        </p:nvSpPr>
        <p:spPr>
          <a:xfrm>
            <a:off x="5505450" y="2805113"/>
            <a:ext cx="54292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991C02-E7D3-4893-9106-49FB5FB4080E}"/>
              </a:ext>
            </a:extLst>
          </p:cNvPr>
          <p:cNvSpPr>
            <a:spLocks noGrp="1"/>
          </p:cNvSpPr>
          <p:nvPr/>
        </p:nvSpPr>
        <p:spPr>
          <a:xfrm>
            <a:off x="4819650" y="299085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D8C9DB-BAF6-464D-A3E2-31AAE854CBE3}"/>
              </a:ext>
            </a:extLst>
          </p:cNvPr>
          <p:cNvSpPr>
            <a:spLocks noGrp="1"/>
          </p:cNvSpPr>
          <p:nvPr/>
        </p:nvSpPr>
        <p:spPr>
          <a:xfrm>
            <a:off x="5505450" y="2971800"/>
            <a:ext cx="542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가우스 법칙의 두 형태를 연결한다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9FFFF4-D2ED-462D-90D9-4CA3FCE111EB}"/>
              </a:ext>
            </a:extLst>
          </p:cNvPr>
          <p:cNvSpPr>
            <a:spLocks noGrp="1"/>
          </p:cNvSpPr>
          <p:nvPr/>
        </p:nvSpPr>
        <p:spPr>
          <a:xfrm>
            <a:off x="5505450" y="3529013"/>
            <a:ext cx="54292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947AC5-338D-407A-84F7-A17170711DB6}"/>
              </a:ext>
            </a:extLst>
          </p:cNvPr>
          <p:cNvSpPr>
            <a:spLocks noGrp="1"/>
          </p:cNvSpPr>
          <p:nvPr/>
        </p:nvSpPr>
        <p:spPr>
          <a:xfrm>
            <a:off x="4819650" y="371475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A6CA76-D3AA-4B00-A58B-93BA33198799}"/>
              </a:ext>
            </a:extLst>
          </p:cNvPr>
          <p:cNvSpPr>
            <a:spLocks noGrp="1"/>
          </p:cNvSpPr>
          <p:nvPr/>
        </p:nvSpPr>
        <p:spPr>
          <a:xfrm>
            <a:off x="5505450" y="3695700"/>
            <a:ext cx="542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경로독립성에서 전위를 정의한다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6803A3-D486-4A37-8138-6CFF906DF20E}"/>
              </a:ext>
            </a:extLst>
          </p:cNvPr>
          <p:cNvSpPr>
            <a:spLocks noGrp="1"/>
          </p:cNvSpPr>
          <p:nvPr/>
        </p:nvSpPr>
        <p:spPr>
          <a:xfrm>
            <a:off x="5505450" y="4252913"/>
            <a:ext cx="54292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FEAF31-2F28-4704-9B44-B85D275A7D23}"/>
              </a:ext>
            </a:extLst>
          </p:cNvPr>
          <p:cNvSpPr>
            <a:spLocks noGrp="1"/>
          </p:cNvSpPr>
          <p:nvPr/>
        </p:nvSpPr>
        <p:spPr>
          <a:xfrm>
            <a:off x="4819650" y="443865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73585A-D7D5-4A96-A48F-852FF0C82254}"/>
              </a:ext>
            </a:extLst>
          </p:cNvPr>
          <p:cNvSpPr>
            <a:spLocks noGrp="1"/>
          </p:cNvSpPr>
          <p:nvPr/>
        </p:nvSpPr>
        <p:spPr>
          <a:xfrm>
            <a:off x="5505450" y="4419600"/>
            <a:ext cx="542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포아송·라플라스 방정식을 구분한다</a:t>
            </a:r>
          </a:p>
        </p:txBody>
      </p:sp>
    </p:spTree>
    <p:extLst>
      <p:ext uri="{BB962C8B-B14F-4D97-AF65-F5344CB8AC3E}">
        <p14:creationId xmlns:p14="http://schemas.microsoft.com/office/powerpoint/2010/main" val="32542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E736164-4EDC-424A-A3B1-493541A3111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§2.1 / COULOMB'S LAW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24208A-B880-491F-B12C-9D0BA50DCF3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점전하의 전기장은 거리의 제곱에 반비례한다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093729-4DB0-48FA-AC7A-92B68A9E5D38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642512-F703-475D-84F5-2FA57D91506C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57DB03-A40F-4064-AD1B-B09F4965E5D7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2161DF7-0DB8-41A3-84CE-C7122CE97143}"/>
              </a:ext>
            </a:extLst>
          </p:cNvPr>
          <p:cNvSpPr>
            <a:spLocks noGrp="1"/>
          </p:cNvSpPr>
          <p:nvPr/>
        </p:nvSpPr>
        <p:spPr>
          <a:xfrm>
            <a:off x="2609850" y="3371850"/>
            <a:ext cx="495300" cy="4953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324A8A-B2A9-4D16-9D1A-902BEE0012C6}"/>
              </a:ext>
            </a:extLst>
          </p:cNvPr>
          <p:cNvSpPr>
            <a:spLocks noGrp="1"/>
          </p:cNvSpPr>
          <p:nvPr/>
        </p:nvSpPr>
        <p:spPr>
          <a:xfrm>
            <a:off x="2619375" y="3409950"/>
            <a:ext cx="47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0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D876A0-D925-4979-BE25-58DA6FE490F0}"/>
              </a:ext>
            </a:extLst>
          </p:cNvPr>
          <p:cNvSpPr>
            <a:spLocks noGrp="1"/>
          </p:cNvSpPr>
          <p:nvPr/>
        </p:nvSpPr>
        <p:spPr>
          <a:xfrm>
            <a:off x="5238750" y="2762250"/>
            <a:ext cx="190500" cy="190500"/>
          </a:xfrm>
          <a:prstGeom prst="ellipse">
            <a:avLst/>
          </a:prstGeom>
          <a:solidFill>
            <a:srgbClr val="191919"/>
          </a:solidFill>
          <a:ln w="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DD1D0B-EAE4-4BAC-83E8-4BBCA344C921}"/>
              </a:ext>
            </a:extLst>
          </p:cNvPr>
          <p:cNvSpPr>
            <a:spLocks noGrp="1"/>
          </p:cNvSpPr>
          <p:nvPr/>
        </p:nvSpPr>
        <p:spPr>
          <a:xfrm>
            <a:off x="4953000" y="2333625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관측점 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D0599BC-63F6-479F-834A-DD90815CBD73}"/>
              </a:ext>
            </a:extLst>
          </p:cNvPr>
          <p:cNvSpPr>
            <a:spLocks noGrp="1"/>
          </p:cNvSpPr>
          <p:nvPr/>
        </p:nvSpPr>
        <p:spPr>
          <a:xfrm>
            <a:off x="3180398" y="35042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038081C-2FCE-44A3-9B14-93E2FE0B41DF}"/>
              </a:ext>
            </a:extLst>
          </p:cNvPr>
          <p:cNvSpPr>
            <a:spLocks noGrp="1"/>
          </p:cNvSpPr>
          <p:nvPr/>
        </p:nvSpPr>
        <p:spPr>
          <a:xfrm>
            <a:off x="5142548" y="29136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7" name="Straight Arrow Connector 26"/>
          <p:cNvCxnSpPr>
            <a:stCxn id="10" idx="6"/>
            <a:endCxn id="11" idx="2"/>
          </p:cNvCxnSpPr>
          <p:nvPr/>
        </p:nvCxnSpPr>
        <p:spPr>
          <a:xfrm flipV="1">
            <a:off x="3182303" y="2914651"/>
            <a:ext cx="1960245" cy="590550"/>
          </a:xfrm>
          <a:prstGeom prst="straightConnector1">
            <a:avLst/>
          </a:prstGeom>
          <a:ln w="52388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5825B00-BD12-47E0-9D75-D59F992D1EA0}"/>
              </a:ext>
            </a:extLst>
          </p:cNvPr>
          <p:cNvSpPr>
            <a:spLocks noGrp="1"/>
          </p:cNvSpPr>
          <p:nvPr/>
        </p:nvSpPr>
        <p:spPr>
          <a:xfrm>
            <a:off x="3429000" y="28575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𝓡 = r − r′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78120" y="2552700"/>
            <a:ext cx="3779260" cy="10001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E2791E2-128C-46D5-98C0-43DABBBAA58B}"/>
              </a:ext>
            </a:extLst>
          </p:cNvPr>
          <p:cNvSpPr>
            <a:spLocks noGrp="1"/>
          </p:cNvSpPr>
          <p:nvPr/>
        </p:nvSpPr>
        <p:spPr>
          <a:xfrm>
            <a:off x="6191250" y="409575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방향은 원천점 r′에서 관측점 r을 향한다. 음전하는 화살표 방향을 반대로 만든다.</a:t>
            </a:r>
          </a:p>
        </p:txBody>
      </p:sp>
    </p:spTree>
    <p:extLst>
      <p:ext uri="{BB962C8B-B14F-4D97-AF65-F5344CB8AC3E}">
        <p14:creationId xmlns:p14="http://schemas.microsoft.com/office/powerpoint/2010/main" val="1654338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63A9A78-46C1-4E06-85A2-D4F571BDB95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§2.1 / SUPERPOSITION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F81F37-FFE7-43D9-9A6D-D8DAFF66E18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여러 점전하의 전기장은 각 전기장의 벡터합이다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933BEC-1ABF-445C-A01A-C55C09B15A65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F6FB-D2C1-4374-B45B-AC8D659A2F91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0D2CE6-568E-4F9C-AEF3-2B4F6E744AD3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A392E5-1530-4527-AC2E-580A073DB684}"/>
              </a:ext>
            </a:extLst>
          </p:cNvPr>
          <p:cNvSpPr>
            <a:spLocks noGrp="1"/>
          </p:cNvSpPr>
          <p:nvPr/>
        </p:nvSpPr>
        <p:spPr>
          <a:xfrm>
            <a:off x="1733550" y="2876550"/>
            <a:ext cx="533400" cy="5334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CD818E-B60C-411B-BBA1-018774A12316}"/>
              </a:ext>
            </a:extLst>
          </p:cNvPr>
          <p:cNvSpPr>
            <a:spLocks noGrp="1"/>
          </p:cNvSpPr>
          <p:nvPr/>
        </p:nvSpPr>
        <p:spPr>
          <a:xfrm>
            <a:off x="1571625" y="2971800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+q₁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182792-3DFD-43FB-BD78-3A5F72AACD9D}"/>
              </a:ext>
            </a:extLst>
          </p:cNvPr>
          <p:cNvSpPr>
            <a:spLocks noGrp="1"/>
          </p:cNvSpPr>
          <p:nvPr/>
        </p:nvSpPr>
        <p:spPr>
          <a:xfrm rot="518228">
            <a:off x="2264421" y="3419475"/>
            <a:ext cx="3805533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04C5DB-8E14-49C6-BDF7-AA8892527448}"/>
              </a:ext>
            </a:extLst>
          </p:cNvPr>
          <p:cNvSpPr>
            <a:spLocks noGrp="1"/>
          </p:cNvSpPr>
          <p:nvPr/>
        </p:nvSpPr>
        <p:spPr>
          <a:xfrm>
            <a:off x="3067050" y="4495800"/>
            <a:ext cx="533400" cy="533400"/>
          </a:xfrm>
          <a:prstGeom prst="ellipse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E075D9-E64E-4237-B4B1-8E0A0C2060A0}"/>
              </a:ext>
            </a:extLst>
          </p:cNvPr>
          <p:cNvSpPr>
            <a:spLocks noGrp="1"/>
          </p:cNvSpPr>
          <p:nvPr/>
        </p:nvSpPr>
        <p:spPr>
          <a:xfrm>
            <a:off x="2905125" y="4591050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−q₂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1B48B2-0AC9-4B33-B361-AC9784B26F9C}"/>
              </a:ext>
            </a:extLst>
          </p:cNvPr>
          <p:cNvSpPr>
            <a:spLocks noGrp="1"/>
          </p:cNvSpPr>
          <p:nvPr/>
        </p:nvSpPr>
        <p:spPr>
          <a:xfrm rot="-1400042">
            <a:off x="3511325" y="4229100"/>
            <a:ext cx="2645225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0131DB-A62C-43CC-8341-3EB57E0FA084}"/>
              </a:ext>
            </a:extLst>
          </p:cNvPr>
          <p:cNvSpPr>
            <a:spLocks noGrp="1"/>
          </p:cNvSpPr>
          <p:nvPr/>
        </p:nvSpPr>
        <p:spPr>
          <a:xfrm>
            <a:off x="4210050" y="2209800"/>
            <a:ext cx="533400" cy="5334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1C60EC-AA8C-435B-B917-721DE5DB2385}"/>
              </a:ext>
            </a:extLst>
          </p:cNvPr>
          <p:cNvSpPr>
            <a:spLocks noGrp="1"/>
          </p:cNvSpPr>
          <p:nvPr/>
        </p:nvSpPr>
        <p:spPr>
          <a:xfrm>
            <a:off x="4048125" y="2305050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+q₃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FCA58-2DBC-45BA-8972-E5699AF573DA}"/>
              </a:ext>
            </a:extLst>
          </p:cNvPr>
          <p:cNvSpPr>
            <a:spLocks noGrp="1"/>
          </p:cNvSpPr>
          <p:nvPr/>
        </p:nvSpPr>
        <p:spPr>
          <a:xfrm rot="2635145">
            <a:off x="4512866" y="3086100"/>
            <a:ext cx="1785144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55D2590-181D-40D7-A1FE-BF4BBED89855}"/>
              </a:ext>
            </a:extLst>
          </p:cNvPr>
          <p:cNvSpPr>
            <a:spLocks noGrp="1"/>
          </p:cNvSpPr>
          <p:nvPr/>
        </p:nvSpPr>
        <p:spPr>
          <a:xfrm>
            <a:off x="6105525" y="3629025"/>
            <a:ext cx="171450" cy="171450"/>
          </a:xfrm>
          <a:prstGeom prst="ellipse">
            <a:avLst/>
          </a:prstGeom>
          <a:solidFill>
            <a:srgbClr val="191919"/>
          </a:solidFill>
          <a:ln w="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B5DB06-6967-4ECE-852A-2C25F6A3B565}"/>
              </a:ext>
            </a:extLst>
          </p:cNvPr>
          <p:cNvSpPr>
            <a:spLocks noGrp="1"/>
          </p:cNvSpPr>
          <p:nvPr/>
        </p:nvSpPr>
        <p:spPr>
          <a:xfrm>
            <a:off x="6096000" y="39814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69250" y="2590800"/>
            <a:ext cx="3663749" cy="10001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06CBBEE-F163-407D-B6F5-E2BB91D34922}"/>
              </a:ext>
            </a:extLst>
          </p:cNvPr>
          <p:cNvSpPr>
            <a:spLocks noGrp="1"/>
          </p:cNvSpPr>
          <p:nvPr/>
        </p:nvSpPr>
        <p:spPr>
          <a:xfrm>
            <a:off x="6858000" y="4114800"/>
            <a:ext cx="4286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크기만 더하지 않는다. 각 항의 방향을 같은 좌표계 성분으로 바꾼 뒤 더한다.</a:t>
            </a:r>
          </a:p>
        </p:txBody>
      </p:sp>
    </p:spTree>
    <p:extLst>
      <p:ext uri="{BB962C8B-B14F-4D97-AF65-F5344CB8AC3E}">
        <p14:creationId xmlns:p14="http://schemas.microsoft.com/office/powerpoint/2010/main" val="2032327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2DD343B-756F-432C-98CB-B3DC94BC815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§2.1 / CONTINUOUS CHARGE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D25211-B798-47D3-ADA3-3176B5F4FDA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연속전하분포에서는 작은 전하 dq의 기여를 적분한다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7660FC-671F-4266-8477-B7A00645E2F7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1E73B2-0225-41C8-BE33-B954E6785A3D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A55C30-E450-4C1A-81DD-72173635BB94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07560" y="2000250"/>
            <a:ext cx="8976880" cy="1000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977D75-51DA-4569-8728-E38F7FCB85B1}"/>
              </a:ext>
            </a:extLst>
          </p:cNvPr>
          <p:cNvSpPr>
            <a:spLocks noGrp="1"/>
          </p:cNvSpPr>
          <p:nvPr/>
        </p:nvSpPr>
        <p:spPr>
          <a:xfrm>
            <a:off x="1095375" y="4152900"/>
            <a:ext cx="18097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DBF126-C63E-463A-97D8-52FAA537264C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선전하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6E4AE-2B69-4EFF-8E34-FA484565CAD2}"/>
              </a:ext>
            </a:extLst>
          </p:cNvPr>
          <p:cNvSpPr>
            <a:spLocks noGrp="1"/>
          </p:cNvSpPr>
          <p:nvPr/>
        </p:nvSpPr>
        <p:spPr>
          <a:xfrm>
            <a:off x="857250" y="54483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9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λ = dq/dl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F7BD42F4-945B-42E3-8A18-515C6D35DD76}"/>
              </a:ext>
            </a:extLst>
          </p:cNvPr>
          <p:cNvSpPr>
            <a:spLocks noGrp="1"/>
          </p:cNvSpPr>
          <p:nvPr/>
        </p:nvSpPr>
        <p:spPr>
          <a:xfrm rot="-480000">
            <a:off x="5143500" y="3619500"/>
            <a:ext cx="1905000" cy="1143000"/>
          </a:xfrm>
          <a:prstGeom prst="parallelogram">
            <a:avLst/>
          </a:prstGeom>
          <a:solidFill>
            <a:srgbClr val="E0F0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E4CBA5-334C-4DA1-B169-277C4D5DF473}"/>
              </a:ext>
            </a:extLst>
          </p:cNvPr>
          <p:cNvSpPr>
            <a:spLocks noGrp="1"/>
          </p:cNvSpPr>
          <p:nvPr/>
        </p:nvSpPr>
        <p:spPr>
          <a:xfrm>
            <a:off x="5048250" y="50482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면전하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A526DF-E9A2-4CFD-9B41-07B581C14EAF}"/>
              </a:ext>
            </a:extLst>
          </p:cNvPr>
          <p:cNvSpPr>
            <a:spLocks noGrp="1"/>
          </p:cNvSpPr>
          <p:nvPr/>
        </p:nvSpPr>
        <p:spPr>
          <a:xfrm>
            <a:off x="4953000" y="54483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9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σ = dq/da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707CD1-8B77-4481-A35C-D0C8913E5D5C}"/>
              </a:ext>
            </a:extLst>
          </p:cNvPr>
          <p:cNvSpPr>
            <a:spLocks noGrp="1"/>
          </p:cNvSpPr>
          <p:nvPr/>
        </p:nvSpPr>
        <p:spPr>
          <a:xfrm>
            <a:off x="9105900" y="3486150"/>
            <a:ext cx="1409700" cy="1409700"/>
          </a:xfrm>
          <a:prstGeom prst="ellipse">
            <a:avLst/>
          </a:prstGeom>
          <a:solidFill>
            <a:srgbClr val="E0F0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F845FD-EB86-4585-B0AD-A01D605D0D77}"/>
              </a:ext>
            </a:extLst>
          </p:cNvPr>
          <p:cNvSpPr>
            <a:spLocks noGrp="1"/>
          </p:cNvSpPr>
          <p:nvPr/>
        </p:nvSpPr>
        <p:spPr>
          <a:xfrm>
            <a:off x="9553575" y="393382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EF0152A-4297-41C5-A939-87524E69ADEF}"/>
              </a:ext>
            </a:extLst>
          </p:cNvPr>
          <p:cNvSpPr>
            <a:spLocks noGrp="1"/>
          </p:cNvSpPr>
          <p:nvPr/>
        </p:nvSpPr>
        <p:spPr>
          <a:xfrm>
            <a:off x="10010775" y="431482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3BBB4A-1EC6-4095-B9EA-0064DF3C19DC}"/>
              </a:ext>
            </a:extLst>
          </p:cNvPr>
          <p:cNvSpPr>
            <a:spLocks noGrp="1"/>
          </p:cNvSpPr>
          <p:nvPr/>
        </p:nvSpPr>
        <p:spPr>
          <a:xfrm>
            <a:off x="8763000" y="50482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체적전하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7B703C-C623-4389-A761-EED568FF6952}"/>
              </a:ext>
            </a:extLst>
          </p:cNvPr>
          <p:cNvSpPr>
            <a:spLocks noGrp="1"/>
          </p:cNvSpPr>
          <p:nvPr/>
        </p:nvSpPr>
        <p:spPr>
          <a:xfrm>
            <a:off x="8667750" y="54483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9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ρ = dq/dτ</a:t>
            </a:r>
          </a:p>
        </p:txBody>
      </p:sp>
    </p:spTree>
    <p:extLst>
      <p:ext uri="{BB962C8B-B14F-4D97-AF65-F5344CB8AC3E}">
        <p14:creationId xmlns:p14="http://schemas.microsoft.com/office/powerpoint/2010/main" val="1204739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4C77FF6-EDE5-484F-A2BB-F4A6DDB4411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W04-05 / LEARNING 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F773BE-519C-425B-8A4B-0588FCC0C8B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전하에서 전기장으로, 전기장에서 전위방정식으로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78E4E9-0AA0-483D-AAEF-7E5F8E0CAE17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EF0F1-B68A-498A-9157-E5B1CF79B5CE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779BFD-41EB-48AF-823C-EA3A91CDE2B6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E99B15-B622-49A8-A9D0-94C727E4EF92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710D43-68BD-4435-A5E5-E15511B45668}"/>
              </a:ext>
            </a:extLst>
          </p:cNvPr>
          <p:cNvSpPr>
            <a:spLocks noGrp="1"/>
          </p:cNvSpPr>
          <p:nvPr/>
        </p:nvSpPr>
        <p:spPr>
          <a:xfrm>
            <a:off x="1562100" y="17526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전하분포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7C8D3B-E97F-47DF-A81A-BAEDD5313D3F}"/>
              </a:ext>
            </a:extLst>
          </p:cNvPr>
          <p:cNvSpPr>
            <a:spLocks noGrp="1"/>
          </p:cNvSpPr>
          <p:nvPr/>
        </p:nvSpPr>
        <p:spPr>
          <a:xfrm>
            <a:off x="4629150" y="175260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rPr>
              <a:t>ρ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B45C00-A83D-4CB9-B090-37921E1E9715}"/>
              </a:ext>
            </a:extLst>
          </p:cNvPr>
          <p:cNvSpPr>
            <a:spLocks noGrp="1"/>
          </p:cNvSpPr>
          <p:nvPr/>
        </p:nvSpPr>
        <p:spPr>
          <a:xfrm>
            <a:off x="7753350" y="1752600"/>
            <a:ext cx="342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9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쿨롱 법칙·중첩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6E9278-26C6-49A0-B536-0FF582252026}"/>
              </a:ext>
            </a:extLst>
          </p:cNvPr>
          <p:cNvSpPr>
            <a:spLocks noGrp="1"/>
          </p:cNvSpPr>
          <p:nvPr/>
        </p:nvSpPr>
        <p:spPr>
          <a:xfrm>
            <a:off x="1562100" y="2357438"/>
            <a:ext cx="9620250" cy="95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0463FC-CAC0-4CBB-B345-B7DC3AAD8C5C}"/>
              </a:ext>
            </a:extLst>
          </p:cNvPr>
          <p:cNvSpPr>
            <a:spLocks noGrp="1"/>
          </p:cNvSpPr>
          <p:nvPr/>
        </p:nvSpPr>
        <p:spPr>
          <a:xfrm>
            <a:off x="685800" y="2752725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71FDE4-BAD7-4562-B1DC-69A95A571D62}"/>
              </a:ext>
            </a:extLst>
          </p:cNvPr>
          <p:cNvSpPr>
            <a:spLocks noGrp="1"/>
          </p:cNvSpPr>
          <p:nvPr/>
        </p:nvSpPr>
        <p:spPr>
          <a:xfrm>
            <a:off x="1562100" y="27241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장방정식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22E2B9-1BCE-4EF7-B2C8-26AB01CE99A1}"/>
              </a:ext>
            </a:extLst>
          </p:cNvPr>
          <p:cNvSpPr>
            <a:spLocks noGrp="1"/>
          </p:cNvSpPr>
          <p:nvPr/>
        </p:nvSpPr>
        <p:spPr>
          <a:xfrm>
            <a:off x="4629150" y="27241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rPr>
              <a:t>∇·E, ∇×E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B4FDF6-911D-4F92-9708-5467CAB1F155}"/>
              </a:ext>
            </a:extLst>
          </p:cNvPr>
          <p:cNvSpPr>
            <a:spLocks noGrp="1"/>
          </p:cNvSpPr>
          <p:nvPr/>
        </p:nvSpPr>
        <p:spPr>
          <a:xfrm>
            <a:off x="7753350" y="2724150"/>
            <a:ext cx="342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9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가우스 법칙·보존성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9EF6AD-3E39-4223-988C-730BFD7E3DA5}"/>
              </a:ext>
            </a:extLst>
          </p:cNvPr>
          <p:cNvSpPr>
            <a:spLocks noGrp="1"/>
          </p:cNvSpPr>
          <p:nvPr/>
        </p:nvSpPr>
        <p:spPr>
          <a:xfrm>
            <a:off x="1562100" y="3328988"/>
            <a:ext cx="9620250" cy="95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4955D2-657C-45CC-A31D-8EB362E67BB6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E767CF-956B-467A-8713-47B5E1576B6B}"/>
              </a:ext>
            </a:extLst>
          </p:cNvPr>
          <p:cNvSpPr>
            <a:spLocks noGrp="1"/>
          </p:cNvSpPr>
          <p:nvPr/>
        </p:nvSpPr>
        <p:spPr>
          <a:xfrm>
            <a:off x="1562100" y="36957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전위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B2111A-FCCB-4D21-BEAE-215313723336}"/>
              </a:ext>
            </a:extLst>
          </p:cNvPr>
          <p:cNvSpPr>
            <a:spLocks noGrp="1"/>
          </p:cNvSpPr>
          <p:nvPr/>
        </p:nvSpPr>
        <p:spPr>
          <a:xfrm>
            <a:off x="4629150" y="369570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rPr>
              <a:t>E = −∇V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ECB66B-CD8F-4E0B-B67F-4861EA0117B9}"/>
              </a:ext>
            </a:extLst>
          </p:cNvPr>
          <p:cNvSpPr>
            <a:spLocks noGrp="1"/>
          </p:cNvSpPr>
          <p:nvPr/>
        </p:nvSpPr>
        <p:spPr>
          <a:xfrm>
            <a:off x="7753350" y="3695700"/>
            <a:ext cx="342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9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스칼라 표현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7A63EF-9B7C-4D6E-B6B8-20A6163E010F}"/>
              </a:ext>
            </a:extLst>
          </p:cNvPr>
          <p:cNvSpPr>
            <a:spLocks noGrp="1"/>
          </p:cNvSpPr>
          <p:nvPr/>
        </p:nvSpPr>
        <p:spPr>
          <a:xfrm>
            <a:off x="1562100" y="4300538"/>
            <a:ext cx="9620250" cy="95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DE0DE9-1432-4D10-B3FA-911B254F017B}"/>
              </a:ext>
            </a:extLst>
          </p:cNvPr>
          <p:cNvSpPr>
            <a:spLocks noGrp="1"/>
          </p:cNvSpPr>
          <p:nvPr/>
        </p:nvSpPr>
        <p:spPr>
          <a:xfrm>
            <a:off x="685800" y="4695825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CB7673-0E97-4559-B98F-379299AC686B}"/>
              </a:ext>
            </a:extLst>
          </p:cNvPr>
          <p:cNvSpPr>
            <a:spLocks noGrp="1"/>
          </p:cNvSpPr>
          <p:nvPr/>
        </p:nvSpPr>
        <p:spPr>
          <a:xfrm>
            <a:off x="1562100" y="46672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전위방정식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632294-19D4-4103-B975-DC3F55A92832}"/>
              </a:ext>
            </a:extLst>
          </p:cNvPr>
          <p:cNvSpPr>
            <a:spLocks noGrp="1"/>
          </p:cNvSpPr>
          <p:nvPr/>
        </p:nvSpPr>
        <p:spPr>
          <a:xfrm>
            <a:off x="4629150" y="46672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rPr>
              <a:t>∇²V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C83C3D-D57B-43AC-A676-26A800631B38}"/>
              </a:ext>
            </a:extLst>
          </p:cNvPr>
          <p:cNvSpPr>
            <a:spLocks noGrp="1"/>
          </p:cNvSpPr>
          <p:nvPr/>
        </p:nvSpPr>
        <p:spPr>
          <a:xfrm>
            <a:off x="7753350" y="4667250"/>
            <a:ext cx="342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9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포아송·라플라스</a:t>
            </a:r>
          </a:p>
        </p:txBody>
      </p:sp>
    </p:spTree>
    <p:extLst>
      <p:ext uri="{BB962C8B-B14F-4D97-AF65-F5344CB8AC3E}">
        <p14:creationId xmlns:p14="http://schemas.microsoft.com/office/powerpoint/2010/main" val="429915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C8421D9-0121-4964-AB78-610D4E53E45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WHY NEW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D40961-2674-41E4-8A65-4EAA09449EB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쿨롱 적분은 항상 정답이지만 항상 좋은 계산법은 아니다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F2513-7DD4-4C22-A7E4-388E65A780AE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9DCDDC-1604-4E91-A00F-03F58FFD7F90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0F1245-4376-47B8-B6B8-348452FBF054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09313" y="1862138"/>
            <a:ext cx="5173374" cy="1000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83CE00A-312A-4786-B5ED-E949137A6190}"/>
              </a:ext>
            </a:extLst>
          </p:cNvPr>
          <p:cNvSpPr>
            <a:spLocks noGrp="1"/>
          </p:cNvSpPr>
          <p:nvPr/>
        </p:nvSpPr>
        <p:spPr>
          <a:xfrm>
            <a:off x="1066800" y="32956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대칭이 있어도 벡터 적분은 방향과 거리의 변화를 모두 추적해야 한다.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0193DF-A4C2-4876-AA0A-89CA5829F2BA}"/>
              </a:ext>
            </a:extLst>
          </p:cNvPr>
          <p:cNvSpPr>
            <a:spLocks noGrp="1"/>
          </p:cNvSpPr>
          <p:nvPr/>
        </p:nvSpPr>
        <p:spPr>
          <a:xfrm>
            <a:off x="2266950" y="4086225"/>
            <a:ext cx="76581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9F7A61-C2BC-472B-A7FD-5C7220EBE866}"/>
              </a:ext>
            </a:extLst>
          </p:cNvPr>
          <p:cNvSpPr>
            <a:spLocks noGrp="1"/>
          </p:cNvSpPr>
          <p:nvPr/>
        </p:nvSpPr>
        <p:spPr>
          <a:xfrm>
            <a:off x="1066800" y="449580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이번 주의 우회로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8F394E-9A74-4C7E-85DD-3A7523BFB5B7}"/>
              </a:ext>
            </a:extLst>
          </p:cNvPr>
          <p:cNvSpPr>
            <a:spLocks noGrp="1"/>
          </p:cNvSpPr>
          <p:nvPr/>
        </p:nvSpPr>
        <p:spPr>
          <a:xfrm>
            <a:off x="3467100" y="4429125"/>
            <a:ext cx="7600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닫힌 면의 플럭스로 E를 구하고, 회전이 0이라는 사실로 V를 정의한다.</a:t>
            </a:r>
          </a:p>
        </p:txBody>
      </p:sp>
    </p:spTree>
    <p:extLst>
      <p:ext uri="{BB962C8B-B14F-4D97-AF65-F5344CB8AC3E}">
        <p14:creationId xmlns:p14="http://schemas.microsoft.com/office/powerpoint/2010/main" val="95108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A8A53D9C-6085-40B9-805D-3FB6A3D9528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FIELD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92087C-67D0-4EE1-9AB4-977B2EE0931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선의 밀도는 전기장의 세기를 나타낸다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4ABAAA-432C-46DA-A95C-365A3551F62D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56D88-1ED1-4CB1-9B0F-F08F0F91ABA4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98BD6-F84B-45C6-A112-D9CDC76E829C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4846D0-DB45-4516-9CA3-9E920F93B550}"/>
              </a:ext>
            </a:extLst>
          </p:cNvPr>
          <p:cNvSpPr>
            <a:spLocks noGrp="1"/>
          </p:cNvSpPr>
          <p:nvPr/>
        </p:nvSpPr>
        <p:spPr>
          <a:xfrm>
            <a:off x="3133725" y="3400425"/>
            <a:ext cx="209550" cy="2095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63AE8D-DADF-482B-BDEC-1EFEA42C8342}"/>
              </a:ext>
            </a:extLst>
          </p:cNvPr>
          <p:cNvSpPr>
            <a:spLocks noGrp="1"/>
          </p:cNvSpPr>
          <p:nvPr/>
        </p:nvSpPr>
        <p:spPr>
          <a:xfrm>
            <a:off x="3466148" y="35042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CC272E-3C86-404B-B0DB-E3AC46658E4C}"/>
              </a:ext>
            </a:extLst>
          </p:cNvPr>
          <p:cNvSpPr>
            <a:spLocks noGrp="1"/>
          </p:cNvSpPr>
          <p:nvPr/>
        </p:nvSpPr>
        <p:spPr>
          <a:xfrm>
            <a:off x="5047298" y="35042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5" name="Straight Arrow Connector 64"/>
          <p:cNvCxnSpPr>
            <a:stCxn id="7" idx="6"/>
            <a:endCxn id="8" idx="2"/>
          </p:cNvCxnSpPr>
          <p:nvPr/>
        </p:nvCxnSpPr>
        <p:spPr>
          <a:xfrm>
            <a:off x="3468053" y="3505201"/>
            <a:ext cx="1579245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A4A661A-FFEE-4E33-AF28-732DBF445EAE}"/>
              </a:ext>
            </a:extLst>
          </p:cNvPr>
          <p:cNvSpPr>
            <a:spLocks noGrp="1"/>
          </p:cNvSpPr>
          <p:nvPr/>
        </p:nvSpPr>
        <p:spPr>
          <a:xfrm>
            <a:off x="3443509" y="360343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67B3694-1EF2-4803-8206-7E4B0282501F}"/>
              </a:ext>
            </a:extLst>
          </p:cNvPr>
          <p:cNvSpPr>
            <a:spLocks noGrp="1"/>
          </p:cNvSpPr>
          <p:nvPr/>
        </p:nvSpPr>
        <p:spPr>
          <a:xfrm>
            <a:off x="4868076" y="428946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8" name="Straight Arrow Connector 67"/>
          <p:cNvCxnSpPr>
            <a:stCxn id="10" idx="5"/>
            <a:endCxn id="11" idx="1"/>
          </p:cNvCxnSpPr>
          <p:nvPr/>
        </p:nvCxnSpPr>
        <p:spPr>
          <a:xfrm>
            <a:off x="3445135" y="3605059"/>
            <a:ext cx="1423220" cy="684689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9D5E3BD-9FFF-483E-86A8-1ABC119C6822}"/>
              </a:ext>
            </a:extLst>
          </p:cNvPr>
          <p:cNvSpPr>
            <a:spLocks noGrp="1"/>
          </p:cNvSpPr>
          <p:nvPr/>
        </p:nvSpPr>
        <p:spPr>
          <a:xfrm>
            <a:off x="3380077" y="3682974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6C92856-60ED-4298-9A31-A6E744B3692A}"/>
              </a:ext>
            </a:extLst>
          </p:cNvPr>
          <p:cNvSpPr>
            <a:spLocks noGrp="1"/>
          </p:cNvSpPr>
          <p:nvPr/>
        </p:nvSpPr>
        <p:spPr>
          <a:xfrm>
            <a:off x="4365908" y="4919167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1" name="Straight Arrow Connector 70"/>
          <p:cNvCxnSpPr>
            <a:stCxn id="13" idx="5"/>
            <a:endCxn id="14" idx="1"/>
          </p:cNvCxnSpPr>
          <p:nvPr/>
        </p:nvCxnSpPr>
        <p:spPr>
          <a:xfrm>
            <a:off x="3381703" y="3684600"/>
            <a:ext cx="984484" cy="1234846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A055389-0AFD-43C2-BD24-DBAB6B98D6C6}"/>
              </a:ext>
            </a:extLst>
          </p:cNvPr>
          <p:cNvSpPr>
            <a:spLocks noGrp="1"/>
          </p:cNvSpPr>
          <p:nvPr/>
        </p:nvSpPr>
        <p:spPr>
          <a:xfrm>
            <a:off x="3288416" y="372711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000CD57-198B-4921-B4B9-C2B8D36B840F}"/>
              </a:ext>
            </a:extLst>
          </p:cNvPr>
          <p:cNvSpPr>
            <a:spLocks noGrp="1"/>
          </p:cNvSpPr>
          <p:nvPr/>
        </p:nvSpPr>
        <p:spPr>
          <a:xfrm>
            <a:off x="3640255" y="526862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4" name="Straight Arrow Connector 73"/>
          <p:cNvCxnSpPr>
            <a:stCxn id="16" idx="4"/>
            <a:endCxn id="17" idx="0"/>
          </p:cNvCxnSpPr>
          <p:nvPr/>
        </p:nvCxnSpPr>
        <p:spPr>
          <a:xfrm>
            <a:off x="3289369" y="3729021"/>
            <a:ext cx="351839" cy="1539602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935B29B-5B4F-4277-A4AF-36913FD89EE6}"/>
              </a:ext>
            </a:extLst>
          </p:cNvPr>
          <p:cNvSpPr>
            <a:spLocks noGrp="1"/>
          </p:cNvSpPr>
          <p:nvPr/>
        </p:nvSpPr>
        <p:spPr>
          <a:xfrm>
            <a:off x="3186679" y="372711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268C71-0625-4216-8D4A-6565387BB209}"/>
              </a:ext>
            </a:extLst>
          </p:cNvPr>
          <p:cNvSpPr>
            <a:spLocks noGrp="1"/>
          </p:cNvSpPr>
          <p:nvPr/>
        </p:nvSpPr>
        <p:spPr>
          <a:xfrm>
            <a:off x="2834840" y="526862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7" name="Straight Arrow Connector 76"/>
          <p:cNvCxnSpPr>
            <a:stCxn id="19" idx="4"/>
            <a:endCxn id="20" idx="0"/>
          </p:cNvCxnSpPr>
          <p:nvPr/>
        </p:nvCxnSpPr>
        <p:spPr>
          <a:xfrm flipH="1">
            <a:off x="2835793" y="3729021"/>
            <a:ext cx="351839" cy="1539602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D3FED949-9AC0-415B-8148-FA7D1DE1826A}"/>
              </a:ext>
            </a:extLst>
          </p:cNvPr>
          <p:cNvSpPr>
            <a:spLocks noGrp="1"/>
          </p:cNvSpPr>
          <p:nvPr/>
        </p:nvSpPr>
        <p:spPr>
          <a:xfrm>
            <a:off x="3095018" y="3682974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F36F3A8-6427-4FF4-B259-9116F4F7F06F}"/>
              </a:ext>
            </a:extLst>
          </p:cNvPr>
          <p:cNvSpPr>
            <a:spLocks noGrp="1"/>
          </p:cNvSpPr>
          <p:nvPr/>
        </p:nvSpPr>
        <p:spPr>
          <a:xfrm>
            <a:off x="2109187" y="4919167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0" name="Straight Arrow Connector 79"/>
          <p:cNvCxnSpPr>
            <a:stCxn id="22" idx="3"/>
            <a:endCxn id="23" idx="7"/>
          </p:cNvCxnSpPr>
          <p:nvPr/>
        </p:nvCxnSpPr>
        <p:spPr>
          <a:xfrm flipH="1">
            <a:off x="2110813" y="3684600"/>
            <a:ext cx="984484" cy="1234846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ED7B5C62-1E13-4D05-A196-A3AB5D5BB0CA}"/>
              </a:ext>
            </a:extLst>
          </p:cNvPr>
          <p:cNvSpPr>
            <a:spLocks noGrp="1"/>
          </p:cNvSpPr>
          <p:nvPr/>
        </p:nvSpPr>
        <p:spPr>
          <a:xfrm>
            <a:off x="3031586" y="360343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F4D6B46-2135-4E82-A7FE-1AD6F5CAF20B}"/>
              </a:ext>
            </a:extLst>
          </p:cNvPr>
          <p:cNvSpPr>
            <a:spLocks noGrp="1"/>
          </p:cNvSpPr>
          <p:nvPr/>
        </p:nvSpPr>
        <p:spPr>
          <a:xfrm>
            <a:off x="1607019" y="428946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3" name="Straight Arrow Connector 82"/>
          <p:cNvCxnSpPr>
            <a:stCxn id="25" idx="3"/>
            <a:endCxn id="26" idx="7"/>
          </p:cNvCxnSpPr>
          <p:nvPr/>
        </p:nvCxnSpPr>
        <p:spPr>
          <a:xfrm flipH="1">
            <a:off x="1608645" y="3605059"/>
            <a:ext cx="1423220" cy="684689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FA2AB5B-D796-4CCE-AF8D-5E2214EAB8DE}"/>
              </a:ext>
            </a:extLst>
          </p:cNvPr>
          <p:cNvSpPr>
            <a:spLocks noGrp="1"/>
          </p:cNvSpPr>
          <p:nvPr/>
        </p:nvSpPr>
        <p:spPr>
          <a:xfrm>
            <a:off x="3008948" y="35042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2E4CC31-0605-4FD9-AC2B-D2DE3A5E514B}"/>
              </a:ext>
            </a:extLst>
          </p:cNvPr>
          <p:cNvSpPr>
            <a:spLocks noGrp="1"/>
          </p:cNvSpPr>
          <p:nvPr/>
        </p:nvSpPr>
        <p:spPr>
          <a:xfrm>
            <a:off x="1427798" y="35042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6" name="Straight Arrow Connector 85"/>
          <p:cNvCxnSpPr>
            <a:stCxn id="28" idx="2"/>
            <a:endCxn id="29" idx="6"/>
          </p:cNvCxnSpPr>
          <p:nvPr/>
        </p:nvCxnSpPr>
        <p:spPr>
          <a:xfrm flipH="1">
            <a:off x="1429703" y="3505201"/>
            <a:ext cx="1579245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194AF741-418B-4320-8451-FDD77D36EEC8}"/>
              </a:ext>
            </a:extLst>
          </p:cNvPr>
          <p:cNvSpPr>
            <a:spLocks noGrp="1"/>
          </p:cNvSpPr>
          <p:nvPr/>
        </p:nvSpPr>
        <p:spPr>
          <a:xfrm>
            <a:off x="3031586" y="340506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64798ED-8769-4257-A7F5-261AFFB8ECA1}"/>
              </a:ext>
            </a:extLst>
          </p:cNvPr>
          <p:cNvSpPr>
            <a:spLocks noGrp="1"/>
          </p:cNvSpPr>
          <p:nvPr/>
        </p:nvSpPr>
        <p:spPr>
          <a:xfrm>
            <a:off x="1607019" y="271902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9" name="Straight Arrow Connector 88"/>
          <p:cNvCxnSpPr>
            <a:stCxn id="31" idx="1"/>
            <a:endCxn id="32" idx="5"/>
          </p:cNvCxnSpPr>
          <p:nvPr/>
        </p:nvCxnSpPr>
        <p:spPr>
          <a:xfrm flipH="1" flipV="1">
            <a:off x="1608645" y="2720652"/>
            <a:ext cx="1423220" cy="684689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637E82DE-3E51-4441-9F8E-2C5811E2F6A5}"/>
              </a:ext>
            </a:extLst>
          </p:cNvPr>
          <p:cNvSpPr>
            <a:spLocks noGrp="1"/>
          </p:cNvSpPr>
          <p:nvPr/>
        </p:nvSpPr>
        <p:spPr>
          <a:xfrm>
            <a:off x="3095018" y="3325521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3F31B68-FD31-4921-9262-348E98A8BF57}"/>
              </a:ext>
            </a:extLst>
          </p:cNvPr>
          <p:cNvSpPr>
            <a:spLocks noGrp="1"/>
          </p:cNvSpPr>
          <p:nvPr/>
        </p:nvSpPr>
        <p:spPr>
          <a:xfrm>
            <a:off x="2109187" y="208932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2" name="Straight Arrow Connector 91"/>
          <p:cNvCxnSpPr>
            <a:stCxn id="34" idx="1"/>
            <a:endCxn id="35" idx="5"/>
          </p:cNvCxnSpPr>
          <p:nvPr/>
        </p:nvCxnSpPr>
        <p:spPr>
          <a:xfrm flipH="1" flipV="1">
            <a:off x="2110813" y="2090954"/>
            <a:ext cx="984484" cy="1234846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5C67212B-B1D1-4E09-9A8F-E220AB7970B7}"/>
              </a:ext>
            </a:extLst>
          </p:cNvPr>
          <p:cNvSpPr>
            <a:spLocks noGrp="1"/>
          </p:cNvSpPr>
          <p:nvPr/>
        </p:nvSpPr>
        <p:spPr>
          <a:xfrm>
            <a:off x="3186679" y="328137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AC5181D-147C-483C-BC88-460CA970D05E}"/>
              </a:ext>
            </a:extLst>
          </p:cNvPr>
          <p:cNvSpPr>
            <a:spLocks noGrp="1"/>
          </p:cNvSpPr>
          <p:nvPr/>
        </p:nvSpPr>
        <p:spPr>
          <a:xfrm>
            <a:off x="2834840" y="173987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5" name="Straight Arrow Connector 94"/>
          <p:cNvCxnSpPr>
            <a:stCxn id="37" idx="0"/>
            <a:endCxn id="38" idx="4"/>
          </p:cNvCxnSpPr>
          <p:nvPr/>
        </p:nvCxnSpPr>
        <p:spPr>
          <a:xfrm flipH="1" flipV="1">
            <a:off x="2835793" y="1741777"/>
            <a:ext cx="351839" cy="1539602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57A9805E-E9C0-48E0-B90D-876850223E17}"/>
              </a:ext>
            </a:extLst>
          </p:cNvPr>
          <p:cNvSpPr>
            <a:spLocks noGrp="1"/>
          </p:cNvSpPr>
          <p:nvPr/>
        </p:nvSpPr>
        <p:spPr>
          <a:xfrm>
            <a:off x="3288416" y="328137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C403F7E-2561-41E3-A98C-0ED5FF72DF40}"/>
              </a:ext>
            </a:extLst>
          </p:cNvPr>
          <p:cNvSpPr>
            <a:spLocks noGrp="1"/>
          </p:cNvSpPr>
          <p:nvPr/>
        </p:nvSpPr>
        <p:spPr>
          <a:xfrm>
            <a:off x="3640255" y="173987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8" name="Straight Arrow Connector 97"/>
          <p:cNvCxnSpPr>
            <a:stCxn id="40" idx="0"/>
            <a:endCxn id="41" idx="4"/>
          </p:cNvCxnSpPr>
          <p:nvPr/>
        </p:nvCxnSpPr>
        <p:spPr>
          <a:xfrm flipV="1">
            <a:off x="3289369" y="1741777"/>
            <a:ext cx="351839" cy="1539602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5824A73A-E52C-4751-AD83-D50426F4E43D}"/>
              </a:ext>
            </a:extLst>
          </p:cNvPr>
          <p:cNvSpPr>
            <a:spLocks noGrp="1"/>
          </p:cNvSpPr>
          <p:nvPr/>
        </p:nvSpPr>
        <p:spPr>
          <a:xfrm>
            <a:off x="3380077" y="3325521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BB2403E-A94B-4F2E-B687-2C5EC9EBA343}"/>
              </a:ext>
            </a:extLst>
          </p:cNvPr>
          <p:cNvSpPr>
            <a:spLocks noGrp="1"/>
          </p:cNvSpPr>
          <p:nvPr/>
        </p:nvSpPr>
        <p:spPr>
          <a:xfrm>
            <a:off x="4365908" y="208932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01" name="Straight Arrow Connector 100"/>
          <p:cNvCxnSpPr>
            <a:stCxn id="43" idx="7"/>
            <a:endCxn id="44" idx="3"/>
          </p:cNvCxnSpPr>
          <p:nvPr/>
        </p:nvCxnSpPr>
        <p:spPr>
          <a:xfrm flipV="1">
            <a:off x="3381703" y="2090954"/>
            <a:ext cx="984484" cy="1234846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95FBD6BF-5567-4BEB-B06D-37C918467406}"/>
              </a:ext>
            </a:extLst>
          </p:cNvPr>
          <p:cNvSpPr>
            <a:spLocks noGrp="1"/>
          </p:cNvSpPr>
          <p:nvPr/>
        </p:nvSpPr>
        <p:spPr>
          <a:xfrm>
            <a:off x="3443509" y="340506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98EF388-40A3-4A6F-9C9C-81EEFF83FA04}"/>
              </a:ext>
            </a:extLst>
          </p:cNvPr>
          <p:cNvSpPr>
            <a:spLocks noGrp="1"/>
          </p:cNvSpPr>
          <p:nvPr/>
        </p:nvSpPr>
        <p:spPr>
          <a:xfrm>
            <a:off x="4868076" y="271902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04" name="Straight Arrow Connector 103"/>
          <p:cNvCxnSpPr>
            <a:stCxn id="46" idx="7"/>
            <a:endCxn id="47" idx="3"/>
          </p:cNvCxnSpPr>
          <p:nvPr/>
        </p:nvCxnSpPr>
        <p:spPr>
          <a:xfrm flipV="1">
            <a:off x="3445135" y="2720652"/>
            <a:ext cx="1423220" cy="684689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0AA745B9-08DA-4CAA-AF4E-4B6314A037A5}"/>
              </a:ext>
            </a:extLst>
          </p:cNvPr>
          <p:cNvSpPr>
            <a:spLocks noGrp="1"/>
          </p:cNvSpPr>
          <p:nvPr/>
        </p:nvSpPr>
        <p:spPr>
          <a:xfrm>
            <a:off x="2943225" y="3209925"/>
            <a:ext cx="590550" cy="5905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AE73892-C826-4C4B-A4E9-37BDC85A4633}"/>
              </a:ext>
            </a:extLst>
          </p:cNvPr>
          <p:cNvSpPr>
            <a:spLocks noGrp="1"/>
          </p:cNvSpPr>
          <p:nvPr/>
        </p:nvSpPr>
        <p:spPr>
          <a:xfrm>
            <a:off x="2895600" y="3257550"/>
            <a:ext cx="685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9162455-9F27-4C20-91F7-95FC6A42B423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7E88837-7D0F-4312-8159-06A26E5218B6}"/>
              </a:ext>
            </a:extLst>
          </p:cNvPr>
          <p:cNvSpPr>
            <a:spLocks noGrp="1"/>
          </p:cNvSpPr>
          <p:nvPr/>
        </p:nvSpPr>
        <p:spPr>
          <a:xfrm>
            <a:off x="6934200" y="219075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양전하에서 시작하고 음전하에서 끝난다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2B09B90-3852-40DD-8539-F6AE6D5BD833}"/>
              </a:ext>
            </a:extLst>
          </p:cNvPr>
          <p:cNvSpPr>
            <a:spLocks noGrp="1"/>
          </p:cNvSpPr>
          <p:nvPr/>
        </p:nvSpPr>
        <p:spPr>
          <a:xfrm>
            <a:off x="6191250" y="3267075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7905DEF-1836-43D3-98F6-BF8406DEB5B9}"/>
              </a:ext>
            </a:extLst>
          </p:cNvPr>
          <p:cNvSpPr>
            <a:spLocks noGrp="1"/>
          </p:cNvSpPr>
          <p:nvPr/>
        </p:nvSpPr>
        <p:spPr>
          <a:xfrm>
            <a:off x="6934200" y="3190875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선은 중간에서 끊어지지 않는다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D21B77D-466A-43BE-8F0A-9A3F06E7AFF0}"/>
              </a:ext>
            </a:extLst>
          </p:cNvPr>
          <p:cNvSpPr>
            <a:spLocks noGrp="1"/>
          </p:cNvSpPr>
          <p:nvPr/>
        </p:nvSpPr>
        <p:spPr>
          <a:xfrm>
            <a:off x="6191250" y="4267200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0AC4FA5-5087-448F-A0B6-A0C35729FE46}"/>
              </a:ext>
            </a:extLst>
          </p:cNvPr>
          <p:cNvSpPr>
            <a:spLocks noGrp="1"/>
          </p:cNvSpPr>
          <p:nvPr/>
        </p:nvSpPr>
        <p:spPr>
          <a:xfrm>
            <a:off x="6934200" y="419100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점에서 두 방향을 가질 수 없어 서로 교차하지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304022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36CA83A-ACD6-4426-8C42-59F6C0C0B74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FLUX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3DAD14-6BFB-4308-8EB8-B9CAB82E945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플럭스는 면을 가로지르는 전기장 성분을 센다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DF7A92-620F-4613-A2C9-A50E39CB31DD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AE7398-9533-4FA5-B570-5A563738CE04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BDB381-F66B-4160-9472-F2705992D0CA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9D6BEA29-6284-473A-8156-F52C6715125E}"/>
              </a:ext>
            </a:extLst>
          </p:cNvPr>
          <p:cNvSpPr>
            <a:spLocks noGrp="1"/>
          </p:cNvSpPr>
          <p:nvPr/>
        </p:nvSpPr>
        <p:spPr>
          <a:xfrm rot="-480000">
            <a:off x="1143000" y="2095500"/>
            <a:ext cx="4000500" cy="2381250"/>
          </a:xfrm>
          <a:prstGeom prst="parallelogram">
            <a:avLst/>
          </a:prstGeom>
          <a:solidFill>
            <a:srgbClr val="E0F0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3A5421-4FC4-46B6-ABF5-6F007A8ACF79}"/>
              </a:ext>
            </a:extLst>
          </p:cNvPr>
          <p:cNvSpPr>
            <a:spLocks noGrp="1"/>
          </p:cNvSpPr>
          <p:nvPr/>
        </p:nvSpPr>
        <p:spPr>
          <a:xfrm>
            <a:off x="3142298" y="33327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39A80C-1271-4971-8D65-B8C4D8F88F54}"/>
              </a:ext>
            </a:extLst>
          </p:cNvPr>
          <p:cNvSpPr>
            <a:spLocks noGrp="1"/>
          </p:cNvSpPr>
          <p:nvPr/>
        </p:nvSpPr>
        <p:spPr>
          <a:xfrm>
            <a:off x="3142298" y="1694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 flipV="1">
            <a:off x="3143251" y="1537379"/>
            <a:ext cx="0" cy="1636395"/>
          </a:xfrm>
          <a:prstGeom prst="straightConnector1">
            <a:avLst/>
          </a:prstGeom>
          <a:ln w="57626" cap="rnd">
            <a:solidFill>
              <a:srgbClr val="191919"/>
            </a:solidFill>
            <a:prstDash val="solid"/>
            <a:tailEnd type="triangle" w="med" len="me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E0C6843-5178-4FB0-A137-B2BB3A0F176A}"/>
              </a:ext>
            </a:extLst>
          </p:cNvPr>
          <p:cNvSpPr>
            <a:spLocks noGrp="1"/>
          </p:cNvSpPr>
          <p:nvPr/>
        </p:nvSpPr>
        <p:spPr>
          <a:xfrm>
            <a:off x="3295650" y="1409700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d 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60FD82-D053-4FD2-903D-F13EF1B31175}"/>
              </a:ext>
            </a:extLst>
          </p:cNvPr>
          <p:cNvSpPr>
            <a:spLocks noGrp="1"/>
          </p:cNvSpPr>
          <p:nvPr/>
        </p:nvSpPr>
        <p:spPr>
          <a:xfrm>
            <a:off x="1999298" y="3904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17FEF9-8631-41FE-B050-39FE8239BCDD}"/>
              </a:ext>
            </a:extLst>
          </p:cNvPr>
          <p:cNvSpPr>
            <a:spLocks noGrp="1"/>
          </p:cNvSpPr>
          <p:nvPr/>
        </p:nvSpPr>
        <p:spPr>
          <a:xfrm>
            <a:off x="4475798" y="23612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9" name="Straight Arrow Connector 28"/>
          <p:cNvCxnSpPr>
            <a:stCxn id="11" idx="7"/>
            <a:endCxn id="12" idx="3"/>
          </p:cNvCxnSpPr>
          <p:nvPr/>
        </p:nvCxnSpPr>
        <p:spPr>
          <a:xfrm flipV="1">
            <a:off x="2000924" y="2362874"/>
            <a:ext cx="2475153" cy="1541703"/>
          </a:xfrm>
          <a:prstGeom prst="straightConnector1">
            <a:avLst/>
          </a:prstGeom>
          <a:ln w="57626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5179627-CE8E-4AD7-B4B3-14CCA2363A5A}"/>
              </a:ext>
            </a:extLst>
          </p:cNvPr>
          <p:cNvSpPr>
            <a:spLocks noGrp="1"/>
          </p:cNvSpPr>
          <p:nvPr/>
        </p:nvSpPr>
        <p:spPr>
          <a:xfrm>
            <a:off x="4472608" y="2357643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3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 dirty="0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7088" y="2386013"/>
            <a:ext cx="5006975" cy="100012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E88927A-98F4-40C3-8154-8EB656D56071}"/>
              </a:ext>
            </a:extLst>
          </p:cNvPr>
          <p:cNvSpPr>
            <a:spLocks noGrp="1"/>
          </p:cNvSpPr>
          <p:nvPr/>
        </p:nvSpPr>
        <p:spPr>
          <a:xfrm>
            <a:off x="5886450" y="3829050"/>
            <a:ext cx="495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θ는 전기장과 면의 바깥쪽 법선 사이의 각이다.</a:t>
            </a:r>
          </a:p>
        </p:txBody>
      </p:sp>
    </p:spTree>
    <p:extLst>
      <p:ext uri="{BB962C8B-B14F-4D97-AF65-F5344CB8AC3E}">
        <p14:creationId xmlns:p14="http://schemas.microsoft.com/office/powerpoint/2010/main" val="1938069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F28CA007-674E-4108-B5CB-D4E404A2351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POINT CHARGE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8E0DDB-FAA3-497A-B98C-E541929CBAB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구의 넓이 증가가 1/r² 감소를 정확히 상쇄한다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1D854A-54EC-4E97-B4CE-4D378E316905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F2187D-6223-4887-A72D-2B22EC782E54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FAABE4-4EE0-4495-B84C-6FABFC5FD945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AC8F381-AEC9-44FD-B058-A8E1DB97EC3F}"/>
              </a:ext>
            </a:extLst>
          </p:cNvPr>
          <p:cNvSpPr>
            <a:spLocks noGrp="1"/>
          </p:cNvSpPr>
          <p:nvPr/>
        </p:nvSpPr>
        <p:spPr>
          <a:xfrm>
            <a:off x="3038475" y="3514725"/>
            <a:ext cx="209550" cy="2095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8415-9A41-4D51-B56D-48EDA009A94A}"/>
              </a:ext>
            </a:extLst>
          </p:cNvPr>
          <p:cNvSpPr>
            <a:spLocks noGrp="1"/>
          </p:cNvSpPr>
          <p:nvPr/>
        </p:nvSpPr>
        <p:spPr>
          <a:xfrm>
            <a:off x="3370898" y="3618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07EB23-ACAF-4C41-BFE8-B9B3A29ACF58}"/>
              </a:ext>
            </a:extLst>
          </p:cNvPr>
          <p:cNvSpPr>
            <a:spLocks noGrp="1"/>
          </p:cNvSpPr>
          <p:nvPr/>
        </p:nvSpPr>
        <p:spPr>
          <a:xfrm>
            <a:off x="5094923" y="3618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9" name="Straight Arrow Connector 68"/>
          <p:cNvCxnSpPr>
            <a:stCxn id="7" idx="6"/>
            <a:endCxn id="8" idx="2"/>
          </p:cNvCxnSpPr>
          <p:nvPr/>
        </p:nvCxnSpPr>
        <p:spPr>
          <a:xfrm>
            <a:off x="3372803" y="3619501"/>
            <a:ext cx="172212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F2F2F0D-6658-41AF-A1DD-0FB3C5C1E370}"/>
              </a:ext>
            </a:extLst>
          </p:cNvPr>
          <p:cNvSpPr>
            <a:spLocks noGrp="1"/>
          </p:cNvSpPr>
          <p:nvPr/>
        </p:nvSpPr>
        <p:spPr>
          <a:xfrm>
            <a:off x="3353496" y="370602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1D83DB7-B652-412B-BF86-F66D25C19F62}"/>
              </a:ext>
            </a:extLst>
          </p:cNvPr>
          <p:cNvSpPr>
            <a:spLocks noGrp="1"/>
          </p:cNvSpPr>
          <p:nvPr/>
        </p:nvSpPr>
        <p:spPr>
          <a:xfrm>
            <a:off x="4946288" y="4365785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2" name="Straight Arrow Connector 71"/>
          <p:cNvCxnSpPr>
            <a:stCxn id="10" idx="5"/>
            <a:endCxn id="11" idx="2"/>
          </p:cNvCxnSpPr>
          <p:nvPr/>
        </p:nvCxnSpPr>
        <p:spPr>
          <a:xfrm>
            <a:off x="3355122" y="3707655"/>
            <a:ext cx="1591166" cy="659082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077AA85-B257-4A23-B8DC-01F0ECA430E7}"/>
              </a:ext>
            </a:extLst>
          </p:cNvPr>
          <p:cNvSpPr>
            <a:spLocks noGrp="1"/>
          </p:cNvSpPr>
          <p:nvPr/>
        </p:nvSpPr>
        <p:spPr>
          <a:xfrm>
            <a:off x="3303942" y="378019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E7B346C-06F7-4A56-B959-DFE911BA769E}"/>
              </a:ext>
            </a:extLst>
          </p:cNvPr>
          <p:cNvSpPr>
            <a:spLocks noGrp="1"/>
          </p:cNvSpPr>
          <p:nvPr/>
        </p:nvSpPr>
        <p:spPr>
          <a:xfrm>
            <a:off x="4523012" y="499926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5" name="Straight Arrow Connector 74"/>
          <p:cNvCxnSpPr>
            <a:stCxn id="13" idx="5"/>
            <a:endCxn id="14" idx="1"/>
          </p:cNvCxnSpPr>
          <p:nvPr/>
        </p:nvCxnSpPr>
        <p:spPr>
          <a:xfrm>
            <a:off x="3305568" y="3781818"/>
            <a:ext cx="1217723" cy="1217723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B2DA7B2-6F8C-4141-87E0-BE1F91DAAF38}"/>
              </a:ext>
            </a:extLst>
          </p:cNvPr>
          <p:cNvSpPr>
            <a:spLocks noGrp="1"/>
          </p:cNvSpPr>
          <p:nvPr/>
        </p:nvSpPr>
        <p:spPr>
          <a:xfrm>
            <a:off x="3229779" y="382974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BA88FB9-DC2B-46BC-8C56-B3BE8476C126}"/>
              </a:ext>
            </a:extLst>
          </p:cNvPr>
          <p:cNvSpPr>
            <a:spLocks noGrp="1"/>
          </p:cNvSpPr>
          <p:nvPr/>
        </p:nvSpPr>
        <p:spPr>
          <a:xfrm>
            <a:off x="3889535" y="542253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8" name="Straight Arrow Connector 77"/>
          <p:cNvCxnSpPr>
            <a:stCxn id="16" idx="4"/>
            <a:endCxn id="17" idx="1"/>
          </p:cNvCxnSpPr>
          <p:nvPr/>
        </p:nvCxnSpPr>
        <p:spPr>
          <a:xfrm>
            <a:off x="3230732" y="3831651"/>
            <a:ext cx="659082" cy="1591166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5D16E8C-A1C4-42F0-87EA-3D5D0FE93A05}"/>
              </a:ext>
            </a:extLst>
          </p:cNvPr>
          <p:cNvSpPr>
            <a:spLocks noGrp="1"/>
          </p:cNvSpPr>
          <p:nvPr/>
        </p:nvSpPr>
        <p:spPr>
          <a:xfrm>
            <a:off x="3142298" y="38471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CDA3949-4832-40FD-97C4-215760312BF1}"/>
              </a:ext>
            </a:extLst>
          </p:cNvPr>
          <p:cNvSpPr>
            <a:spLocks noGrp="1"/>
          </p:cNvSpPr>
          <p:nvPr/>
        </p:nvSpPr>
        <p:spPr>
          <a:xfrm>
            <a:off x="3142298" y="557117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1" name="Straight Arrow Connector 80"/>
          <p:cNvCxnSpPr>
            <a:stCxn id="19" idx="4"/>
            <a:endCxn id="20" idx="0"/>
          </p:cNvCxnSpPr>
          <p:nvPr/>
        </p:nvCxnSpPr>
        <p:spPr>
          <a:xfrm>
            <a:off x="3143251" y="3849053"/>
            <a:ext cx="0" cy="172212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9B42155-2467-4BF6-B8FE-EB4FD182A3C1}"/>
              </a:ext>
            </a:extLst>
          </p:cNvPr>
          <p:cNvSpPr>
            <a:spLocks noGrp="1"/>
          </p:cNvSpPr>
          <p:nvPr/>
        </p:nvSpPr>
        <p:spPr>
          <a:xfrm>
            <a:off x="3054816" y="382974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BA02782-04A4-4894-96A3-697150473CEA}"/>
              </a:ext>
            </a:extLst>
          </p:cNvPr>
          <p:cNvSpPr>
            <a:spLocks noGrp="1"/>
          </p:cNvSpPr>
          <p:nvPr/>
        </p:nvSpPr>
        <p:spPr>
          <a:xfrm>
            <a:off x="2395060" y="542253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4" name="Straight Arrow Connector 83"/>
          <p:cNvCxnSpPr>
            <a:stCxn id="22" idx="3"/>
            <a:endCxn id="23" idx="0"/>
          </p:cNvCxnSpPr>
          <p:nvPr/>
        </p:nvCxnSpPr>
        <p:spPr>
          <a:xfrm flipH="1">
            <a:off x="2396013" y="3831372"/>
            <a:ext cx="659082" cy="1591166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D3449E34-B761-448A-B511-FF41A4E69C55}"/>
              </a:ext>
            </a:extLst>
          </p:cNvPr>
          <p:cNvSpPr>
            <a:spLocks noGrp="1"/>
          </p:cNvSpPr>
          <p:nvPr/>
        </p:nvSpPr>
        <p:spPr>
          <a:xfrm>
            <a:off x="2980653" y="378019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D277983-94BE-4DDD-9F31-3B052420AF35}"/>
              </a:ext>
            </a:extLst>
          </p:cNvPr>
          <p:cNvSpPr>
            <a:spLocks noGrp="1"/>
          </p:cNvSpPr>
          <p:nvPr/>
        </p:nvSpPr>
        <p:spPr>
          <a:xfrm>
            <a:off x="1761583" y="499926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7" name="Straight Arrow Connector 86"/>
          <p:cNvCxnSpPr>
            <a:stCxn id="25" idx="3"/>
            <a:endCxn id="26" idx="7"/>
          </p:cNvCxnSpPr>
          <p:nvPr/>
        </p:nvCxnSpPr>
        <p:spPr>
          <a:xfrm flipH="1">
            <a:off x="1763209" y="3781818"/>
            <a:ext cx="1217723" cy="1217723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609A20B1-4287-4E7D-AB07-04AF3E6FFF1C}"/>
              </a:ext>
            </a:extLst>
          </p:cNvPr>
          <p:cNvSpPr>
            <a:spLocks noGrp="1"/>
          </p:cNvSpPr>
          <p:nvPr/>
        </p:nvSpPr>
        <p:spPr>
          <a:xfrm>
            <a:off x="2931099" y="370602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5CBF6A-2856-43B4-93A4-D7C34ACDDD6E}"/>
              </a:ext>
            </a:extLst>
          </p:cNvPr>
          <p:cNvSpPr>
            <a:spLocks noGrp="1"/>
          </p:cNvSpPr>
          <p:nvPr/>
        </p:nvSpPr>
        <p:spPr>
          <a:xfrm>
            <a:off x="1338307" y="4365785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0" name="Straight Arrow Connector 89"/>
          <p:cNvCxnSpPr>
            <a:stCxn id="28" idx="2"/>
            <a:endCxn id="29" idx="7"/>
          </p:cNvCxnSpPr>
          <p:nvPr/>
        </p:nvCxnSpPr>
        <p:spPr>
          <a:xfrm flipH="1">
            <a:off x="1339933" y="3706982"/>
            <a:ext cx="1591166" cy="659082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99AFEF60-08B8-4AC2-8082-D463791BC147}"/>
              </a:ext>
            </a:extLst>
          </p:cNvPr>
          <p:cNvSpPr>
            <a:spLocks noGrp="1"/>
          </p:cNvSpPr>
          <p:nvPr/>
        </p:nvSpPr>
        <p:spPr>
          <a:xfrm>
            <a:off x="2913698" y="3618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038246B-412B-452D-92C0-237964832EB0}"/>
              </a:ext>
            </a:extLst>
          </p:cNvPr>
          <p:cNvSpPr>
            <a:spLocks noGrp="1"/>
          </p:cNvSpPr>
          <p:nvPr/>
        </p:nvSpPr>
        <p:spPr>
          <a:xfrm>
            <a:off x="1189673" y="3618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3" name="Straight Arrow Connector 92"/>
          <p:cNvCxnSpPr>
            <a:stCxn id="31" idx="2"/>
            <a:endCxn id="32" idx="6"/>
          </p:cNvCxnSpPr>
          <p:nvPr/>
        </p:nvCxnSpPr>
        <p:spPr>
          <a:xfrm flipH="1">
            <a:off x="1191578" y="3619501"/>
            <a:ext cx="172212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D6A0D0F1-86C3-4C41-8299-2EBB255EA16F}"/>
              </a:ext>
            </a:extLst>
          </p:cNvPr>
          <p:cNvSpPr>
            <a:spLocks noGrp="1"/>
          </p:cNvSpPr>
          <p:nvPr/>
        </p:nvSpPr>
        <p:spPr>
          <a:xfrm>
            <a:off x="2931099" y="353106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3A7F473-B3AE-4E3D-BD2F-0656CB8CB3ED}"/>
              </a:ext>
            </a:extLst>
          </p:cNvPr>
          <p:cNvSpPr>
            <a:spLocks noGrp="1"/>
          </p:cNvSpPr>
          <p:nvPr/>
        </p:nvSpPr>
        <p:spPr>
          <a:xfrm>
            <a:off x="1338307" y="2871310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6" name="Straight Arrow Connector 95"/>
          <p:cNvCxnSpPr>
            <a:stCxn id="34" idx="2"/>
            <a:endCxn id="35" idx="5"/>
          </p:cNvCxnSpPr>
          <p:nvPr/>
        </p:nvCxnSpPr>
        <p:spPr>
          <a:xfrm flipH="1" flipV="1">
            <a:off x="1339933" y="2872936"/>
            <a:ext cx="1591166" cy="659082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D35159D8-AC72-49C7-A6D6-CB1451D60864}"/>
              </a:ext>
            </a:extLst>
          </p:cNvPr>
          <p:cNvSpPr>
            <a:spLocks noGrp="1"/>
          </p:cNvSpPr>
          <p:nvPr/>
        </p:nvSpPr>
        <p:spPr>
          <a:xfrm>
            <a:off x="2980653" y="345690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D4F892F-0B1A-4FB1-900E-984B451622A1}"/>
              </a:ext>
            </a:extLst>
          </p:cNvPr>
          <p:cNvSpPr>
            <a:spLocks noGrp="1"/>
          </p:cNvSpPr>
          <p:nvPr/>
        </p:nvSpPr>
        <p:spPr>
          <a:xfrm>
            <a:off x="1761583" y="223783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9" name="Straight Arrow Connector 98"/>
          <p:cNvCxnSpPr>
            <a:stCxn id="37" idx="1"/>
            <a:endCxn id="38" idx="5"/>
          </p:cNvCxnSpPr>
          <p:nvPr/>
        </p:nvCxnSpPr>
        <p:spPr>
          <a:xfrm flipH="1" flipV="1">
            <a:off x="1763209" y="2239459"/>
            <a:ext cx="1217723" cy="1217723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42925A1A-E1C7-4C00-835A-7A9CC8EC32B5}"/>
              </a:ext>
            </a:extLst>
          </p:cNvPr>
          <p:cNvSpPr>
            <a:spLocks noGrp="1"/>
          </p:cNvSpPr>
          <p:nvPr/>
        </p:nvSpPr>
        <p:spPr>
          <a:xfrm>
            <a:off x="3054816" y="340734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2176721-B9C0-4E4C-A0BF-BABC97851394}"/>
              </a:ext>
            </a:extLst>
          </p:cNvPr>
          <p:cNvSpPr>
            <a:spLocks noGrp="1"/>
          </p:cNvSpPr>
          <p:nvPr/>
        </p:nvSpPr>
        <p:spPr>
          <a:xfrm>
            <a:off x="2395060" y="1814557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02" name="Straight Arrow Connector 101"/>
          <p:cNvCxnSpPr>
            <a:stCxn id="40" idx="0"/>
            <a:endCxn id="41" idx="5"/>
          </p:cNvCxnSpPr>
          <p:nvPr/>
        </p:nvCxnSpPr>
        <p:spPr>
          <a:xfrm flipH="1" flipV="1">
            <a:off x="2396686" y="1816183"/>
            <a:ext cx="659082" cy="1591166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5F8163D7-BE95-4D32-99E7-2D746EB13762}"/>
              </a:ext>
            </a:extLst>
          </p:cNvPr>
          <p:cNvSpPr>
            <a:spLocks noGrp="1"/>
          </p:cNvSpPr>
          <p:nvPr/>
        </p:nvSpPr>
        <p:spPr>
          <a:xfrm>
            <a:off x="3142298" y="33899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BAE47D0-CF64-4BFC-B1A1-90CA118294AD}"/>
              </a:ext>
            </a:extLst>
          </p:cNvPr>
          <p:cNvSpPr>
            <a:spLocks noGrp="1"/>
          </p:cNvSpPr>
          <p:nvPr/>
        </p:nvSpPr>
        <p:spPr>
          <a:xfrm>
            <a:off x="3142297" y="166592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05" name="Straight Arrow Connector 104"/>
          <p:cNvCxnSpPr>
            <a:stCxn id="43" idx="0"/>
            <a:endCxn id="44" idx="4"/>
          </p:cNvCxnSpPr>
          <p:nvPr/>
        </p:nvCxnSpPr>
        <p:spPr>
          <a:xfrm flipH="1" flipV="1">
            <a:off x="3143250" y="1667828"/>
            <a:ext cx="1" cy="172212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69701C4C-9E70-48DD-A46C-BED0E82824AD}"/>
              </a:ext>
            </a:extLst>
          </p:cNvPr>
          <p:cNvSpPr>
            <a:spLocks noGrp="1"/>
          </p:cNvSpPr>
          <p:nvPr/>
        </p:nvSpPr>
        <p:spPr>
          <a:xfrm>
            <a:off x="3229779" y="340734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52876C3-86A8-4023-AE9E-CDC60438F84D}"/>
              </a:ext>
            </a:extLst>
          </p:cNvPr>
          <p:cNvSpPr>
            <a:spLocks noGrp="1"/>
          </p:cNvSpPr>
          <p:nvPr/>
        </p:nvSpPr>
        <p:spPr>
          <a:xfrm>
            <a:off x="3889535" y="1814557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08" name="Straight Arrow Connector 107"/>
          <p:cNvCxnSpPr>
            <a:stCxn id="46" idx="0"/>
            <a:endCxn id="47" idx="3"/>
          </p:cNvCxnSpPr>
          <p:nvPr/>
        </p:nvCxnSpPr>
        <p:spPr>
          <a:xfrm flipV="1">
            <a:off x="3230732" y="1816183"/>
            <a:ext cx="659082" cy="1591166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9FD26C5F-BAF9-439C-B7E9-46168C0EC927}"/>
              </a:ext>
            </a:extLst>
          </p:cNvPr>
          <p:cNvSpPr>
            <a:spLocks noGrp="1"/>
          </p:cNvSpPr>
          <p:nvPr/>
        </p:nvSpPr>
        <p:spPr>
          <a:xfrm>
            <a:off x="3303942" y="345690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C734387-6C08-4C1B-B602-D857BE05EF88}"/>
              </a:ext>
            </a:extLst>
          </p:cNvPr>
          <p:cNvSpPr>
            <a:spLocks noGrp="1"/>
          </p:cNvSpPr>
          <p:nvPr/>
        </p:nvSpPr>
        <p:spPr>
          <a:xfrm>
            <a:off x="4523012" y="223783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11" name="Straight Arrow Connector 110"/>
          <p:cNvCxnSpPr>
            <a:stCxn id="49" idx="7"/>
            <a:endCxn id="50" idx="3"/>
          </p:cNvCxnSpPr>
          <p:nvPr/>
        </p:nvCxnSpPr>
        <p:spPr>
          <a:xfrm flipV="1">
            <a:off x="3305568" y="2239459"/>
            <a:ext cx="1217723" cy="1217723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9F7239DF-4014-4EF7-B545-C8885B3EA089}"/>
              </a:ext>
            </a:extLst>
          </p:cNvPr>
          <p:cNvSpPr>
            <a:spLocks noGrp="1"/>
          </p:cNvSpPr>
          <p:nvPr/>
        </p:nvSpPr>
        <p:spPr>
          <a:xfrm>
            <a:off x="3353496" y="353106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F63D390-E1CF-4986-A267-D288A192A2D2}"/>
              </a:ext>
            </a:extLst>
          </p:cNvPr>
          <p:cNvSpPr>
            <a:spLocks noGrp="1"/>
          </p:cNvSpPr>
          <p:nvPr/>
        </p:nvSpPr>
        <p:spPr>
          <a:xfrm>
            <a:off x="4946288" y="2871310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14" name="Straight Arrow Connector 113"/>
          <p:cNvCxnSpPr>
            <a:stCxn id="52" idx="6"/>
            <a:endCxn id="53" idx="3"/>
          </p:cNvCxnSpPr>
          <p:nvPr/>
        </p:nvCxnSpPr>
        <p:spPr>
          <a:xfrm flipV="1">
            <a:off x="3355401" y="2872936"/>
            <a:ext cx="1591166" cy="659082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FCFBA4EF-3559-4DC0-9987-D2C71F33F432}"/>
              </a:ext>
            </a:extLst>
          </p:cNvPr>
          <p:cNvSpPr>
            <a:spLocks noGrp="1"/>
          </p:cNvSpPr>
          <p:nvPr/>
        </p:nvSpPr>
        <p:spPr>
          <a:xfrm>
            <a:off x="2019300" y="2495550"/>
            <a:ext cx="2247900" cy="2247900"/>
          </a:xfrm>
          <a:prstGeom prst="ellipse">
            <a:avLst/>
          </a:prstGeom>
          <a:noFill/>
          <a:ln w="28575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4193ABB-0A8E-4025-B172-B2BEF5386D1A}"/>
              </a:ext>
            </a:extLst>
          </p:cNvPr>
          <p:cNvSpPr>
            <a:spLocks noGrp="1"/>
          </p:cNvSpPr>
          <p:nvPr/>
        </p:nvSpPr>
        <p:spPr>
          <a:xfrm>
            <a:off x="1333500" y="1809750"/>
            <a:ext cx="3619500" cy="3619500"/>
          </a:xfrm>
          <a:prstGeom prst="ellipse">
            <a:avLst/>
          </a:prstGeom>
          <a:noFill/>
          <a:ln w="28575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14AE36A-5F5E-40E7-A280-6396FDA38FE5}"/>
              </a:ext>
            </a:extLst>
          </p:cNvPr>
          <p:cNvSpPr>
            <a:spLocks noGrp="1"/>
          </p:cNvSpPr>
          <p:nvPr/>
        </p:nvSpPr>
        <p:spPr>
          <a:xfrm>
            <a:off x="4267200" y="27241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r₁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EA474D6-0A4D-4BDF-AA8B-5738E632D746}"/>
              </a:ext>
            </a:extLst>
          </p:cNvPr>
          <p:cNvSpPr>
            <a:spLocks noGrp="1"/>
          </p:cNvSpPr>
          <p:nvPr/>
        </p:nvSpPr>
        <p:spPr>
          <a:xfrm>
            <a:off x="4876800" y="20383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r₂</a:t>
            </a:r>
          </a:p>
        </p:txBody>
      </p:sp>
      <p:pic>
        <p:nvPicPr>
          <p:cNvPr id="119" name="Picture 1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8753" y="2366963"/>
            <a:ext cx="5036993" cy="1000125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DFDDB9F0-5FC2-486A-A392-1C60A543C8CD}"/>
              </a:ext>
            </a:extLst>
          </p:cNvPr>
          <p:cNvSpPr>
            <a:spLocks noGrp="1"/>
          </p:cNvSpPr>
          <p:nvPr/>
        </p:nvSpPr>
        <p:spPr>
          <a:xfrm>
            <a:off x="6000750" y="3981450"/>
            <a:ext cx="495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구의 반지름을 바꾸어도 같은 수의 전기장선이 닫힌 면을 통과한다.</a:t>
            </a:r>
          </a:p>
        </p:txBody>
      </p:sp>
    </p:spTree>
    <p:extLst>
      <p:ext uri="{BB962C8B-B14F-4D97-AF65-F5344CB8AC3E}">
        <p14:creationId xmlns:p14="http://schemas.microsoft.com/office/powerpoint/2010/main" val="514546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B01568D-C118-423E-818D-E8B5A55A6E3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GAUSS'S LAW / INTEGRAL FORM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7788CC-AB00-4B2D-B4F4-6CA3216E13F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닫힌 면의 총 플럭스는 내부 전하만 센다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4B26AA-FF7A-4B09-9991-97531280BABA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D15C39-EC16-4E3D-8916-1AC2AF6B130B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7F71C0-268B-4865-9C31-444EA4FD8742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037" y="2000250"/>
            <a:ext cx="2781927" cy="1000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50FEC3-C918-4891-BBFF-083429563CC4}"/>
              </a:ext>
            </a:extLst>
          </p:cNvPr>
          <p:cNvSpPr>
            <a:spLocks noGrp="1"/>
          </p:cNvSpPr>
          <p:nvPr/>
        </p:nvSpPr>
        <p:spPr>
          <a:xfrm>
            <a:off x="876300" y="38576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면 안의 전하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2F9C75-E677-46EB-96A9-8D5A11AF1EE0}"/>
              </a:ext>
            </a:extLst>
          </p:cNvPr>
          <p:cNvSpPr>
            <a:spLocks noGrp="1"/>
          </p:cNvSpPr>
          <p:nvPr/>
        </p:nvSpPr>
        <p:spPr>
          <a:xfrm>
            <a:off x="876300" y="433387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순 플럭스에 기여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84C222-E159-4B8C-9F96-F7E10BE50FE8}"/>
              </a:ext>
            </a:extLst>
          </p:cNvPr>
          <p:cNvSpPr>
            <a:spLocks noGrp="1"/>
          </p:cNvSpPr>
          <p:nvPr/>
        </p:nvSpPr>
        <p:spPr>
          <a:xfrm rot="5400000">
            <a:off x="3429000" y="4548188"/>
            <a:ext cx="1562100" cy="95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CE5B4D-9F5A-47BB-BC04-97F5341A9064}"/>
              </a:ext>
            </a:extLst>
          </p:cNvPr>
          <p:cNvSpPr>
            <a:spLocks noGrp="1"/>
          </p:cNvSpPr>
          <p:nvPr/>
        </p:nvSpPr>
        <p:spPr>
          <a:xfrm>
            <a:off x="4610100" y="38576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면 밖의 전하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13C7B2-D2BC-4429-81E5-6079D3E1C56B}"/>
              </a:ext>
            </a:extLst>
          </p:cNvPr>
          <p:cNvSpPr>
            <a:spLocks noGrp="1"/>
          </p:cNvSpPr>
          <p:nvPr/>
        </p:nvSpPr>
        <p:spPr>
          <a:xfrm>
            <a:off x="4610100" y="433387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들어온 만큼 나감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823B8F-7297-40A0-90D7-BA18829BAB0B}"/>
              </a:ext>
            </a:extLst>
          </p:cNvPr>
          <p:cNvSpPr>
            <a:spLocks noGrp="1"/>
          </p:cNvSpPr>
          <p:nvPr/>
        </p:nvSpPr>
        <p:spPr>
          <a:xfrm rot="5400000">
            <a:off x="7162800" y="4548188"/>
            <a:ext cx="1562100" cy="95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7BF3DB-3FC5-4F7A-93A7-648B10BBB3FC}"/>
              </a:ext>
            </a:extLst>
          </p:cNvPr>
          <p:cNvSpPr>
            <a:spLocks noGrp="1"/>
          </p:cNvSpPr>
          <p:nvPr/>
        </p:nvSpPr>
        <p:spPr>
          <a:xfrm>
            <a:off x="8343900" y="38576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면의 모양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C322A5-F074-432A-B0BF-FB7E4B67BE63}"/>
              </a:ext>
            </a:extLst>
          </p:cNvPr>
          <p:cNvSpPr>
            <a:spLocks noGrp="1"/>
          </p:cNvSpPr>
          <p:nvPr/>
        </p:nvSpPr>
        <p:spPr>
          <a:xfrm>
            <a:off x="8343900" y="433387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결과를 바꾸지 않음</a:t>
            </a:r>
          </a:p>
        </p:txBody>
      </p:sp>
    </p:spTree>
    <p:extLst>
      <p:ext uri="{BB962C8B-B14F-4D97-AF65-F5344CB8AC3E}">
        <p14:creationId xmlns:p14="http://schemas.microsoft.com/office/powerpoint/2010/main" val="2013815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D4CF422-4831-43D6-8ACD-6A26ADDD816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GAUSS'S LAW / DIFFERENTIAL FORM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7D0239-1A12-4B5D-956C-EE3B8BAE369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임의의 부피에서 성립하면 적분함수도 같아야 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863D0-02B2-44E9-8837-F533AFA6C346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6432F3-ADA8-4094-A827-302EAF896E4F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ABC684-023F-4D9F-A888-514133CF4F5C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81263" y="1824038"/>
            <a:ext cx="7229475" cy="100012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CF32BAC-00EC-4733-BE6C-0DE2FF58CE18}"/>
              </a:ext>
            </a:extLst>
          </p:cNvPr>
          <p:cNvSpPr>
            <a:spLocks noGrp="1"/>
          </p:cNvSpPr>
          <p:nvPr/>
        </p:nvSpPr>
        <p:spPr>
          <a:xfrm>
            <a:off x="6056948" y="3218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4AB73E-6BA2-44F7-8A7D-CA66545C0ADF}"/>
              </a:ext>
            </a:extLst>
          </p:cNvPr>
          <p:cNvSpPr>
            <a:spLocks noGrp="1"/>
          </p:cNvSpPr>
          <p:nvPr/>
        </p:nvSpPr>
        <p:spPr>
          <a:xfrm>
            <a:off x="6056948" y="385667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5" name="Straight Arrow Connector 24"/>
          <p:cNvCxnSpPr>
            <a:stCxn id="7" idx="4"/>
            <a:endCxn id="8" idx="0"/>
          </p:cNvCxnSpPr>
          <p:nvPr/>
        </p:nvCxnSpPr>
        <p:spPr>
          <a:xfrm>
            <a:off x="6057901" y="3220403"/>
            <a:ext cx="0" cy="636270"/>
          </a:xfrm>
          <a:prstGeom prst="straightConnector1">
            <a:avLst/>
          </a:prstGeom>
          <a:ln w="62865" cap="rnd">
            <a:solidFill>
              <a:srgbClr val="2563EB"/>
            </a:solidFill>
            <a:prstDash val="solid"/>
            <a:tailEnd type="triangle" w="med" len="med"/>
          </a:ln>
        </p:spPr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965631" y="4119563"/>
            <a:ext cx="2165488" cy="10001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10050FC-15C1-4BEA-91E2-1421151986A6}"/>
              </a:ext>
            </a:extLst>
          </p:cNvPr>
          <p:cNvSpPr>
            <a:spLocks noGrp="1"/>
          </p:cNvSpPr>
          <p:nvPr/>
        </p:nvSpPr>
        <p:spPr>
          <a:xfrm>
            <a:off x="1676400" y="54673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입력: 벡터장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462124-DE4E-4CDC-ACE7-B2DC4749E5C5}"/>
              </a:ext>
            </a:extLst>
          </p:cNvPr>
          <p:cNvSpPr>
            <a:spLocks noGrp="1"/>
          </p:cNvSpPr>
          <p:nvPr/>
        </p:nvSpPr>
        <p:spPr>
          <a:xfrm>
            <a:off x="3857625" y="5467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C0D8AF-9A14-4CB2-B6BF-128C2EFAA164}"/>
              </a:ext>
            </a:extLst>
          </p:cNvPr>
          <p:cNvSpPr>
            <a:spLocks noGrp="1"/>
          </p:cNvSpPr>
          <p:nvPr/>
        </p:nvSpPr>
        <p:spPr>
          <a:xfrm>
            <a:off x="4810125" y="5467350"/>
            <a:ext cx="1219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연산자: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CA9717-F2CD-47AD-BA56-E0C37D2CE28A}"/>
              </a:ext>
            </a:extLst>
          </p:cNvPr>
          <p:cNvSpPr>
            <a:spLocks noGrp="1"/>
          </p:cNvSpPr>
          <p:nvPr/>
        </p:nvSpPr>
        <p:spPr>
          <a:xfrm>
            <a:off x="6115050" y="5467350"/>
            <a:ext cx="742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div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7BF074-275E-4CA8-B9FF-EB14F399381C}"/>
              </a:ext>
            </a:extLst>
          </p:cNvPr>
          <p:cNvSpPr>
            <a:spLocks noGrp="1"/>
          </p:cNvSpPr>
          <p:nvPr/>
        </p:nvSpPr>
        <p:spPr>
          <a:xfrm>
            <a:off x="7181850" y="5467350"/>
            <a:ext cx="2905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출력: 스칼라 원천 밀도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021076-F660-4D67-8014-BB77759472C1}"/>
              </a:ext>
            </a:extLst>
          </p:cNvPr>
          <p:cNvSpPr>
            <a:spLocks noGrp="1"/>
          </p:cNvSpPr>
          <p:nvPr/>
        </p:nvSpPr>
        <p:spPr>
          <a:xfrm>
            <a:off x="10172700" y="5467350"/>
            <a:ext cx="99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ρ/ε₀</a:t>
            </a:r>
          </a:p>
        </p:txBody>
      </p:sp>
    </p:spTree>
    <p:extLst>
      <p:ext uri="{BB962C8B-B14F-4D97-AF65-F5344CB8AC3E}">
        <p14:creationId xmlns:p14="http://schemas.microsoft.com/office/powerpoint/2010/main" val="657352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4021BE-EA9A-41A0-9506-CB730DAC9DB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DIRECT DIVERGENCE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4D653C-996C-4F3B-BA3E-9ABBC8C9569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델타함수는 점 원천을 미분형 안에 보존한다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B9612B-1E59-4858-BD71-E0CF12782388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8DE4CA-EC3B-489C-AADB-3AD3E14526B5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90ACD4-642F-4E12-B848-6C811930E4FD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30692" y="1785938"/>
            <a:ext cx="4930616" cy="100012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9EADA34-31B5-46A5-8851-B0A61F519629}"/>
              </a:ext>
            </a:extLst>
          </p:cNvPr>
          <p:cNvSpPr>
            <a:spLocks noGrp="1"/>
          </p:cNvSpPr>
          <p:nvPr/>
        </p:nvSpPr>
        <p:spPr>
          <a:xfrm>
            <a:off x="6075998" y="30470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1DFCE82-A04F-45CC-9E2A-3D0374E2DAA2}"/>
              </a:ext>
            </a:extLst>
          </p:cNvPr>
          <p:cNvSpPr>
            <a:spLocks noGrp="1"/>
          </p:cNvSpPr>
          <p:nvPr/>
        </p:nvSpPr>
        <p:spPr>
          <a:xfrm>
            <a:off x="6075998" y="3599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0" name="Straight Arrow Connector 19"/>
          <p:cNvCxnSpPr>
            <a:stCxn id="7" idx="4"/>
            <a:endCxn id="8" idx="0"/>
          </p:cNvCxnSpPr>
          <p:nvPr/>
        </p:nvCxnSpPr>
        <p:spPr>
          <a:xfrm>
            <a:off x="6076951" y="3048953"/>
            <a:ext cx="0" cy="550545"/>
          </a:xfrm>
          <a:prstGeom prst="straightConnector1">
            <a:avLst/>
          </a:prstGeom>
          <a:ln w="52388" cap="rnd">
            <a:solidFill>
              <a:srgbClr val="2563EB"/>
            </a:solidFill>
            <a:prstDash val="solid"/>
            <a:tailEnd type="triangle" w="med" len="med"/>
          </a:ln>
        </p:spPr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69405" y="3938588"/>
            <a:ext cx="7053189" cy="10001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E7A5472-52A9-4B3A-A6DE-D99CF448E077}"/>
              </a:ext>
            </a:extLst>
          </p:cNvPr>
          <p:cNvSpPr>
            <a:spLocks noGrp="1"/>
          </p:cNvSpPr>
          <p:nvPr/>
        </p:nvSpPr>
        <p:spPr>
          <a:xfrm>
            <a:off x="1524000" y="5467350"/>
            <a:ext cx="914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 ≠ r′에서 발산이 0이어도 원천점의 분포 기여는 사라지지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62477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>
            <a:extLst>
              <a:ext uri="{FF2B5EF4-FFF2-40B4-BE49-F238E27FC236}">
                <a16:creationId xmlns:a16="http://schemas.microsoft.com/office/drawing/2014/main" id="{9F6A91AF-9877-4C7C-9DF4-343D20F65CA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WHEN GAUSS'S LAW COMPUTES 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D9E2CB-8F04-4411-AF27-45F60CB4F79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대칭이 E를 적분 밖으로 꺼낼 때만 계산이 짧아진다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31BC02-FE10-462B-9D0E-3D3D4C07A4A2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0DE73-E810-43ED-A769-30C7DC156BD8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42CBB9-D486-47A9-9687-B93C1F86A2A1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49E339-C74D-4D3E-AE63-555C218079F2}"/>
              </a:ext>
            </a:extLst>
          </p:cNvPr>
          <p:cNvSpPr>
            <a:spLocks noGrp="1"/>
          </p:cNvSpPr>
          <p:nvPr/>
        </p:nvSpPr>
        <p:spPr>
          <a:xfrm>
            <a:off x="2276475" y="3114675"/>
            <a:ext cx="209550" cy="2095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0E16A7-DC10-44C1-9974-0FF7388D1F0B}"/>
              </a:ext>
            </a:extLst>
          </p:cNvPr>
          <p:cNvSpPr>
            <a:spLocks noGrp="1"/>
          </p:cNvSpPr>
          <p:nvPr/>
        </p:nvSpPr>
        <p:spPr>
          <a:xfrm>
            <a:off x="2608898" y="3218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C35D29-CE18-4668-846F-AF9D6FC6B65D}"/>
              </a:ext>
            </a:extLst>
          </p:cNvPr>
          <p:cNvSpPr>
            <a:spLocks noGrp="1"/>
          </p:cNvSpPr>
          <p:nvPr/>
        </p:nvSpPr>
        <p:spPr>
          <a:xfrm>
            <a:off x="3332798" y="3218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21" name="Straight Arrow Connector 120"/>
          <p:cNvCxnSpPr>
            <a:stCxn id="7" idx="6"/>
            <a:endCxn id="8" idx="2"/>
          </p:cNvCxnSpPr>
          <p:nvPr/>
        </p:nvCxnSpPr>
        <p:spPr>
          <a:xfrm>
            <a:off x="2610803" y="3219451"/>
            <a:ext cx="721995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F94AFF2-750E-4A61-8120-A609FAD2772C}"/>
              </a:ext>
            </a:extLst>
          </p:cNvPr>
          <p:cNvSpPr>
            <a:spLocks noGrp="1"/>
          </p:cNvSpPr>
          <p:nvPr/>
        </p:nvSpPr>
        <p:spPr>
          <a:xfrm>
            <a:off x="2565239" y="3352865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2C44621-0AD0-4397-854E-EB1915C00A4A}"/>
              </a:ext>
            </a:extLst>
          </p:cNvPr>
          <p:cNvSpPr>
            <a:spLocks noGrp="1"/>
          </p:cNvSpPr>
          <p:nvPr/>
        </p:nvSpPr>
        <p:spPr>
          <a:xfrm>
            <a:off x="3150886" y="377836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24" name="Straight Arrow Connector 123"/>
          <p:cNvCxnSpPr>
            <a:stCxn id="10" idx="5"/>
            <a:endCxn id="11" idx="1"/>
          </p:cNvCxnSpPr>
          <p:nvPr/>
        </p:nvCxnSpPr>
        <p:spPr>
          <a:xfrm>
            <a:off x="2566865" y="3354491"/>
            <a:ext cx="584300" cy="424151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77481F5-F02F-46BD-BDE9-FB51495A0267}"/>
              </a:ext>
            </a:extLst>
          </p:cNvPr>
          <p:cNvSpPr>
            <a:spLocks noGrp="1"/>
          </p:cNvSpPr>
          <p:nvPr/>
        </p:nvSpPr>
        <p:spPr>
          <a:xfrm>
            <a:off x="2450939" y="343590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A647551-A2FD-4351-B2A7-1885022A070D}"/>
              </a:ext>
            </a:extLst>
          </p:cNvPr>
          <p:cNvSpPr>
            <a:spLocks noGrp="1"/>
          </p:cNvSpPr>
          <p:nvPr/>
        </p:nvSpPr>
        <p:spPr>
          <a:xfrm>
            <a:off x="2674636" y="412437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27" name="Straight Arrow Connector 126"/>
          <p:cNvCxnSpPr>
            <a:stCxn id="13" idx="4"/>
            <a:endCxn id="14" idx="0"/>
          </p:cNvCxnSpPr>
          <p:nvPr/>
        </p:nvCxnSpPr>
        <p:spPr>
          <a:xfrm>
            <a:off x="2451892" y="3437814"/>
            <a:ext cx="223697" cy="68656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E8F49C6E-7B77-4AA1-A693-79630A8014B7}"/>
              </a:ext>
            </a:extLst>
          </p:cNvPr>
          <p:cNvSpPr>
            <a:spLocks noGrp="1"/>
          </p:cNvSpPr>
          <p:nvPr/>
        </p:nvSpPr>
        <p:spPr>
          <a:xfrm>
            <a:off x="2309656" y="343590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5DE1EF1-680B-414C-A960-B6994325E889}"/>
              </a:ext>
            </a:extLst>
          </p:cNvPr>
          <p:cNvSpPr>
            <a:spLocks noGrp="1"/>
          </p:cNvSpPr>
          <p:nvPr/>
        </p:nvSpPr>
        <p:spPr>
          <a:xfrm>
            <a:off x="2085959" y="412437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30" name="Straight Arrow Connector 129"/>
          <p:cNvCxnSpPr>
            <a:stCxn id="16" idx="4"/>
            <a:endCxn id="17" idx="0"/>
          </p:cNvCxnSpPr>
          <p:nvPr/>
        </p:nvCxnSpPr>
        <p:spPr>
          <a:xfrm flipH="1">
            <a:off x="2086912" y="3437814"/>
            <a:ext cx="223697" cy="68656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FF48B9BA-929B-498C-BF7F-CD19307A5E7B}"/>
              </a:ext>
            </a:extLst>
          </p:cNvPr>
          <p:cNvSpPr>
            <a:spLocks noGrp="1"/>
          </p:cNvSpPr>
          <p:nvPr/>
        </p:nvSpPr>
        <p:spPr>
          <a:xfrm>
            <a:off x="2195356" y="3352865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CE6CA89-0A2B-4E01-A5AE-5B92AF552420}"/>
              </a:ext>
            </a:extLst>
          </p:cNvPr>
          <p:cNvSpPr>
            <a:spLocks noGrp="1"/>
          </p:cNvSpPr>
          <p:nvPr/>
        </p:nvSpPr>
        <p:spPr>
          <a:xfrm>
            <a:off x="1609709" y="377836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33" name="Straight Arrow Connector 132"/>
          <p:cNvCxnSpPr>
            <a:stCxn id="19" idx="3"/>
            <a:endCxn id="20" idx="7"/>
          </p:cNvCxnSpPr>
          <p:nvPr/>
        </p:nvCxnSpPr>
        <p:spPr>
          <a:xfrm flipH="1">
            <a:off x="1611335" y="3354491"/>
            <a:ext cx="584300" cy="424151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E58710A8-10E8-4B34-86C5-483486CE309F}"/>
              </a:ext>
            </a:extLst>
          </p:cNvPr>
          <p:cNvSpPr>
            <a:spLocks noGrp="1"/>
          </p:cNvSpPr>
          <p:nvPr/>
        </p:nvSpPr>
        <p:spPr>
          <a:xfrm>
            <a:off x="2151698" y="3218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A0D2A64-7736-4878-BEB2-4019C9623256}"/>
              </a:ext>
            </a:extLst>
          </p:cNvPr>
          <p:cNvSpPr>
            <a:spLocks noGrp="1"/>
          </p:cNvSpPr>
          <p:nvPr/>
        </p:nvSpPr>
        <p:spPr>
          <a:xfrm>
            <a:off x="1427798" y="3218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36" name="Straight Arrow Connector 135"/>
          <p:cNvCxnSpPr>
            <a:stCxn id="22" idx="2"/>
            <a:endCxn id="23" idx="6"/>
          </p:cNvCxnSpPr>
          <p:nvPr/>
        </p:nvCxnSpPr>
        <p:spPr>
          <a:xfrm flipH="1">
            <a:off x="1429703" y="3219451"/>
            <a:ext cx="721995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2D2629D1-A792-499F-A217-EBBE64639272}"/>
              </a:ext>
            </a:extLst>
          </p:cNvPr>
          <p:cNvSpPr>
            <a:spLocks noGrp="1"/>
          </p:cNvSpPr>
          <p:nvPr/>
        </p:nvSpPr>
        <p:spPr>
          <a:xfrm>
            <a:off x="2195356" y="3084130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0148A53-1ADF-48D0-9AFD-8A99ECDC35BC}"/>
              </a:ext>
            </a:extLst>
          </p:cNvPr>
          <p:cNvSpPr>
            <a:spLocks noGrp="1"/>
          </p:cNvSpPr>
          <p:nvPr/>
        </p:nvSpPr>
        <p:spPr>
          <a:xfrm>
            <a:off x="1609709" y="265863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39" name="Straight Arrow Connector 138"/>
          <p:cNvCxnSpPr>
            <a:stCxn id="25" idx="1"/>
            <a:endCxn id="26" idx="5"/>
          </p:cNvCxnSpPr>
          <p:nvPr/>
        </p:nvCxnSpPr>
        <p:spPr>
          <a:xfrm flipH="1" flipV="1">
            <a:off x="1611335" y="2660258"/>
            <a:ext cx="584300" cy="424151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CF7847C-D819-4F5A-9CD6-5B9C1E26B7E4}"/>
              </a:ext>
            </a:extLst>
          </p:cNvPr>
          <p:cNvSpPr>
            <a:spLocks noGrp="1"/>
          </p:cNvSpPr>
          <p:nvPr/>
        </p:nvSpPr>
        <p:spPr>
          <a:xfrm>
            <a:off x="2309656" y="300108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91B330C-90D7-4F8D-A1A9-01EF6AD7831E}"/>
              </a:ext>
            </a:extLst>
          </p:cNvPr>
          <p:cNvSpPr>
            <a:spLocks noGrp="1"/>
          </p:cNvSpPr>
          <p:nvPr/>
        </p:nvSpPr>
        <p:spPr>
          <a:xfrm>
            <a:off x="2085959" y="231261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42" name="Straight Arrow Connector 141"/>
          <p:cNvCxnSpPr>
            <a:stCxn id="28" idx="0"/>
            <a:endCxn id="29" idx="4"/>
          </p:cNvCxnSpPr>
          <p:nvPr/>
        </p:nvCxnSpPr>
        <p:spPr>
          <a:xfrm flipH="1" flipV="1">
            <a:off x="2086912" y="2314521"/>
            <a:ext cx="223697" cy="68656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53F8BD79-7166-48DE-BFD9-4E17190C0A95}"/>
              </a:ext>
            </a:extLst>
          </p:cNvPr>
          <p:cNvSpPr>
            <a:spLocks noGrp="1"/>
          </p:cNvSpPr>
          <p:nvPr/>
        </p:nvSpPr>
        <p:spPr>
          <a:xfrm>
            <a:off x="2450939" y="300108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37C22D-9D90-4B46-8BA1-6D6B663BCC05}"/>
              </a:ext>
            </a:extLst>
          </p:cNvPr>
          <p:cNvSpPr>
            <a:spLocks noGrp="1"/>
          </p:cNvSpPr>
          <p:nvPr/>
        </p:nvSpPr>
        <p:spPr>
          <a:xfrm>
            <a:off x="2674636" y="231261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45" name="Straight Arrow Connector 144"/>
          <p:cNvCxnSpPr>
            <a:stCxn id="31" idx="0"/>
            <a:endCxn id="32" idx="4"/>
          </p:cNvCxnSpPr>
          <p:nvPr/>
        </p:nvCxnSpPr>
        <p:spPr>
          <a:xfrm flipV="1">
            <a:off x="2451892" y="2314521"/>
            <a:ext cx="223697" cy="68656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2914D82-C32E-4072-9F63-C330215B3980}"/>
              </a:ext>
            </a:extLst>
          </p:cNvPr>
          <p:cNvSpPr>
            <a:spLocks noGrp="1"/>
          </p:cNvSpPr>
          <p:nvPr/>
        </p:nvSpPr>
        <p:spPr>
          <a:xfrm>
            <a:off x="2565239" y="3084130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E0FE4A7-063D-41DE-9B2E-15D6444676F3}"/>
              </a:ext>
            </a:extLst>
          </p:cNvPr>
          <p:cNvSpPr>
            <a:spLocks noGrp="1"/>
          </p:cNvSpPr>
          <p:nvPr/>
        </p:nvSpPr>
        <p:spPr>
          <a:xfrm>
            <a:off x="3150886" y="265863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48" name="Straight Arrow Connector 147"/>
          <p:cNvCxnSpPr>
            <a:stCxn id="34" idx="7"/>
            <a:endCxn id="35" idx="3"/>
          </p:cNvCxnSpPr>
          <p:nvPr/>
        </p:nvCxnSpPr>
        <p:spPr>
          <a:xfrm flipV="1">
            <a:off x="2566865" y="2660258"/>
            <a:ext cx="584300" cy="424151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E21FC44B-30F9-40D4-8BF1-576D5498A131}"/>
              </a:ext>
            </a:extLst>
          </p:cNvPr>
          <p:cNvSpPr>
            <a:spLocks noGrp="1"/>
          </p:cNvSpPr>
          <p:nvPr/>
        </p:nvSpPr>
        <p:spPr>
          <a:xfrm>
            <a:off x="1657350" y="2495550"/>
            <a:ext cx="1447800" cy="1447800"/>
          </a:xfrm>
          <a:prstGeom prst="ellipse">
            <a:avLst/>
          </a:prstGeom>
          <a:noFill/>
          <a:ln w="1905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0E2598-D30A-48BC-8921-CF6EB70442ED}"/>
              </a:ext>
            </a:extLst>
          </p:cNvPr>
          <p:cNvSpPr>
            <a:spLocks noGrp="1"/>
          </p:cNvSpPr>
          <p:nvPr/>
        </p:nvSpPr>
        <p:spPr>
          <a:xfrm>
            <a:off x="5410200" y="2476500"/>
            <a:ext cx="1371600" cy="1485900"/>
          </a:xfrm>
          <a:prstGeom prst="rect">
            <a:avLst/>
          </a:prstGeom>
          <a:noFill/>
          <a:ln w="1905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988969C-4E0B-4682-8871-D9EFE0DE9D4E}"/>
              </a:ext>
            </a:extLst>
          </p:cNvPr>
          <p:cNvSpPr>
            <a:spLocks noGrp="1"/>
          </p:cNvSpPr>
          <p:nvPr/>
        </p:nvSpPr>
        <p:spPr>
          <a:xfrm>
            <a:off x="5410200" y="2305050"/>
            <a:ext cx="1371600" cy="342900"/>
          </a:xfrm>
          <a:prstGeom prst="ellipse">
            <a:avLst/>
          </a:prstGeom>
          <a:noFill/>
          <a:ln w="1905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D0D9D74-D59E-499D-AC86-339359E0015B}"/>
              </a:ext>
            </a:extLst>
          </p:cNvPr>
          <p:cNvSpPr>
            <a:spLocks noGrp="1"/>
          </p:cNvSpPr>
          <p:nvPr/>
        </p:nvSpPr>
        <p:spPr>
          <a:xfrm>
            <a:off x="5410200" y="3790950"/>
            <a:ext cx="1371600" cy="342900"/>
          </a:xfrm>
          <a:prstGeom prst="ellipse">
            <a:avLst/>
          </a:prstGeom>
          <a:noFill/>
          <a:ln w="1905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470115C-3036-4517-958C-1B71E3FC61A7}"/>
              </a:ext>
            </a:extLst>
          </p:cNvPr>
          <p:cNvSpPr>
            <a:spLocks noGrp="1"/>
          </p:cNvSpPr>
          <p:nvPr/>
        </p:nvSpPr>
        <p:spPr>
          <a:xfrm>
            <a:off x="6095048" y="41709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7B9393C-936E-4C45-98BA-7A25F24C825F}"/>
              </a:ext>
            </a:extLst>
          </p:cNvPr>
          <p:cNvSpPr>
            <a:spLocks noGrp="1"/>
          </p:cNvSpPr>
          <p:nvPr/>
        </p:nvSpPr>
        <p:spPr>
          <a:xfrm>
            <a:off x="6095048" y="16754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55" name="Straight Arrow Connector 154"/>
          <p:cNvCxnSpPr>
            <a:stCxn id="41" idx="0"/>
            <a:endCxn id="42" idx="4"/>
          </p:cNvCxnSpPr>
          <p:nvPr/>
        </p:nvCxnSpPr>
        <p:spPr>
          <a:xfrm flipV="1">
            <a:off x="6096001" y="1677353"/>
            <a:ext cx="0" cy="2493645"/>
          </a:xfrm>
          <a:prstGeom prst="straightConnector1">
            <a:avLst/>
          </a:prstGeom>
          <a:ln w="26194" cap="rnd">
            <a:solidFill>
              <a:srgbClr val="344054"/>
            </a:solidFill>
            <a:prstDash val="solid"/>
            <a:tailEnd type="triangle" w="med" len="med"/>
          </a:ln>
        </p:spPr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5ED1D05-F8F1-4C0A-8541-DF33B847768B}"/>
              </a:ext>
            </a:extLst>
          </p:cNvPr>
          <p:cNvSpPr>
            <a:spLocks noGrp="1"/>
          </p:cNvSpPr>
          <p:nvPr/>
        </p:nvSpPr>
        <p:spPr>
          <a:xfrm>
            <a:off x="6267450" y="1619250"/>
            <a:ext cx="342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709A2A9-C1CA-48EB-AC87-1399FEBF4C44}"/>
              </a:ext>
            </a:extLst>
          </p:cNvPr>
          <p:cNvSpPr>
            <a:spLocks noGrp="1"/>
          </p:cNvSpPr>
          <p:nvPr/>
        </p:nvSpPr>
        <p:spPr>
          <a:xfrm>
            <a:off x="5409248" y="27803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054AA52-8945-4146-A8BC-FFFF3581A2D4}"/>
              </a:ext>
            </a:extLst>
          </p:cNvPr>
          <p:cNvSpPr>
            <a:spLocks noGrp="1"/>
          </p:cNvSpPr>
          <p:nvPr/>
        </p:nvSpPr>
        <p:spPr>
          <a:xfrm>
            <a:off x="4742498" y="27803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59" name="Straight Arrow Connector 158"/>
          <p:cNvCxnSpPr>
            <a:stCxn id="45" idx="2"/>
            <a:endCxn id="46" idx="6"/>
          </p:cNvCxnSpPr>
          <p:nvPr/>
        </p:nvCxnSpPr>
        <p:spPr>
          <a:xfrm flipH="1">
            <a:off x="4744403" y="2781301"/>
            <a:ext cx="664845" cy="0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8BE1CC0A-BBA5-410C-9C55-71765D53ED25}"/>
              </a:ext>
            </a:extLst>
          </p:cNvPr>
          <p:cNvSpPr>
            <a:spLocks noGrp="1"/>
          </p:cNvSpPr>
          <p:nvPr/>
        </p:nvSpPr>
        <p:spPr>
          <a:xfrm>
            <a:off x="6780848" y="27803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447D422-EEC5-4F56-940B-B7BB457F44F9}"/>
              </a:ext>
            </a:extLst>
          </p:cNvPr>
          <p:cNvSpPr>
            <a:spLocks noGrp="1"/>
          </p:cNvSpPr>
          <p:nvPr/>
        </p:nvSpPr>
        <p:spPr>
          <a:xfrm>
            <a:off x="7447598" y="27803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62" name="Straight Arrow Connector 161"/>
          <p:cNvCxnSpPr>
            <a:stCxn id="48" idx="6"/>
            <a:endCxn id="49" idx="2"/>
          </p:cNvCxnSpPr>
          <p:nvPr/>
        </p:nvCxnSpPr>
        <p:spPr>
          <a:xfrm>
            <a:off x="6782753" y="2781301"/>
            <a:ext cx="664845" cy="0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A52F9A9-C288-4157-93D3-D31D21F87789}"/>
              </a:ext>
            </a:extLst>
          </p:cNvPr>
          <p:cNvSpPr>
            <a:spLocks noGrp="1"/>
          </p:cNvSpPr>
          <p:nvPr/>
        </p:nvSpPr>
        <p:spPr>
          <a:xfrm>
            <a:off x="5409248" y="3218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53C8049-C61B-4D46-BD00-0DA866D2F7C9}"/>
              </a:ext>
            </a:extLst>
          </p:cNvPr>
          <p:cNvSpPr>
            <a:spLocks noGrp="1"/>
          </p:cNvSpPr>
          <p:nvPr/>
        </p:nvSpPr>
        <p:spPr>
          <a:xfrm>
            <a:off x="4742498" y="3218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65" name="Straight Arrow Connector 164"/>
          <p:cNvCxnSpPr>
            <a:stCxn id="51" idx="2"/>
            <a:endCxn id="52" idx="6"/>
          </p:cNvCxnSpPr>
          <p:nvPr/>
        </p:nvCxnSpPr>
        <p:spPr>
          <a:xfrm flipH="1">
            <a:off x="4744403" y="3219451"/>
            <a:ext cx="664845" cy="0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67BD2AEB-9627-4E4B-B11D-1C56F493AF1F}"/>
              </a:ext>
            </a:extLst>
          </p:cNvPr>
          <p:cNvSpPr>
            <a:spLocks noGrp="1"/>
          </p:cNvSpPr>
          <p:nvPr/>
        </p:nvSpPr>
        <p:spPr>
          <a:xfrm>
            <a:off x="6780848" y="3218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45E652C-B2C9-45A8-ABEF-4D5914533334}"/>
              </a:ext>
            </a:extLst>
          </p:cNvPr>
          <p:cNvSpPr>
            <a:spLocks noGrp="1"/>
          </p:cNvSpPr>
          <p:nvPr/>
        </p:nvSpPr>
        <p:spPr>
          <a:xfrm>
            <a:off x="7447598" y="3218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68" name="Straight Arrow Connector 167"/>
          <p:cNvCxnSpPr>
            <a:stCxn id="54" idx="6"/>
            <a:endCxn id="55" idx="2"/>
          </p:cNvCxnSpPr>
          <p:nvPr/>
        </p:nvCxnSpPr>
        <p:spPr>
          <a:xfrm>
            <a:off x="6782753" y="3219451"/>
            <a:ext cx="664845" cy="0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898E2A1-54F3-4F37-BF57-E0A269BA35DD}"/>
              </a:ext>
            </a:extLst>
          </p:cNvPr>
          <p:cNvSpPr>
            <a:spLocks noGrp="1"/>
          </p:cNvSpPr>
          <p:nvPr/>
        </p:nvSpPr>
        <p:spPr>
          <a:xfrm>
            <a:off x="5409248" y="36566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5FEDE75-CF25-4E37-84C3-3F54E0DDD75C}"/>
              </a:ext>
            </a:extLst>
          </p:cNvPr>
          <p:cNvSpPr>
            <a:spLocks noGrp="1"/>
          </p:cNvSpPr>
          <p:nvPr/>
        </p:nvSpPr>
        <p:spPr>
          <a:xfrm>
            <a:off x="4742498" y="36566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71" name="Straight Arrow Connector 170"/>
          <p:cNvCxnSpPr>
            <a:stCxn id="57" idx="2"/>
            <a:endCxn id="58" idx="6"/>
          </p:cNvCxnSpPr>
          <p:nvPr/>
        </p:nvCxnSpPr>
        <p:spPr>
          <a:xfrm flipH="1">
            <a:off x="4744403" y="3657601"/>
            <a:ext cx="664845" cy="0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00F2AD57-6847-4BFA-B174-F70E3C9A416A}"/>
              </a:ext>
            </a:extLst>
          </p:cNvPr>
          <p:cNvSpPr>
            <a:spLocks noGrp="1"/>
          </p:cNvSpPr>
          <p:nvPr/>
        </p:nvSpPr>
        <p:spPr>
          <a:xfrm>
            <a:off x="6780848" y="36566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4FD5019-EE4C-4A2F-BF0D-7D4116F36E0F}"/>
              </a:ext>
            </a:extLst>
          </p:cNvPr>
          <p:cNvSpPr>
            <a:spLocks noGrp="1"/>
          </p:cNvSpPr>
          <p:nvPr/>
        </p:nvSpPr>
        <p:spPr>
          <a:xfrm>
            <a:off x="7447598" y="36566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74" name="Straight Arrow Connector 173"/>
          <p:cNvCxnSpPr>
            <a:stCxn id="60" idx="6"/>
            <a:endCxn id="61" idx="2"/>
          </p:cNvCxnSpPr>
          <p:nvPr/>
        </p:nvCxnSpPr>
        <p:spPr>
          <a:xfrm>
            <a:off x="6782753" y="3657601"/>
            <a:ext cx="664845" cy="0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2547AE0C-28E4-442A-B66B-46EB4FC2C99A}"/>
              </a:ext>
            </a:extLst>
          </p:cNvPr>
          <p:cNvSpPr>
            <a:spLocks noGrp="1"/>
          </p:cNvSpPr>
          <p:nvPr/>
        </p:nvSpPr>
        <p:spPr>
          <a:xfrm>
            <a:off x="6972300" y="2686050"/>
            <a:ext cx="342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478F027-EDDE-44C9-8F6D-801F90E18E2F}"/>
              </a:ext>
            </a:extLst>
          </p:cNvPr>
          <p:cNvSpPr>
            <a:spLocks noGrp="1"/>
          </p:cNvSpPr>
          <p:nvPr/>
        </p:nvSpPr>
        <p:spPr>
          <a:xfrm>
            <a:off x="8763000" y="3200400"/>
            <a:ext cx="2095500" cy="38100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CB8B5E4-FA63-40FF-AB75-423B281D1AB3}"/>
              </a:ext>
            </a:extLst>
          </p:cNvPr>
          <p:cNvSpPr>
            <a:spLocks noGrp="1"/>
          </p:cNvSpPr>
          <p:nvPr/>
        </p:nvSpPr>
        <p:spPr>
          <a:xfrm>
            <a:off x="8895398" y="3142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554801C-3C9E-4E9E-B94A-37D75E4C4B2D}"/>
              </a:ext>
            </a:extLst>
          </p:cNvPr>
          <p:cNvSpPr>
            <a:spLocks noGrp="1"/>
          </p:cNvSpPr>
          <p:nvPr/>
        </p:nvSpPr>
        <p:spPr>
          <a:xfrm>
            <a:off x="8895398" y="23040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79" name="Straight Arrow Connector 178"/>
          <p:cNvCxnSpPr>
            <a:stCxn id="65" idx="0"/>
            <a:endCxn id="66" idx="4"/>
          </p:cNvCxnSpPr>
          <p:nvPr/>
        </p:nvCxnSpPr>
        <p:spPr>
          <a:xfrm flipV="1">
            <a:off x="8896351" y="23060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1FB7C1FA-D1F6-45C2-A6A6-84EF62FF4B48}"/>
              </a:ext>
            </a:extLst>
          </p:cNvPr>
          <p:cNvSpPr>
            <a:spLocks noGrp="1"/>
          </p:cNvSpPr>
          <p:nvPr/>
        </p:nvSpPr>
        <p:spPr>
          <a:xfrm>
            <a:off x="8895398" y="32946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77334AA-13B4-46D4-BDD2-A86F5096BA4C}"/>
              </a:ext>
            </a:extLst>
          </p:cNvPr>
          <p:cNvSpPr>
            <a:spLocks noGrp="1"/>
          </p:cNvSpPr>
          <p:nvPr/>
        </p:nvSpPr>
        <p:spPr>
          <a:xfrm>
            <a:off x="8895398" y="41328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82" name="Straight Arrow Connector 181"/>
          <p:cNvCxnSpPr>
            <a:stCxn id="68" idx="4"/>
            <a:endCxn id="69" idx="0"/>
          </p:cNvCxnSpPr>
          <p:nvPr/>
        </p:nvCxnSpPr>
        <p:spPr>
          <a:xfrm>
            <a:off x="8896351" y="32966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D3D501F8-E19E-487B-B918-85452BF4EDC5}"/>
              </a:ext>
            </a:extLst>
          </p:cNvPr>
          <p:cNvSpPr>
            <a:spLocks noGrp="1"/>
          </p:cNvSpPr>
          <p:nvPr/>
        </p:nvSpPr>
        <p:spPr>
          <a:xfrm>
            <a:off x="9200198" y="3142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B65EB66-DD90-4B53-A2A8-08509A4E1052}"/>
              </a:ext>
            </a:extLst>
          </p:cNvPr>
          <p:cNvSpPr>
            <a:spLocks noGrp="1"/>
          </p:cNvSpPr>
          <p:nvPr/>
        </p:nvSpPr>
        <p:spPr>
          <a:xfrm>
            <a:off x="9200198" y="23040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85" name="Straight Arrow Connector 184"/>
          <p:cNvCxnSpPr>
            <a:stCxn id="71" idx="0"/>
            <a:endCxn id="72" idx="4"/>
          </p:cNvCxnSpPr>
          <p:nvPr/>
        </p:nvCxnSpPr>
        <p:spPr>
          <a:xfrm flipV="1">
            <a:off x="9201151" y="23060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FD382EC6-E285-4AB2-B411-9358ABF95287}"/>
              </a:ext>
            </a:extLst>
          </p:cNvPr>
          <p:cNvSpPr>
            <a:spLocks noGrp="1"/>
          </p:cNvSpPr>
          <p:nvPr/>
        </p:nvSpPr>
        <p:spPr>
          <a:xfrm>
            <a:off x="9200198" y="32946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B25EAB1-509E-41A8-A35D-4AC385C6014C}"/>
              </a:ext>
            </a:extLst>
          </p:cNvPr>
          <p:cNvSpPr>
            <a:spLocks noGrp="1"/>
          </p:cNvSpPr>
          <p:nvPr/>
        </p:nvSpPr>
        <p:spPr>
          <a:xfrm>
            <a:off x="9200198" y="41328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88" name="Straight Arrow Connector 187"/>
          <p:cNvCxnSpPr>
            <a:stCxn id="74" idx="4"/>
            <a:endCxn id="75" idx="0"/>
          </p:cNvCxnSpPr>
          <p:nvPr/>
        </p:nvCxnSpPr>
        <p:spPr>
          <a:xfrm>
            <a:off x="9201151" y="32966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EC514ED2-00B1-4704-8BBC-E7CD8B2EEA9F}"/>
              </a:ext>
            </a:extLst>
          </p:cNvPr>
          <p:cNvSpPr>
            <a:spLocks noGrp="1"/>
          </p:cNvSpPr>
          <p:nvPr/>
        </p:nvSpPr>
        <p:spPr>
          <a:xfrm>
            <a:off x="9504998" y="3142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A31C842-6B00-49F5-9E5E-87B8C91AD60B}"/>
              </a:ext>
            </a:extLst>
          </p:cNvPr>
          <p:cNvSpPr>
            <a:spLocks noGrp="1"/>
          </p:cNvSpPr>
          <p:nvPr/>
        </p:nvSpPr>
        <p:spPr>
          <a:xfrm>
            <a:off x="9504998" y="23040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91" name="Straight Arrow Connector 190"/>
          <p:cNvCxnSpPr>
            <a:stCxn id="77" idx="0"/>
            <a:endCxn id="78" idx="4"/>
          </p:cNvCxnSpPr>
          <p:nvPr/>
        </p:nvCxnSpPr>
        <p:spPr>
          <a:xfrm flipV="1">
            <a:off x="9505951" y="23060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A7FEDF37-C0F6-4339-BA73-88AB4D5DD88D}"/>
              </a:ext>
            </a:extLst>
          </p:cNvPr>
          <p:cNvSpPr>
            <a:spLocks noGrp="1"/>
          </p:cNvSpPr>
          <p:nvPr/>
        </p:nvSpPr>
        <p:spPr>
          <a:xfrm>
            <a:off x="9504998" y="32946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D61C5FA-7B6C-4184-8E0F-05B390E72494}"/>
              </a:ext>
            </a:extLst>
          </p:cNvPr>
          <p:cNvSpPr>
            <a:spLocks noGrp="1"/>
          </p:cNvSpPr>
          <p:nvPr/>
        </p:nvSpPr>
        <p:spPr>
          <a:xfrm>
            <a:off x="9504998" y="41328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94" name="Straight Arrow Connector 193"/>
          <p:cNvCxnSpPr>
            <a:stCxn id="80" idx="4"/>
            <a:endCxn id="81" idx="0"/>
          </p:cNvCxnSpPr>
          <p:nvPr/>
        </p:nvCxnSpPr>
        <p:spPr>
          <a:xfrm>
            <a:off x="9505951" y="32966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23D59B98-610C-48A7-A38F-6DCB93967286}"/>
              </a:ext>
            </a:extLst>
          </p:cNvPr>
          <p:cNvSpPr>
            <a:spLocks noGrp="1"/>
          </p:cNvSpPr>
          <p:nvPr/>
        </p:nvSpPr>
        <p:spPr>
          <a:xfrm>
            <a:off x="9809798" y="3142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D9388C9-278E-4876-8294-8A2435D1A1B3}"/>
              </a:ext>
            </a:extLst>
          </p:cNvPr>
          <p:cNvSpPr>
            <a:spLocks noGrp="1"/>
          </p:cNvSpPr>
          <p:nvPr/>
        </p:nvSpPr>
        <p:spPr>
          <a:xfrm>
            <a:off x="9809798" y="23040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97" name="Straight Arrow Connector 196"/>
          <p:cNvCxnSpPr>
            <a:stCxn id="83" idx="0"/>
            <a:endCxn id="84" idx="4"/>
          </p:cNvCxnSpPr>
          <p:nvPr/>
        </p:nvCxnSpPr>
        <p:spPr>
          <a:xfrm flipV="1">
            <a:off x="9810751" y="23060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CD449258-F3B4-453E-AA01-6119E932118C}"/>
              </a:ext>
            </a:extLst>
          </p:cNvPr>
          <p:cNvSpPr>
            <a:spLocks noGrp="1"/>
          </p:cNvSpPr>
          <p:nvPr/>
        </p:nvSpPr>
        <p:spPr>
          <a:xfrm>
            <a:off x="9809798" y="32946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BEB414C-3052-4EC8-A1DF-D6BB5D902E8A}"/>
              </a:ext>
            </a:extLst>
          </p:cNvPr>
          <p:cNvSpPr>
            <a:spLocks noGrp="1"/>
          </p:cNvSpPr>
          <p:nvPr/>
        </p:nvSpPr>
        <p:spPr>
          <a:xfrm>
            <a:off x="9809798" y="41328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00" name="Straight Arrow Connector 199"/>
          <p:cNvCxnSpPr>
            <a:stCxn id="86" idx="4"/>
            <a:endCxn id="87" idx="0"/>
          </p:cNvCxnSpPr>
          <p:nvPr/>
        </p:nvCxnSpPr>
        <p:spPr>
          <a:xfrm>
            <a:off x="9810751" y="32966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EAFF8565-B200-4911-9A10-27ED4C433294}"/>
              </a:ext>
            </a:extLst>
          </p:cNvPr>
          <p:cNvSpPr>
            <a:spLocks noGrp="1"/>
          </p:cNvSpPr>
          <p:nvPr/>
        </p:nvSpPr>
        <p:spPr>
          <a:xfrm>
            <a:off x="10114598" y="3142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8CFBA04-61FC-460E-BEA9-A6D110FBEA4B}"/>
              </a:ext>
            </a:extLst>
          </p:cNvPr>
          <p:cNvSpPr>
            <a:spLocks noGrp="1"/>
          </p:cNvSpPr>
          <p:nvPr/>
        </p:nvSpPr>
        <p:spPr>
          <a:xfrm>
            <a:off x="10114598" y="23040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03" name="Straight Arrow Connector 202"/>
          <p:cNvCxnSpPr>
            <a:stCxn id="89" idx="0"/>
            <a:endCxn id="90" idx="4"/>
          </p:cNvCxnSpPr>
          <p:nvPr/>
        </p:nvCxnSpPr>
        <p:spPr>
          <a:xfrm flipV="1">
            <a:off x="10115551" y="23060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2D644ADD-143B-4B35-A781-F7DED10D288E}"/>
              </a:ext>
            </a:extLst>
          </p:cNvPr>
          <p:cNvSpPr>
            <a:spLocks noGrp="1"/>
          </p:cNvSpPr>
          <p:nvPr/>
        </p:nvSpPr>
        <p:spPr>
          <a:xfrm>
            <a:off x="10114598" y="32946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75537A3-5B0E-4F72-94B9-54CC99E2E9BE}"/>
              </a:ext>
            </a:extLst>
          </p:cNvPr>
          <p:cNvSpPr>
            <a:spLocks noGrp="1"/>
          </p:cNvSpPr>
          <p:nvPr/>
        </p:nvSpPr>
        <p:spPr>
          <a:xfrm>
            <a:off x="10114598" y="41328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06" name="Straight Arrow Connector 205"/>
          <p:cNvCxnSpPr>
            <a:stCxn id="92" idx="4"/>
            <a:endCxn id="93" idx="0"/>
          </p:cNvCxnSpPr>
          <p:nvPr/>
        </p:nvCxnSpPr>
        <p:spPr>
          <a:xfrm>
            <a:off x="10115551" y="32966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03D52D6A-B1D4-4524-A180-21BCB9BAD0B7}"/>
              </a:ext>
            </a:extLst>
          </p:cNvPr>
          <p:cNvSpPr>
            <a:spLocks noGrp="1"/>
          </p:cNvSpPr>
          <p:nvPr/>
        </p:nvSpPr>
        <p:spPr>
          <a:xfrm>
            <a:off x="10419398" y="3142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548B45D5-F8A0-42B8-9EE8-70A8330CFB7E}"/>
              </a:ext>
            </a:extLst>
          </p:cNvPr>
          <p:cNvSpPr>
            <a:spLocks noGrp="1"/>
          </p:cNvSpPr>
          <p:nvPr/>
        </p:nvSpPr>
        <p:spPr>
          <a:xfrm>
            <a:off x="10419398" y="23040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09" name="Straight Arrow Connector 208"/>
          <p:cNvCxnSpPr>
            <a:stCxn id="95" idx="0"/>
            <a:endCxn id="96" idx="4"/>
          </p:cNvCxnSpPr>
          <p:nvPr/>
        </p:nvCxnSpPr>
        <p:spPr>
          <a:xfrm flipV="1">
            <a:off x="10420351" y="23060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685106A7-92B2-43EE-9CC4-848ADB5D50E0}"/>
              </a:ext>
            </a:extLst>
          </p:cNvPr>
          <p:cNvSpPr>
            <a:spLocks noGrp="1"/>
          </p:cNvSpPr>
          <p:nvPr/>
        </p:nvSpPr>
        <p:spPr>
          <a:xfrm>
            <a:off x="10419398" y="32946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F5ED7E5-6BB0-4A42-875D-16F5D80FA532}"/>
              </a:ext>
            </a:extLst>
          </p:cNvPr>
          <p:cNvSpPr>
            <a:spLocks noGrp="1"/>
          </p:cNvSpPr>
          <p:nvPr/>
        </p:nvSpPr>
        <p:spPr>
          <a:xfrm>
            <a:off x="10419398" y="41328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12" name="Straight Arrow Connector 211"/>
          <p:cNvCxnSpPr>
            <a:stCxn id="98" idx="4"/>
            <a:endCxn id="99" idx="0"/>
          </p:cNvCxnSpPr>
          <p:nvPr/>
        </p:nvCxnSpPr>
        <p:spPr>
          <a:xfrm>
            <a:off x="10420351" y="32966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AE70B6A8-0CED-4F7B-A6AF-F053D4D5D028}"/>
              </a:ext>
            </a:extLst>
          </p:cNvPr>
          <p:cNvSpPr>
            <a:spLocks noGrp="1"/>
          </p:cNvSpPr>
          <p:nvPr/>
        </p:nvSpPr>
        <p:spPr>
          <a:xfrm>
            <a:off x="10724198" y="3142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E56BEA8-3F12-4EB8-84DC-1187DB313F8E}"/>
              </a:ext>
            </a:extLst>
          </p:cNvPr>
          <p:cNvSpPr>
            <a:spLocks noGrp="1"/>
          </p:cNvSpPr>
          <p:nvPr/>
        </p:nvSpPr>
        <p:spPr>
          <a:xfrm>
            <a:off x="10724198" y="23040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15" name="Straight Arrow Connector 214"/>
          <p:cNvCxnSpPr>
            <a:stCxn id="101" idx="0"/>
            <a:endCxn id="102" idx="4"/>
          </p:cNvCxnSpPr>
          <p:nvPr/>
        </p:nvCxnSpPr>
        <p:spPr>
          <a:xfrm flipV="1">
            <a:off x="10725151" y="23060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E2863A80-22E1-498C-B988-3741276FC33B}"/>
              </a:ext>
            </a:extLst>
          </p:cNvPr>
          <p:cNvSpPr>
            <a:spLocks noGrp="1"/>
          </p:cNvSpPr>
          <p:nvPr/>
        </p:nvSpPr>
        <p:spPr>
          <a:xfrm>
            <a:off x="10724198" y="32946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6968BE8-D238-4DD4-93C3-99B771E10C62}"/>
              </a:ext>
            </a:extLst>
          </p:cNvPr>
          <p:cNvSpPr>
            <a:spLocks noGrp="1"/>
          </p:cNvSpPr>
          <p:nvPr/>
        </p:nvSpPr>
        <p:spPr>
          <a:xfrm>
            <a:off x="10724198" y="41328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18" name="Straight Arrow Connector 217"/>
          <p:cNvCxnSpPr>
            <a:stCxn id="104" idx="4"/>
            <a:endCxn id="105" idx="0"/>
          </p:cNvCxnSpPr>
          <p:nvPr/>
        </p:nvCxnSpPr>
        <p:spPr>
          <a:xfrm>
            <a:off x="10725151" y="3296603"/>
            <a:ext cx="0" cy="836295"/>
          </a:xfrm>
          <a:prstGeom prst="straightConnector1">
            <a:avLst/>
          </a:prstGeom>
          <a:ln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2066A35-83A8-48E2-9CA0-1585A271FB29}"/>
              </a:ext>
            </a:extLst>
          </p:cNvPr>
          <p:cNvSpPr>
            <a:spLocks noGrp="1"/>
          </p:cNvSpPr>
          <p:nvPr/>
        </p:nvSpPr>
        <p:spPr>
          <a:xfrm>
            <a:off x="1238250" y="451485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구대칭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8CA6BB8-B7E2-4C6D-AD10-146817965265}"/>
              </a:ext>
            </a:extLst>
          </p:cNvPr>
          <p:cNvSpPr>
            <a:spLocks noGrp="1"/>
          </p:cNvSpPr>
          <p:nvPr/>
        </p:nvSpPr>
        <p:spPr>
          <a:xfrm>
            <a:off x="1047750" y="497205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동심 구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AB8F7E9-5125-4DC1-AB47-3DDA426146E7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원통대칭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F7E7B1F-7A2E-43BB-AFB4-7E2F886A183B}"/>
              </a:ext>
            </a:extLst>
          </p:cNvPr>
          <p:cNvSpPr>
            <a:spLocks noGrp="1"/>
          </p:cNvSpPr>
          <p:nvPr/>
        </p:nvSpPr>
        <p:spPr>
          <a:xfrm>
            <a:off x="4762500" y="497205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동축 원기둥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EB56081-257F-4003-8566-926505A3B7AC}"/>
              </a:ext>
            </a:extLst>
          </p:cNvPr>
          <p:cNvSpPr>
            <a:spLocks noGrp="1"/>
          </p:cNvSpPr>
          <p:nvPr/>
        </p:nvSpPr>
        <p:spPr>
          <a:xfrm>
            <a:off x="8667750" y="451485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평면대칭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9416B6D-F55D-4E49-BACE-D25791979D0C}"/>
              </a:ext>
            </a:extLst>
          </p:cNvPr>
          <p:cNvSpPr>
            <a:spLocks noGrp="1"/>
          </p:cNvSpPr>
          <p:nvPr/>
        </p:nvSpPr>
        <p:spPr>
          <a:xfrm>
            <a:off x="8477250" y="497205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필박스</a:t>
            </a:r>
          </a:p>
        </p:txBody>
      </p:sp>
    </p:spTree>
    <p:extLst>
      <p:ext uri="{BB962C8B-B14F-4D97-AF65-F5344CB8AC3E}">
        <p14:creationId xmlns:p14="http://schemas.microsoft.com/office/powerpoint/2010/main" val="2025591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AEFF6850-8E6A-4A0E-9381-D5CBA318D7A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SPHERICAL SYMMETRY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B2F76-5DA0-43D7-9C9E-D66B1659B90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균일한 구 바깥에서는 전체 전하가 중심에 모인 것처럼 보인다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F97AA3-E8B5-471B-A52E-B3F766F924E6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0E2F4-ABA8-4E94-9EA1-2E120A06DB65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46A82D-1DCE-405D-94CC-C1A131DB7DFC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8A1E016-0844-45CF-8EE1-F786DE9B6F8F}"/>
              </a:ext>
            </a:extLst>
          </p:cNvPr>
          <p:cNvSpPr>
            <a:spLocks noGrp="1"/>
          </p:cNvSpPr>
          <p:nvPr/>
        </p:nvSpPr>
        <p:spPr>
          <a:xfrm>
            <a:off x="2000250" y="2476500"/>
            <a:ext cx="2286000" cy="2286000"/>
          </a:xfrm>
          <a:prstGeom prst="ellipse">
            <a:avLst/>
          </a:prstGeom>
          <a:solidFill>
            <a:srgbClr val="E0F0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670874-F87A-4B6D-8414-F05E030E7FF0}"/>
              </a:ext>
            </a:extLst>
          </p:cNvPr>
          <p:cNvSpPr>
            <a:spLocks noGrp="1"/>
          </p:cNvSpPr>
          <p:nvPr/>
        </p:nvSpPr>
        <p:spPr>
          <a:xfrm>
            <a:off x="1333500" y="1809750"/>
            <a:ext cx="3619500" cy="3619500"/>
          </a:xfrm>
          <a:prstGeom prst="ellipse">
            <a:avLst/>
          </a:prstGeom>
          <a:noFill/>
          <a:ln w="28575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5DFDD64-4397-4D49-98D3-41D1258ECE43}"/>
              </a:ext>
            </a:extLst>
          </p:cNvPr>
          <p:cNvSpPr>
            <a:spLocks noGrp="1"/>
          </p:cNvSpPr>
          <p:nvPr/>
        </p:nvSpPr>
        <p:spPr>
          <a:xfrm>
            <a:off x="3038475" y="3514725"/>
            <a:ext cx="209550" cy="2095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5D048F-365E-456A-AAAB-9DB2402B5215}"/>
              </a:ext>
            </a:extLst>
          </p:cNvPr>
          <p:cNvSpPr>
            <a:spLocks noGrp="1"/>
          </p:cNvSpPr>
          <p:nvPr/>
        </p:nvSpPr>
        <p:spPr>
          <a:xfrm>
            <a:off x="3370898" y="3618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DF3209-3591-4DAF-8CD8-EB1726DC2509}"/>
              </a:ext>
            </a:extLst>
          </p:cNvPr>
          <p:cNvSpPr>
            <a:spLocks noGrp="1"/>
          </p:cNvSpPr>
          <p:nvPr/>
        </p:nvSpPr>
        <p:spPr>
          <a:xfrm>
            <a:off x="5104448" y="3618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59" name="Straight Arrow Connector 58"/>
          <p:cNvCxnSpPr>
            <a:stCxn id="9" idx="6"/>
            <a:endCxn id="10" idx="2"/>
          </p:cNvCxnSpPr>
          <p:nvPr/>
        </p:nvCxnSpPr>
        <p:spPr>
          <a:xfrm>
            <a:off x="3372803" y="3619501"/>
            <a:ext cx="1731645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81EECCC-E573-4EEA-90E4-90F76D2ED49D}"/>
              </a:ext>
            </a:extLst>
          </p:cNvPr>
          <p:cNvSpPr>
            <a:spLocks noGrp="1"/>
          </p:cNvSpPr>
          <p:nvPr/>
        </p:nvSpPr>
        <p:spPr>
          <a:xfrm>
            <a:off x="3340271" y="3732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E87E931-E008-49B7-8909-32A301B1458F}"/>
              </a:ext>
            </a:extLst>
          </p:cNvPr>
          <p:cNvSpPr>
            <a:spLocks noGrp="1"/>
          </p:cNvSpPr>
          <p:nvPr/>
        </p:nvSpPr>
        <p:spPr>
          <a:xfrm>
            <a:off x="4841569" y="459962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2" name="Straight Arrow Connector 61"/>
          <p:cNvCxnSpPr>
            <a:stCxn id="12" idx="5"/>
            <a:endCxn id="13" idx="1"/>
          </p:cNvCxnSpPr>
          <p:nvPr/>
        </p:nvCxnSpPr>
        <p:spPr>
          <a:xfrm>
            <a:off x="3341897" y="3734474"/>
            <a:ext cx="1499951" cy="865428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C1C79AE-E15C-4493-BA46-3D5CFE828763}"/>
              </a:ext>
            </a:extLst>
          </p:cNvPr>
          <p:cNvSpPr>
            <a:spLocks noGrp="1"/>
          </p:cNvSpPr>
          <p:nvPr/>
        </p:nvSpPr>
        <p:spPr>
          <a:xfrm>
            <a:off x="3256598" y="3816521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7FE65D-D94B-4344-9BA3-E352B81294F7}"/>
              </a:ext>
            </a:extLst>
          </p:cNvPr>
          <p:cNvSpPr>
            <a:spLocks noGrp="1"/>
          </p:cNvSpPr>
          <p:nvPr/>
        </p:nvSpPr>
        <p:spPr>
          <a:xfrm>
            <a:off x="4123373" y="531781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5" name="Straight Arrow Connector 64"/>
          <p:cNvCxnSpPr>
            <a:stCxn id="15" idx="5"/>
            <a:endCxn id="16" idx="1"/>
          </p:cNvCxnSpPr>
          <p:nvPr/>
        </p:nvCxnSpPr>
        <p:spPr>
          <a:xfrm>
            <a:off x="3258224" y="3818147"/>
            <a:ext cx="865428" cy="1499951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DB763FF-0175-4D1E-87A8-B69DA5CEDC79}"/>
              </a:ext>
            </a:extLst>
          </p:cNvPr>
          <p:cNvSpPr>
            <a:spLocks noGrp="1"/>
          </p:cNvSpPr>
          <p:nvPr/>
        </p:nvSpPr>
        <p:spPr>
          <a:xfrm>
            <a:off x="3142298" y="38471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8BB58B-4D50-4863-9E5B-829420A44503}"/>
              </a:ext>
            </a:extLst>
          </p:cNvPr>
          <p:cNvSpPr>
            <a:spLocks noGrp="1"/>
          </p:cNvSpPr>
          <p:nvPr/>
        </p:nvSpPr>
        <p:spPr>
          <a:xfrm>
            <a:off x="3142298" y="55806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8" name="Straight Arrow Connector 67"/>
          <p:cNvCxnSpPr>
            <a:stCxn id="18" idx="4"/>
            <a:endCxn id="19" idx="0"/>
          </p:cNvCxnSpPr>
          <p:nvPr/>
        </p:nvCxnSpPr>
        <p:spPr>
          <a:xfrm>
            <a:off x="3143251" y="3849053"/>
            <a:ext cx="0" cy="173164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9620D448-236F-4C8D-A44E-A79B051CF3B6}"/>
              </a:ext>
            </a:extLst>
          </p:cNvPr>
          <p:cNvSpPr>
            <a:spLocks noGrp="1"/>
          </p:cNvSpPr>
          <p:nvPr/>
        </p:nvSpPr>
        <p:spPr>
          <a:xfrm>
            <a:off x="3027998" y="3816521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9EDF0DA-3B61-48FF-8A31-A38CCA2CFE1D}"/>
              </a:ext>
            </a:extLst>
          </p:cNvPr>
          <p:cNvSpPr>
            <a:spLocks noGrp="1"/>
          </p:cNvSpPr>
          <p:nvPr/>
        </p:nvSpPr>
        <p:spPr>
          <a:xfrm>
            <a:off x="2161223" y="531781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1" name="Straight Arrow Connector 70"/>
          <p:cNvCxnSpPr>
            <a:stCxn id="21" idx="3"/>
            <a:endCxn id="22" idx="7"/>
          </p:cNvCxnSpPr>
          <p:nvPr/>
        </p:nvCxnSpPr>
        <p:spPr>
          <a:xfrm flipH="1">
            <a:off x="2162849" y="3818147"/>
            <a:ext cx="865428" cy="1499951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9F8D2D2C-CF57-4D92-BC57-22D48FD65F1F}"/>
              </a:ext>
            </a:extLst>
          </p:cNvPr>
          <p:cNvSpPr>
            <a:spLocks noGrp="1"/>
          </p:cNvSpPr>
          <p:nvPr/>
        </p:nvSpPr>
        <p:spPr>
          <a:xfrm>
            <a:off x="2944324" y="3732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8F46D2C-5EB2-4A7D-A212-89CBAF2F27AD}"/>
              </a:ext>
            </a:extLst>
          </p:cNvPr>
          <p:cNvSpPr>
            <a:spLocks noGrp="1"/>
          </p:cNvSpPr>
          <p:nvPr/>
        </p:nvSpPr>
        <p:spPr>
          <a:xfrm>
            <a:off x="1443026" y="459962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4" name="Straight Arrow Connector 73"/>
          <p:cNvCxnSpPr>
            <a:stCxn id="24" idx="3"/>
            <a:endCxn id="25" idx="7"/>
          </p:cNvCxnSpPr>
          <p:nvPr/>
        </p:nvCxnSpPr>
        <p:spPr>
          <a:xfrm flipH="1">
            <a:off x="1444652" y="3734474"/>
            <a:ext cx="1499951" cy="865428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58CD81D-1132-4B6A-81D2-FDA4002E82B6}"/>
              </a:ext>
            </a:extLst>
          </p:cNvPr>
          <p:cNvSpPr>
            <a:spLocks noGrp="1"/>
          </p:cNvSpPr>
          <p:nvPr/>
        </p:nvSpPr>
        <p:spPr>
          <a:xfrm>
            <a:off x="2913698" y="3618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999267D-4760-42A6-9D41-5CA0EE3EF3EF}"/>
              </a:ext>
            </a:extLst>
          </p:cNvPr>
          <p:cNvSpPr>
            <a:spLocks noGrp="1"/>
          </p:cNvSpPr>
          <p:nvPr/>
        </p:nvSpPr>
        <p:spPr>
          <a:xfrm>
            <a:off x="1180148" y="3618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7" name="Straight Arrow Connector 76"/>
          <p:cNvCxnSpPr>
            <a:stCxn id="27" idx="2"/>
            <a:endCxn id="28" idx="6"/>
          </p:cNvCxnSpPr>
          <p:nvPr/>
        </p:nvCxnSpPr>
        <p:spPr>
          <a:xfrm flipH="1">
            <a:off x="1182053" y="3619501"/>
            <a:ext cx="1731645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5BC8FCD7-8179-450A-92C3-845DF8834E1E}"/>
              </a:ext>
            </a:extLst>
          </p:cNvPr>
          <p:cNvSpPr>
            <a:spLocks noGrp="1"/>
          </p:cNvSpPr>
          <p:nvPr/>
        </p:nvSpPr>
        <p:spPr>
          <a:xfrm>
            <a:off x="2944324" y="35042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A0F109-148D-4957-A794-7B1190EE000F}"/>
              </a:ext>
            </a:extLst>
          </p:cNvPr>
          <p:cNvSpPr>
            <a:spLocks noGrp="1"/>
          </p:cNvSpPr>
          <p:nvPr/>
        </p:nvSpPr>
        <p:spPr>
          <a:xfrm>
            <a:off x="1443026" y="263747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0" name="Straight Arrow Connector 79"/>
          <p:cNvCxnSpPr>
            <a:stCxn id="30" idx="1"/>
            <a:endCxn id="31" idx="5"/>
          </p:cNvCxnSpPr>
          <p:nvPr/>
        </p:nvCxnSpPr>
        <p:spPr>
          <a:xfrm flipH="1" flipV="1">
            <a:off x="1444652" y="2639099"/>
            <a:ext cx="1499951" cy="865428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E8E828D-B8A6-4EBB-86B7-0F68DC2F1732}"/>
              </a:ext>
            </a:extLst>
          </p:cNvPr>
          <p:cNvSpPr>
            <a:spLocks noGrp="1"/>
          </p:cNvSpPr>
          <p:nvPr/>
        </p:nvSpPr>
        <p:spPr>
          <a:xfrm>
            <a:off x="3027998" y="3420574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4BF72FD-C34F-4F59-AC81-E585A815D784}"/>
              </a:ext>
            </a:extLst>
          </p:cNvPr>
          <p:cNvSpPr>
            <a:spLocks noGrp="1"/>
          </p:cNvSpPr>
          <p:nvPr/>
        </p:nvSpPr>
        <p:spPr>
          <a:xfrm>
            <a:off x="2161222" y="191927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3" name="Straight Arrow Connector 82"/>
          <p:cNvCxnSpPr>
            <a:stCxn id="33" idx="1"/>
            <a:endCxn id="34" idx="5"/>
          </p:cNvCxnSpPr>
          <p:nvPr/>
        </p:nvCxnSpPr>
        <p:spPr>
          <a:xfrm flipH="1" flipV="1">
            <a:off x="2162848" y="1920902"/>
            <a:ext cx="865429" cy="1499951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50BCE236-B15D-41F9-A61E-A432FBA259B7}"/>
              </a:ext>
            </a:extLst>
          </p:cNvPr>
          <p:cNvSpPr>
            <a:spLocks noGrp="1"/>
          </p:cNvSpPr>
          <p:nvPr/>
        </p:nvSpPr>
        <p:spPr>
          <a:xfrm>
            <a:off x="3142298" y="33899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1103699-4377-45C2-9868-ACAEC5EBB696}"/>
              </a:ext>
            </a:extLst>
          </p:cNvPr>
          <p:cNvSpPr>
            <a:spLocks noGrp="1"/>
          </p:cNvSpPr>
          <p:nvPr/>
        </p:nvSpPr>
        <p:spPr>
          <a:xfrm>
            <a:off x="3142297" y="16563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6" name="Straight Arrow Connector 85"/>
          <p:cNvCxnSpPr>
            <a:stCxn id="36" idx="0"/>
            <a:endCxn id="37" idx="4"/>
          </p:cNvCxnSpPr>
          <p:nvPr/>
        </p:nvCxnSpPr>
        <p:spPr>
          <a:xfrm flipH="1" flipV="1">
            <a:off x="3143250" y="1658303"/>
            <a:ext cx="1" cy="173164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10DF5A38-635F-4DCC-91CF-1D4CFDC32834}"/>
              </a:ext>
            </a:extLst>
          </p:cNvPr>
          <p:cNvSpPr>
            <a:spLocks noGrp="1"/>
          </p:cNvSpPr>
          <p:nvPr/>
        </p:nvSpPr>
        <p:spPr>
          <a:xfrm>
            <a:off x="3256598" y="3420574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29314E2-B2DF-4BFC-A2F3-D868657C661C}"/>
              </a:ext>
            </a:extLst>
          </p:cNvPr>
          <p:cNvSpPr>
            <a:spLocks noGrp="1"/>
          </p:cNvSpPr>
          <p:nvPr/>
        </p:nvSpPr>
        <p:spPr>
          <a:xfrm>
            <a:off x="4123373" y="191927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9" name="Straight Arrow Connector 88"/>
          <p:cNvCxnSpPr>
            <a:stCxn id="39" idx="7"/>
            <a:endCxn id="40" idx="3"/>
          </p:cNvCxnSpPr>
          <p:nvPr/>
        </p:nvCxnSpPr>
        <p:spPr>
          <a:xfrm flipV="1">
            <a:off x="3258224" y="1920902"/>
            <a:ext cx="865428" cy="1499951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D0E9B220-AE87-43CA-A272-D2D2AA2627ED}"/>
              </a:ext>
            </a:extLst>
          </p:cNvPr>
          <p:cNvSpPr>
            <a:spLocks noGrp="1"/>
          </p:cNvSpPr>
          <p:nvPr/>
        </p:nvSpPr>
        <p:spPr>
          <a:xfrm>
            <a:off x="3340271" y="35042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0CB41FE-F5D5-445D-8203-1F76113A59CD}"/>
              </a:ext>
            </a:extLst>
          </p:cNvPr>
          <p:cNvSpPr>
            <a:spLocks noGrp="1"/>
          </p:cNvSpPr>
          <p:nvPr/>
        </p:nvSpPr>
        <p:spPr>
          <a:xfrm>
            <a:off x="4841569" y="263747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2" name="Straight Arrow Connector 91"/>
          <p:cNvCxnSpPr>
            <a:stCxn id="42" idx="7"/>
            <a:endCxn id="43" idx="3"/>
          </p:cNvCxnSpPr>
          <p:nvPr/>
        </p:nvCxnSpPr>
        <p:spPr>
          <a:xfrm flipV="1">
            <a:off x="3341897" y="2639098"/>
            <a:ext cx="1499951" cy="865429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E132EE6-9969-4344-834B-15D3A7145D9D}"/>
              </a:ext>
            </a:extLst>
          </p:cNvPr>
          <p:cNvSpPr>
            <a:spLocks noGrp="1"/>
          </p:cNvSpPr>
          <p:nvPr/>
        </p:nvSpPr>
        <p:spPr>
          <a:xfrm>
            <a:off x="4114800" y="354330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B095600-E65E-4B17-9FE5-5135443E2C47}"/>
              </a:ext>
            </a:extLst>
          </p:cNvPr>
          <p:cNvSpPr>
            <a:spLocks noGrp="1"/>
          </p:cNvSpPr>
          <p:nvPr/>
        </p:nvSpPr>
        <p:spPr>
          <a:xfrm>
            <a:off x="4819650" y="27241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pic>
        <p:nvPicPr>
          <p:cNvPr id="95" name="Picture 9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76900" y="2448214"/>
            <a:ext cx="5619750" cy="894773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A217E164-B9B5-4802-B1EC-CE03A3F46140}"/>
              </a:ext>
            </a:extLst>
          </p:cNvPr>
          <p:cNvSpPr>
            <a:spLocks noGrp="1"/>
          </p:cNvSpPr>
          <p:nvPr/>
        </p:nvSpPr>
        <p:spPr>
          <a:xfrm>
            <a:off x="5924550" y="4095750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가우스 면에서 E의 방향은 법선과 같고, 크기는 일정하다.</a:t>
            </a:r>
          </a:p>
        </p:txBody>
      </p:sp>
    </p:spTree>
    <p:extLst>
      <p:ext uri="{BB962C8B-B14F-4D97-AF65-F5344CB8AC3E}">
        <p14:creationId xmlns:p14="http://schemas.microsoft.com/office/powerpoint/2010/main" val="1525177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C7CB11E-9926-449B-96EB-0BD50CC264D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UNIFORM SOLID SPHERE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FDD314-73C6-491C-96F7-0AE3783CF3F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 내부에서는 포함 전하가 r³으로 증가해 E가 r에 비례한다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D99458-83C7-4A33-8E09-CC81F61C0E6B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972A9F-C3FE-40C8-AFBE-C6B33AACF24D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DA922F-7EF1-46C4-B2D8-DD75D058C46B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72466" y="1935956"/>
            <a:ext cx="3579817" cy="170021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30341B6-18E4-4017-9AD4-AA1F52CE6CB0}"/>
              </a:ext>
            </a:extLst>
          </p:cNvPr>
          <p:cNvSpPr>
            <a:spLocks noGrp="1"/>
          </p:cNvSpPr>
          <p:nvPr/>
        </p:nvSpPr>
        <p:spPr>
          <a:xfrm>
            <a:off x="7333298" y="509492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ACAF4C-28E0-46B8-9124-1F0E1A8A68DF}"/>
              </a:ext>
            </a:extLst>
          </p:cNvPr>
          <p:cNvSpPr>
            <a:spLocks noGrp="1"/>
          </p:cNvSpPr>
          <p:nvPr/>
        </p:nvSpPr>
        <p:spPr>
          <a:xfrm>
            <a:off x="11095673" y="509492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35" name="Straight Arrow Connector 34"/>
          <p:cNvCxnSpPr>
            <a:stCxn id="7" idx="6"/>
            <a:endCxn id="8" idx="2"/>
          </p:cNvCxnSpPr>
          <p:nvPr/>
        </p:nvCxnSpPr>
        <p:spPr>
          <a:xfrm>
            <a:off x="7335203" y="5095876"/>
            <a:ext cx="3760470" cy="0"/>
          </a:xfrm>
          <a:prstGeom prst="straightConnector1">
            <a:avLst/>
          </a:prstGeom>
          <a:ln w="31433" cap="rnd">
            <a:solidFill>
              <a:srgbClr val="191919"/>
            </a:solidFill>
            <a:prstDash val="solid"/>
            <a:tailEnd type="triangle" w="med" len="med"/>
          </a:ln>
        </p:spPr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23F688D-3C00-4EAE-BF74-7E5F66F41DB0}"/>
              </a:ext>
            </a:extLst>
          </p:cNvPr>
          <p:cNvSpPr>
            <a:spLocks noGrp="1"/>
          </p:cNvSpPr>
          <p:nvPr/>
        </p:nvSpPr>
        <p:spPr>
          <a:xfrm>
            <a:off x="7333298" y="509492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490845-1981-4E54-83DB-ACA96D2D38F8}"/>
              </a:ext>
            </a:extLst>
          </p:cNvPr>
          <p:cNvSpPr>
            <a:spLocks noGrp="1"/>
          </p:cNvSpPr>
          <p:nvPr/>
        </p:nvSpPr>
        <p:spPr>
          <a:xfrm>
            <a:off x="7333298" y="195167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38" name="Straight Arrow Connector 37"/>
          <p:cNvCxnSpPr>
            <a:stCxn id="10" idx="0"/>
            <a:endCxn id="11" idx="4"/>
          </p:cNvCxnSpPr>
          <p:nvPr/>
        </p:nvCxnSpPr>
        <p:spPr>
          <a:xfrm flipV="1">
            <a:off x="7334251" y="1953578"/>
            <a:ext cx="0" cy="3141345"/>
          </a:xfrm>
          <a:prstGeom prst="straightConnector1">
            <a:avLst/>
          </a:prstGeom>
          <a:ln w="31433" cap="rnd">
            <a:solidFill>
              <a:srgbClr val="191919"/>
            </a:solidFill>
            <a:prstDash val="solid"/>
            <a:tailEnd type="triangle" w="med" len="me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AE99AEA-8500-4FC7-BEB7-A0AA0F3FFCD9}"/>
              </a:ext>
            </a:extLst>
          </p:cNvPr>
          <p:cNvSpPr>
            <a:spLocks noGrp="1"/>
          </p:cNvSpPr>
          <p:nvPr/>
        </p:nvSpPr>
        <p:spPr>
          <a:xfrm>
            <a:off x="10877550" y="51625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0B24CF-39A0-444D-AB14-9582D9225167}"/>
              </a:ext>
            </a:extLst>
          </p:cNvPr>
          <p:cNvSpPr>
            <a:spLocks noGrp="1"/>
          </p:cNvSpPr>
          <p:nvPr/>
        </p:nvSpPr>
        <p:spPr>
          <a:xfrm>
            <a:off x="7029450" y="1885950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4E5A17-ED46-466A-8E7E-76C07AC0F2DF}"/>
              </a:ext>
            </a:extLst>
          </p:cNvPr>
          <p:cNvSpPr>
            <a:spLocks noGrp="1"/>
          </p:cNvSpPr>
          <p:nvPr/>
        </p:nvSpPr>
        <p:spPr>
          <a:xfrm rot="-3666805">
            <a:off x="6518863" y="3690938"/>
            <a:ext cx="3154774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67AC55-D0F4-435B-8E85-8C86DA87B580}"/>
              </a:ext>
            </a:extLst>
          </p:cNvPr>
          <p:cNvSpPr>
            <a:spLocks noGrp="1"/>
          </p:cNvSpPr>
          <p:nvPr/>
        </p:nvSpPr>
        <p:spPr>
          <a:xfrm rot="4284162">
            <a:off x="8573463" y="2706116"/>
            <a:ext cx="836274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B973BD-210D-41A0-BB53-14FB4EB22500}"/>
              </a:ext>
            </a:extLst>
          </p:cNvPr>
          <p:cNvSpPr>
            <a:spLocks noGrp="1"/>
          </p:cNvSpPr>
          <p:nvPr/>
        </p:nvSpPr>
        <p:spPr>
          <a:xfrm rot="3524609">
            <a:off x="9001300" y="3322117"/>
            <a:ext cx="514001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909F36-3715-4576-8494-84E855FDBA1C}"/>
              </a:ext>
            </a:extLst>
          </p:cNvPr>
          <p:cNvSpPr>
            <a:spLocks noGrp="1"/>
          </p:cNvSpPr>
          <p:nvPr/>
        </p:nvSpPr>
        <p:spPr>
          <a:xfrm rot="2712664">
            <a:off x="9335716" y="3676151"/>
            <a:ext cx="378568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BD6773-DE28-4749-A07A-E0E34C4C632E}"/>
              </a:ext>
            </a:extLst>
          </p:cNvPr>
          <p:cNvSpPr>
            <a:spLocks noGrp="1"/>
          </p:cNvSpPr>
          <p:nvPr/>
        </p:nvSpPr>
        <p:spPr>
          <a:xfrm rot="2006817">
            <a:off x="9631884" y="3898572"/>
            <a:ext cx="319632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050C9F-4BD3-4E18-B4A3-A901A67D9DD4}"/>
              </a:ext>
            </a:extLst>
          </p:cNvPr>
          <p:cNvSpPr>
            <a:spLocks noGrp="1"/>
          </p:cNvSpPr>
          <p:nvPr/>
        </p:nvSpPr>
        <p:spPr>
          <a:xfrm rot="1471978">
            <a:off x="9911817" y="4047521"/>
            <a:ext cx="293166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DC5A5D-19C5-4030-A51E-6EBD8BDD8369}"/>
              </a:ext>
            </a:extLst>
          </p:cNvPr>
          <p:cNvSpPr>
            <a:spLocks noGrp="1"/>
          </p:cNvSpPr>
          <p:nvPr/>
        </p:nvSpPr>
        <p:spPr>
          <a:xfrm rot="1091092">
            <a:off x="10184740" y="4152189"/>
            <a:ext cx="280721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C5CBE3-AC0F-49E0-986C-B68212201AA8}"/>
              </a:ext>
            </a:extLst>
          </p:cNvPr>
          <p:cNvSpPr>
            <a:spLocks noGrp="1"/>
          </p:cNvSpPr>
          <p:nvPr/>
        </p:nvSpPr>
        <p:spPr>
          <a:xfrm rot="823575">
            <a:off x="10454530" y="4228565"/>
            <a:ext cx="274541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C769E5-B58A-4BBE-B1F6-4656EFC5ED82}"/>
              </a:ext>
            </a:extLst>
          </p:cNvPr>
          <p:cNvSpPr>
            <a:spLocks noGrp="1"/>
          </p:cNvSpPr>
          <p:nvPr/>
        </p:nvSpPr>
        <p:spPr>
          <a:xfrm rot="634006">
            <a:off x="10722850" y="4286013"/>
            <a:ext cx="271301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701F7D-6CD8-4DB6-A447-4A72383567A1}"/>
              </a:ext>
            </a:extLst>
          </p:cNvPr>
          <p:cNvSpPr>
            <a:spLocks noGrp="1"/>
          </p:cNvSpPr>
          <p:nvPr/>
        </p:nvSpPr>
        <p:spPr>
          <a:xfrm rot="5400000">
            <a:off x="7381875" y="3562350"/>
            <a:ext cx="295275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C78157-F02A-442C-AD17-31D334DD343E}"/>
              </a:ext>
            </a:extLst>
          </p:cNvPr>
          <p:cNvSpPr>
            <a:spLocks noGrp="1"/>
          </p:cNvSpPr>
          <p:nvPr/>
        </p:nvSpPr>
        <p:spPr>
          <a:xfrm>
            <a:off x="8686800" y="5219700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2916CE-FFE5-4908-AFB6-626C09993430}"/>
              </a:ext>
            </a:extLst>
          </p:cNvPr>
          <p:cNvSpPr>
            <a:spLocks noGrp="1"/>
          </p:cNvSpPr>
          <p:nvPr/>
        </p:nvSpPr>
        <p:spPr>
          <a:xfrm>
            <a:off x="1047750" y="4552950"/>
            <a:ext cx="5429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E는 r = R에서 연속이고, 바깥에서는 1/r²로 감소한다.</a:t>
            </a:r>
          </a:p>
        </p:txBody>
      </p:sp>
    </p:spTree>
    <p:extLst>
      <p:ext uri="{BB962C8B-B14F-4D97-AF65-F5344CB8AC3E}">
        <p14:creationId xmlns:p14="http://schemas.microsoft.com/office/powerpoint/2010/main" val="1820965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60683BE-9F69-405B-A22B-758745FA9C2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CYLINDRICAL SYMMETRY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A61D70-444D-4149-8C8E-DEAE5A8898C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선전하의 장은 거리 s에 반비례한다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AEF555-C91F-46B1-B146-2E266F99B354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9997EC-E136-47A7-B714-674D2CE97BBD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2574D-0C73-4A7C-9A3D-80DD91FD6CD8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19FB48-105A-4BFF-ADDC-77FB02C51288}"/>
              </a:ext>
            </a:extLst>
          </p:cNvPr>
          <p:cNvSpPr>
            <a:spLocks noGrp="1"/>
          </p:cNvSpPr>
          <p:nvPr/>
        </p:nvSpPr>
        <p:spPr>
          <a:xfrm>
            <a:off x="2190750" y="1905000"/>
            <a:ext cx="1714500" cy="3143250"/>
          </a:xfrm>
          <a:prstGeom prst="rect">
            <a:avLst/>
          </a:prstGeom>
          <a:noFill/>
          <a:ln w="28575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149CDA-BFE5-47D2-8F0B-39352DE19FEC}"/>
              </a:ext>
            </a:extLst>
          </p:cNvPr>
          <p:cNvSpPr>
            <a:spLocks noGrp="1"/>
          </p:cNvSpPr>
          <p:nvPr/>
        </p:nvSpPr>
        <p:spPr>
          <a:xfrm>
            <a:off x="2190750" y="1676400"/>
            <a:ext cx="1714500" cy="457200"/>
          </a:xfrm>
          <a:prstGeom prst="ellipse">
            <a:avLst/>
          </a:prstGeom>
          <a:noFill/>
          <a:ln w="28575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C46FFB-B0B8-4026-8D1A-00184CB55753}"/>
              </a:ext>
            </a:extLst>
          </p:cNvPr>
          <p:cNvSpPr>
            <a:spLocks noGrp="1"/>
          </p:cNvSpPr>
          <p:nvPr/>
        </p:nvSpPr>
        <p:spPr>
          <a:xfrm>
            <a:off x="2190750" y="4819650"/>
            <a:ext cx="1714500" cy="457200"/>
          </a:xfrm>
          <a:prstGeom prst="ellipse">
            <a:avLst/>
          </a:prstGeom>
          <a:noFill/>
          <a:ln w="28575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CD5929-FCCD-49D5-935B-F33852767C3B}"/>
              </a:ext>
            </a:extLst>
          </p:cNvPr>
          <p:cNvSpPr>
            <a:spLocks noGrp="1"/>
          </p:cNvSpPr>
          <p:nvPr/>
        </p:nvSpPr>
        <p:spPr>
          <a:xfrm rot="5400000">
            <a:off x="1476375" y="3533775"/>
            <a:ext cx="31432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AB915D-98EE-408D-B836-0BA993405739}"/>
              </a:ext>
            </a:extLst>
          </p:cNvPr>
          <p:cNvSpPr>
            <a:spLocks noGrp="1"/>
          </p:cNvSpPr>
          <p:nvPr/>
        </p:nvSpPr>
        <p:spPr>
          <a:xfrm>
            <a:off x="3047048" y="5142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DE02E40-4B88-48ED-93B8-92871E069CF8}"/>
              </a:ext>
            </a:extLst>
          </p:cNvPr>
          <p:cNvSpPr>
            <a:spLocks noGrp="1"/>
          </p:cNvSpPr>
          <p:nvPr/>
        </p:nvSpPr>
        <p:spPr>
          <a:xfrm>
            <a:off x="3047048" y="15801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0" name="Straight Arrow Connector 59"/>
          <p:cNvCxnSpPr>
            <a:stCxn id="10" idx="0"/>
            <a:endCxn id="11" idx="4"/>
          </p:cNvCxnSpPr>
          <p:nvPr/>
        </p:nvCxnSpPr>
        <p:spPr>
          <a:xfrm flipV="1">
            <a:off x="3048001" y="1582103"/>
            <a:ext cx="0" cy="3560445"/>
          </a:xfrm>
          <a:prstGeom prst="straightConnector1">
            <a:avLst/>
          </a:prstGeom>
          <a:ln w="26194" cap="rnd">
            <a:solidFill>
              <a:srgbClr val="344054"/>
            </a:solidFill>
            <a:prstDash val="solid"/>
            <a:tailEnd type="triangle" w="med" len="med"/>
          </a:ln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0F610FC-6D51-4C1A-AD2A-23C419F29A59}"/>
              </a:ext>
            </a:extLst>
          </p:cNvPr>
          <p:cNvSpPr>
            <a:spLocks noGrp="1"/>
          </p:cNvSpPr>
          <p:nvPr/>
        </p:nvSpPr>
        <p:spPr>
          <a:xfrm>
            <a:off x="3904298" y="23993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DF6074D-8533-4265-9045-FA5661909E99}"/>
              </a:ext>
            </a:extLst>
          </p:cNvPr>
          <p:cNvSpPr>
            <a:spLocks noGrp="1"/>
          </p:cNvSpPr>
          <p:nvPr/>
        </p:nvSpPr>
        <p:spPr>
          <a:xfrm>
            <a:off x="4904423" y="23993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3" name="Straight Arrow Connector 62"/>
          <p:cNvCxnSpPr>
            <a:stCxn id="13" idx="6"/>
            <a:endCxn id="14" idx="2"/>
          </p:cNvCxnSpPr>
          <p:nvPr/>
        </p:nvCxnSpPr>
        <p:spPr>
          <a:xfrm>
            <a:off x="3906203" y="2400301"/>
            <a:ext cx="99822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B79DB1F-12A1-4914-976F-16076F5AB56F}"/>
              </a:ext>
            </a:extLst>
          </p:cNvPr>
          <p:cNvSpPr>
            <a:spLocks noGrp="1"/>
          </p:cNvSpPr>
          <p:nvPr/>
        </p:nvSpPr>
        <p:spPr>
          <a:xfrm>
            <a:off x="2189798" y="23993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F136522-04F6-4E41-B952-B14C99FCE29A}"/>
              </a:ext>
            </a:extLst>
          </p:cNvPr>
          <p:cNvSpPr>
            <a:spLocks noGrp="1"/>
          </p:cNvSpPr>
          <p:nvPr/>
        </p:nvSpPr>
        <p:spPr>
          <a:xfrm>
            <a:off x="1189673" y="23993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6" name="Straight Arrow Connector 65"/>
          <p:cNvCxnSpPr>
            <a:stCxn id="16" idx="2"/>
            <a:endCxn id="17" idx="6"/>
          </p:cNvCxnSpPr>
          <p:nvPr/>
        </p:nvCxnSpPr>
        <p:spPr>
          <a:xfrm flipH="1">
            <a:off x="1191578" y="2400301"/>
            <a:ext cx="99822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F1C4C077-D419-4890-8937-EB74749BE086}"/>
              </a:ext>
            </a:extLst>
          </p:cNvPr>
          <p:cNvSpPr>
            <a:spLocks noGrp="1"/>
          </p:cNvSpPr>
          <p:nvPr/>
        </p:nvSpPr>
        <p:spPr>
          <a:xfrm>
            <a:off x="3904298" y="29327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8002C5-2693-4D80-BE81-00466D96C28E}"/>
              </a:ext>
            </a:extLst>
          </p:cNvPr>
          <p:cNvSpPr>
            <a:spLocks noGrp="1"/>
          </p:cNvSpPr>
          <p:nvPr/>
        </p:nvSpPr>
        <p:spPr>
          <a:xfrm>
            <a:off x="4904423" y="29327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9" name="Straight Arrow Connector 68"/>
          <p:cNvCxnSpPr>
            <a:stCxn id="19" idx="6"/>
            <a:endCxn id="20" idx="2"/>
          </p:cNvCxnSpPr>
          <p:nvPr/>
        </p:nvCxnSpPr>
        <p:spPr>
          <a:xfrm>
            <a:off x="3906203" y="2933701"/>
            <a:ext cx="99822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953E6C5A-DD17-4144-BFDF-031755EF8FEF}"/>
              </a:ext>
            </a:extLst>
          </p:cNvPr>
          <p:cNvSpPr>
            <a:spLocks noGrp="1"/>
          </p:cNvSpPr>
          <p:nvPr/>
        </p:nvSpPr>
        <p:spPr>
          <a:xfrm>
            <a:off x="2189798" y="29327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1EB5D64-0521-484A-8311-37B6063A83B4}"/>
              </a:ext>
            </a:extLst>
          </p:cNvPr>
          <p:cNvSpPr>
            <a:spLocks noGrp="1"/>
          </p:cNvSpPr>
          <p:nvPr/>
        </p:nvSpPr>
        <p:spPr>
          <a:xfrm>
            <a:off x="1189673" y="29327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2" name="Straight Arrow Connector 71"/>
          <p:cNvCxnSpPr>
            <a:stCxn id="22" idx="2"/>
            <a:endCxn id="23" idx="6"/>
          </p:cNvCxnSpPr>
          <p:nvPr/>
        </p:nvCxnSpPr>
        <p:spPr>
          <a:xfrm flipH="1">
            <a:off x="1191578" y="2933701"/>
            <a:ext cx="99822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042DBA44-C9EF-48BC-B310-655EB096FF39}"/>
              </a:ext>
            </a:extLst>
          </p:cNvPr>
          <p:cNvSpPr>
            <a:spLocks noGrp="1"/>
          </p:cNvSpPr>
          <p:nvPr/>
        </p:nvSpPr>
        <p:spPr>
          <a:xfrm>
            <a:off x="3904298" y="3999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C6BF88-9879-4395-94DE-044300B7CDD1}"/>
              </a:ext>
            </a:extLst>
          </p:cNvPr>
          <p:cNvSpPr>
            <a:spLocks noGrp="1"/>
          </p:cNvSpPr>
          <p:nvPr/>
        </p:nvSpPr>
        <p:spPr>
          <a:xfrm>
            <a:off x="4904423" y="3999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5" name="Straight Arrow Connector 74"/>
          <p:cNvCxnSpPr>
            <a:stCxn id="25" idx="6"/>
            <a:endCxn id="26" idx="2"/>
          </p:cNvCxnSpPr>
          <p:nvPr/>
        </p:nvCxnSpPr>
        <p:spPr>
          <a:xfrm>
            <a:off x="3906203" y="4000501"/>
            <a:ext cx="99822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6436B276-FF63-4294-927C-A070F628DA99}"/>
              </a:ext>
            </a:extLst>
          </p:cNvPr>
          <p:cNvSpPr>
            <a:spLocks noGrp="1"/>
          </p:cNvSpPr>
          <p:nvPr/>
        </p:nvSpPr>
        <p:spPr>
          <a:xfrm>
            <a:off x="2189798" y="3999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EBEF23-9041-4E00-A573-1BF7C927A8C9}"/>
              </a:ext>
            </a:extLst>
          </p:cNvPr>
          <p:cNvSpPr>
            <a:spLocks noGrp="1"/>
          </p:cNvSpPr>
          <p:nvPr/>
        </p:nvSpPr>
        <p:spPr>
          <a:xfrm>
            <a:off x="1189673" y="3999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8" name="Straight Arrow Connector 77"/>
          <p:cNvCxnSpPr>
            <a:stCxn id="28" idx="2"/>
            <a:endCxn id="29" idx="6"/>
          </p:cNvCxnSpPr>
          <p:nvPr/>
        </p:nvCxnSpPr>
        <p:spPr>
          <a:xfrm flipH="1">
            <a:off x="1191578" y="4000501"/>
            <a:ext cx="99822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D8568985-959B-4753-800D-0D16973D53AA}"/>
              </a:ext>
            </a:extLst>
          </p:cNvPr>
          <p:cNvSpPr>
            <a:spLocks noGrp="1"/>
          </p:cNvSpPr>
          <p:nvPr/>
        </p:nvSpPr>
        <p:spPr>
          <a:xfrm>
            <a:off x="3904298" y="45329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BE5955E-8072-4790-9E0B-81307C48DF1A}"/>
              </a:ext>
            </a:extLst>
          </p:cNvPr>
          <p:cNvSpPr>
            <a:spLocks noGrp="1"/>
          </p:cNvSpPr>
          <p:nvPr/>
        </p:nvSpPr>
        <p:spPr>
          <a:xfrm>
            <a:off x="4904423" y="45329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1" name="Straight Arrow Connector 80"/>
          <p:cNvCxnSpPr>
            <a:stCxn id="31" idx="6"/>
            <a:endCxn id="32" idx="2"/>
          </p:cNvCxnSpPr>
          <p:nvPr/>
        </p:nvCxnSpPr>
        <p:spPr>
          <a:xfrm>
            <a:off x="3906203" y="4533901"/>
            <a:ext cx="99822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7498C2B-7DC5-454C-A5C1-E81AA95F4FA0}"/>
              </a:ext>
            </a:extLst>
          </p:cNvPr>
          <p:cNvSpPr>
            <a:spLocks noGrp="1"/>
          </p:cNvSpPr>
          <p:nvPr/>
        </p:nvSpPr>
        <p:spPr>
          <a:xfrm>
            <a:off x="2189798" y="45329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157FEE1-83FF-4827-B2D0-79B3A74EF37E}"/>
              </a:ext>
            </a:extLst>
          </p:cNvPr>
          <p:cNvSpPr>
            <a:spLocks noGrp="1"/>
          </p:cNvSpPr>
          <p:nvPr/>
        </p:nvSpPr>
        <p:spPr>
          <a:xfrm>
            <a:off x="1189673" y="45329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4" name="Straight Arrow Connector 83"/>
          <p:cNvCxnSpPr>
            <a:stCxn id="34" idx="2"/>
            <a:endCxn id="35" idx="6"/>
          </p:cNvCxnSpPr>
          <p:nvPr/>
        </p:nvCxnSpPr>
        <p:spPr>
          <a:xfrm flipH="1">
            <a:off x="1191578" y="4533901"/>
            <a:ext cx="99822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B310329-5013-467A-8390-17B78659FADD}"/>
              </a:ext>
            </a:extLst>
          </p:cNvPr>
          <p:cNvSpPr>
            <a:spLocks noGrp="1"/>
          </p:cNvSpPr>
          <p:nvPr/>
        </p:nvSpPr>
        <p:spPr>
          <a:xfrm>
            <a:off x="4048125" y="1524000"/>
            <a:ext cx="43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32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F45987-42EA-4DFD-A5AF-950E470BF2D3}"/>
              </a:ext>
            </a:extLst>
          </p:cNvPr>
          <p:cNvSpPr>
            <a:spLocks noGrp="1"/>
          </p:cNvSpPr>
          <p:nvPr/>
        </p:nvSpPr>
        <p:spPr>
          <a:xfrm>
            <a:off x="3276600" y="2495550"/>
            <a:ext cx="45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λ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960F1F0-32B3-48B3-8B3D-DEC9BF73EC19}"/>
              </a:ext>
            </a:extLst>
          </p:cNvPr>
          <p:cNvSpPr>
            <a:spLocks noGrp="1"/>
          </p:cNvSpPr>
          <p:nvPr/>
        </p:nvSpPr>
        <p:spPr>
          <a:xfrm rot="5400000">
            <a:off x="285750" y="3467100"/>
            <a:ext cx="3143250" cy="19050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33BA35F-6ACA-4E9D-BFEE-6EBA344094FB}"/>
              </a:ext>
            </a:extLst>
          </p:cNvPr>
          <p:cNvSpPr>
            <a:spLocks noGrp="1"/>
          </p:cNvSpPr>
          <p:nvPr/>
        </p:nvSpPr>
        <p:spPr>
          <a:xfrm>
            <a:off x="1733550" y="1895475"/>
            <a:ext cx="247650" cy="19050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A6F16E3-9A04-4833-BFEC-D840E2E13855}"/>
              </a:ext>
            </a:extLst>
          </p:cNvPr>
          <p:cNvSpPr>
            <a:spLocks noGrp="1"/>
          </p:cNvSpPr>
          <p:nvPr/>
        </p:nvSpPr>
        <p:spPr>
          <a:xfrm>
            <a:off x="1733550" y="5038725"/>
            <a:ext cx="247650" cy="19050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2B722C3-CDE2-4FFD-950E-0CD34C1FBF17}"/>
              </a:ext>
            </a:extLst>
          </p:cNvPr>
          <p:cNvSpPr>
            <a:spLocks noGrp="1"/>
          </p:cNvSpPr>
          <p:nvPr/>
        </p:nvSpPr>
        <p:spPr>
          <a:xfrm>
            <a:off x="1409700" y="3286125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B72B62B-1EA4-44EB-916A-BEBE13FDC3EC}"/>
              </a:ext>
            </a:extLst>
          </p:cNvPr>
          <p:cNvSpPr>
            <a:spLocks noGrp="1"/>
          </p:cNvSpPr>
          <p:nvPr/>
        </p:nvSpPr>
        <p:spPr>
          <a:xfrm>
            <a:off x="3047048" y="34851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5A03810-F3C3-46B3-8347-8123BC38D4AE}"/>
              </a:ext>
            </a:extLst>
          </p:cNvPr>
          <p:cNvSpPr>
            <a:spLocks noGrp="1"/>
          </p:cNvSpPr>
          <p:nvPr/>
        </p:nvSpPr>
        <p:spPr>
          <a:xfrm>
            <a:off x="3904298" y="34851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3" name="Straight Arrow Connector 92"/>
          <p:cNvCxnSpPr>
            <a:stCxn id="43" idx="6"/>
            <a:endCxn id="44" idx="2"/>
          </p:cNvCxnSpPr>
          <p:nvPr/>
        </p:nvCxnSpPr>
        <p:spPr>
          <a:xfrm>
            <a:off x="3048953" y="3486151"/>
            <a:ext cx="855345" cy="0"/>
          </a:xfrm>
          <a:prstGeom prst="straightConnector1">
            <a:avLst/>
          </a:prstGeom>
          <a:ln w="26194" cap="rnd">
            <a:solidFill>
              <a:srgbClr val="344054"/>
            </a:solidFill>
            <a:prstDash val="solid"/>
            <a:tailEnd type="triangle" w="med" len="med"/>
          </a:ln>
        </p:spPr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2940287-855A-47B6-BF25-90422D0702D6}"/>
              </a:ext>
            </a:extLst>
          </p:cNvPr>
          <p:cNvSpPr>
            <a:spLocks noGrp="1"/>
          </p:cNvSpPr>
          <p:nvPr/>
        </p:nvSpPr>
        <p:spPr>
          <a:xfrm>
            <a:off x="3371850" y="30861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pic>
        <p:nvPicPr>
          <p:cNvPr id="95" name="Picture 9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0" y="2713089"/>
            <a:ext cx="5334000" cy="860323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BD5AE472-D643-40D7-AB06-CAB7A1EBB210}"/>
              </a:ext>
            </a:extLst>
          </p:cNvPr>
          <p:cNvSpPr>
            <a:spLocks noGrp="1"/>
          </p:cNvSpPr>
          <p:nvPr/>
        </p:nvSpPr>
        <p:spPr>
          <a:xfrm>
            <a:off x="5810250" y="4305300"/>
            <a:ext cx="5143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옆면만 플럭스에 기여하고 두 뚜껑의 기여는 0이다.</a:t>
            </a:r>
          </a:p>
        </p:txBody>
      </p:sp>
    </p:spTree>
    <p:extLst>
      <p:ext uri="{BB962C8B-B14F-4D97-AF65-F5344CB8AC3E}">
        <p14:creationId xmlns:p14="http://schemas.microsoft.com/office/powerpoint/2010/main" val="1684574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6A3DE47D-0620-4D38-A3F0-F381E31B77B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PLANE SYMMETRY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D09758-A6D0-4420-A056-0C390B0166A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평면의 장은 거리와 무관하다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D685C3-E1B4-4A16-8B1B-B728C47EBC72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CBDD5C-2FEF-4B23-AC49-A8EA9ECDD7F3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E92757-F771-4D7A-8881-CD74AC90D56F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E5257C-F7E5-4E5A-97DF-9469ADBB4E6C}"/>
              </a:ext>
            </a:extLst>
          </p:cNvPr>
          <p:cNvSpPr>
            <a:spLocks noGrp="1"/>
          </p:cNvSpPr>
          <p:nvPr/>
        </p:nvSpPr>
        <p:spPr>
          <a:xfrm>
            <a:off x="1238250" y="3500438"/>
            <a:ext cx="4095750" cy="476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308D54-C204-4AFC-9E9F-32EBC1E69214}"/>
              </a:ext>
            </a:extLst>
          </p:cNvPr>
          <p:cNvSpPr>
            <a:spLocks noGrp="1"/>
          </p:cNvSpPr>
          <p:nvPr/>
        </p:nvSpPr>
        <p:spPr>
          <a:xfrm>
            <a:off x="1380173" y="31041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8E6853-9345-4C06-98B7-CE755F335C46}"/>
              </a:ext>
            </a:extLst>
          </p:cNvPr>
          <p:cNvSpPr>
            <a:spLocks noGrp="1"/>
          </p:cNvSpPr>
          <p:nvPr/>
        </p:nvSpPr>
        <p:spPr>
          <a:xfrm>
            <a:off x="1380173" y="2208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4" name="Straight Arrow Connector 73"/>
          <p:cNvCxnSpPr>
            <a:stCxn id="7" idx="0"/>
            <a:endCxn id="8" idx="4"/>
          </p:cNvCxnSpPr>
          <p:nvPr/>
        </p:nvCxnSpPr>
        <p:spPr>
          <a:xfrm flipV="1">
            <a:off x="1381126" y="2210753"/>
            <a:ext cx="0" cy="89344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CD1BAE4-9086-4EF6-8296-9D15B895F2B5}"/>
              </a:ext>
            </a:extLst>
          </p:cNvPr>
          <p:cNvSpPr>
            <a:spLocks noGrp="1"/>
          </p:cNvSpPr>
          <p:nvPr/>
        </p:nvSpPr>
        <p:spPr>
          <a:xfrm>
            <a:off x="1380173" y="38471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23DD3C-CE50-4823-9D1C-50BC77ACA511}"/>
              </a:ext>
            </a:extLst>
          </p:cNvPr>
          <p:cNvSpPr>
            <a:spLocks noGrp="1"/>
          </p:cNvSpPr>
          <p:nvPr/>
        </p:nvSpPr>
        <p:spPr>
          <a:xfrm>
            <a:off x="1380173" y="48377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7" name="Straight Arrow Connector 76"/>
          <p:cNvCxnSpPr>
            <a:stCxn id="10" idx="4"/>
            <a:endCxn id="11" idx="0"/>
          </p:cNvCxnSpPr>
          <p:nvPr/>
        </p:nvCxnSpPr>
        <p:spPr>
          <a:xfrm>
            <a:off x="1381126" y="3849053"/>
            <a:ext cx="0" cy="9886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24C5D-7591-447C-823C-3BE9DF5DA208}"/>
              </a:ext>
            </a:extLst>
          </p:cNvPr>
          <p:cNvSpPr>
            <a:spLocks noGrp="1"/>
          </p:cNvSpPr>
          <p:nvPr/>
        </p:nvSpPr>
        <p:spPr>
          <a:xfrm>
            <a:off x="1285875" y="33147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5567856-CA30-4471-BACD-4510E7F27F9F}"/>
              </a:ext>
            </a:extLst>
          </p:cNvPr>
          <p:cNvSpPr>
            <a:spLocks noGrp="1"/>
          </p:cNvSpPr>
          <p:nvPr/>
        </p:nvSpPr>
        <p:spPr>
          <a:xfrm>
            <a:off x="1904048" y="31041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1F16A50-56F0-487C-8FB0-5B852CF494BC}"/>
              </a:ext>
            </a:extLst>
          </p:cNvPr>
          <p:cNvSpPr>
            <a:spLocks noGrp="1"/>
          </p:cNvSpPr>
          <p:nvPr/>
        </p:nvSpPr>
        <p:spPr>
          <a:xfrm>
            <a:off x="1904048" y="2208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1" name="Straight Arrow Connector 80"/>
          <p:cNvCxnSpPr>
            <a:stCxn id="14" idx="0"/>
            <a:endCxn id="15" idx="4"/>
          </p:cNvCxnSpPr>
          <p:nvPr/>
        </p:nvCxnSpPr>
        <p:spPr>
          <a:xfrm flipV="1">
            <a:off x="1905001" y="2210753"/>
            <a:ext cx="0" cy="89344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16CE046-BAD6-4524-8006-B8A19B37EC50}"/>
              </a:ext>
            </a:extLst>
          </p:cNvPr>
          <p:cNvSpPr>
            <a:spLocks noGrp="1"/>
          </p:cNvSpPr>
          <p:nvPr/>
        </p:nvSpPr>
        <p:spPr>
          <a:xfrm>
            <a:off x="1904048" y="38471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3D6CAB2-962D-4791-994B-5432EA08A161}"/>
              </a:ext>
            </a:extLst>
          </p:cNvPr>
          <p:cNvSpPr>
            <a:spLocks noGrp="1"/>
          </p:cNvSpPr>
          <p:nvPr/>
        </p:nvSpPr>
        <p:spPr>
          <a:xfrm>
            <a:off x="1904048" y="48377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4" name="Straight Arrow Connector 83"/>
          <p:cNvCxnSpPr>
            <a:stCxn id="17" idx="4"/>
            <a:endCxn id="18" idx="0"/>
          </p:cNvCxnSpPr>
          <p:nvPr/>
        </p:nvCxnSpPr>
        <p:spPr>
          <a:xfrm>
            <a:off x="1905001" y="3849053"/>
            <a:ext cx="0" cy="9886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0265063-C2A6-4CB8-A4B1-6DDF3EDE6F1D}"/>
              </a:ext>
            </a:extLst>
          </p:cNvPr>
          <p:cNvSpPr>
            <a:spLocks noGrp="1"/>
          </p:cNvSpPr>
          <p:nvPr/>
        </p:nvSpPr>
        <p:spPr>
          <a:xfrm>
            <a:off x="1809750" y="33147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AF8E526-27E7-4AED-B328-F3A9BE9DC515}"/>
              </a:ext>
            </a:extLst>
          </p:cNvPr>
          <p:cNvSpPr>
            <a:spLocks noGrp="1"/>
          </p:cNvSpPr>
          <p:nvPr/>
        </p:nvSpPr>
        <p:spPr>
          <a:xfrm>
            <a:off x="2427923" y="31041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7DA68A-F45C-44F3-B3C7-BD8B687C5040}"/>
              </a:ext>
            </a:extLst>
          </p:cNvPr>
          <p:cNvSpPr>
            <a:spLocks noGrp="1"/>
          </p:cNvSpPr>
          <p:nvPr/>
        </p:nvSpPr>
        <p:spPr>
          <a:xfrm>
            <a:off x="2427923" y="2208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8" name="Straight Arrow Connector 87"/>
          <p:cNvCxnSpPr>
            <a:stCxn id="21" idx="0"/>
            <a:endCxn id="22" idx="4"/>
          </p:cNvCxnSpPr>
          <p:nvPr/>
        </p:nvCxnSpPr>
        <p:spPr>
          <a:xfrm flipV="1">
            <a:off x="2428876" y="2210753"/>
            <a:ext cx="0" cy="89344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0D201E3-FFE8-4E05-AD93-2B370BCA4E16}"/>
              </a:ext>
            </a:extLst>
          </p:cNvPr>
          <p:cNvSpPr>
            <a:spLocks noGrp="1"/>
          </p:cNvSpPr>
          <p:nvPr/>
        </p:nvSpPr>
        <p:spPr>
          <a:xfrm>
            <a:off x="2427923" y="38471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C1752B0-5316-4B28-8DC3-232C9EF4D923}"/>
              </a:ext>
            </a:extLst>
          </p:cNvPr>
          <p:cNvSpPr>
            <a:spLocks noGrp="1"/>
          </p:cNvSpPr>
          <p:nvPr/>
        </p:nvSpPr>
        <p:spPr>
          <a:xfrm>
            <a:off x="2427923" y="48377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1" name="Straight Arrow Connector 90"/>
          <p:cNvCxnSpPr>
            <a:stCxn id="24" idx="4"/>
            <a:endCxn id="25" idx="0"/>
          </p:cNvCxnSpPr>
          <p:nvPr/>
        </p:nvCxnSpPr>
        <p:spPr>
          <a:xfrm>
            <a:off x="2428876" y="3849053"/>
            <a:ext cx="0" cy="9886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6D2BCC6-CF3A-43B5-885D-B29F12C3EDA8}"/>
              </a:ext>
            </a:extLst>
          </p:cNvPr>
          <p:cNvSpPr>
            <a:spLocks noGrp="1"/>
          </p:cNvSpPr>
          <p:nvPr/>
        </p:nvSpPr>
        <p:spPr>
          <a:xfrm>
            <a:off x="2333625" y="33147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2C0215A-C178-4483-B18C-C8C02D4E8675}"/>
              </a:ext>
            </a:extLst>
          </p:cNvPr>
          <p:cNvSpPr>
            <a:spLocks noGrp="1"/>
          </p:cNvSpPr>
          <p:nvPr/>
        </p:nvSpPr>
        <p:spPr>
          <a:xfrm>
            <a:off x="2951798" y="31041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6A725A-0286-4223-9D86-D9837297AB7F}"/>
              </a:ext>
            </a:extLst>
          </p:cNvPr>
          <p:cNvSpPr>
            <a:spLocks noGrp="1"/>
          </p:cNvSpPr>
          <p:nvPr/>
        </p:nvSpPr>
        <p:spPr>
          <a:xfrm>
            <a:off x="2951798" y="2208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5" name="Straight Arrow Connector 94"/>
          <p:cNvCxnSpPr>
            <a:stCxn id="28" idx="0"/>
            <a:endCxn id="29" idx="4"/>
          </p:cNvCxnSpPr>
          <p:nvPr/>
        </p:nvCxnSpPr>
        <p:spPr>
          <a:xfrm flipV="1">
            <a:off x="2952751" y="2210753"/>
            <a:ext cx="0" cy="89344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5E097153-7CAF-4580-A78B-169EFB12F100}"/>
              </a:ext>
            </a:extLst>
          </p:cNvPr>
          <p:cNvSpPr>
            <a:spLocks noGrp="1"/>
          </p:cNvSpPr>
          <p:nvPr/>
        </p:nvSpPr>
        <p:spPr>
          <a:xfrm>
            <a:off x="2951798" y="38471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8295B80-B9FC-4003-9408-DCC0D802A317}"/>
              </a:ext>
            </a:extLst>
          </p:cNvPr>
          <p:cNvSpPr>
            <a:spLocks noGrp="1"/>
          </p:cNvSpPr>
          <p:nvPr/>
        </p:nvSpPr>
        <p:spPr>
          <a:xfrm>
            <a:off x="2951798" y="48377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98" name="Straight Arrow Connector 97"/>
          <p:cNvCxnSpPr>
            <a:stCxn id="31" idx="4"/>
            <a:endCxn id="32" idx="0"/>
          </p:cNvCxnSpPr>
          <p:nvPr/>
        </p:nvCxnSpPr>
        <p:spPr>
          <a:xfrm>
            <a:off x="2952751" y="3849053"/>
            <a:ext cx="0" cy="9886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9E31D97-E0C3-4D9E-9C49-EAE220CB8E2C}"/>
              </a:ext>
            </a:extLst>
          </p:cNvPr>
          <p:cNvSpPr>
            <a:spLocks noGrp="1"/>
          </p:cNvSpPr>
          <p:nvPr/>
        </p:nvSpPr>
        <p:spPr>
          <a:xfrm>
            <a:off x="2857500" y="33147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ED4C4CD-F74A-4137-A212-D26EB4E5771A}"/>
              </a:ext>
            </a:extLst>
          </p:cNvPr>
          <p:cNvSpPr>
            <a:spLocks noGrp="1"/>
          </p:cNvSpPr>
          <p:nvPr/>
        </p:nvSpPr>
        <p:spPr>
          <a:xfrm>
            <a:off x="3475673" y="31041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13E32A3-ABCA-4FA8-A729-5824E3499F95}"/>
              </a:ext>
            </a:extLst>
          </p:cNvPr>
          <p:cNvSpPr>
            <a:spLocks noGrp="1"/>
          </p:cNvSpPr>
          <p:nvPr/>
        </p:nvSpPr>
        <p:spPr>
          <a:xfrm>
            <a:off x="3475673" y="2208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02" name="Straight Arrow Connector 101"/>
          <p:cNvCxnSpPr>
            <a:stCxn id="35" idx="0"/>
            <a:endCxn id="36" idx="4"/>
          </p:cNvCxnSpPr>
          <p:nvPr/>
        </p:nvCxnSpPr>
        <p:spPr>
          <a:xfrm flipV="1">
            <a:off x="3476626" y="2210753"/>
            <a:ext cx="0" cy="89344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618A0EA1-6625-4B7B-8EE9-1234C2711213}"/>
              </a:ext>
            </a:extLst>
          </p:cNvPr>
          <p:cNvSpPr>
            <a:spLocks noGrp="1"/>
          </p:cNvSpPr>
          <p:nvPr/>
        </p:nvSpPr>
        <p:spPr>
          <a:xfrm>
            <a:off x="3475673" y="38471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0702357-D877-42A5-A981-D614A15382E9}"/>
              </a:ext>
            </a:extLst>
          </p:cNvPr>
          <p:cNvSpPr>
            <a:spLocks noGrp="1"/>
          </p:cNvSpPr>
          <p:nvPr/>
        </p:nvSpPr>
        <p:spPr>
          <a:xfrm>
            <a:off x="3475673" y="48377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05" name="Straight Arrow Connector 104"/>
          <p:cNvCxnSpPr>
            <a:stCxn id="38" idx="4"/>
            <a:endCxn id="39" idx="0"/>
          </p:cNvCxnSpPr>
          <p:nvPr/>
        </p:nvCxnSpPr>
        <p:spPr>
          <a:xfrm>
            <a:off x="3476626" y="3849053"/>
            <a:ext cx="0" cy="9886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FEBE38D-A541-4D6C-8F75-FFA6EF88D447}"/>
              </a:ext>
            </a:extLst>
          </p:cNvPr>
          <p:cNvSpPr>
            <a:spLocks noGrp="1"/>
          </p:cNvSpPr>
          <p:nvPr/>
        </p:nvSpPr>
        <p:spPr>
          <a:xfrm>
            <a:off x="3381375" y="33147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20C0CEA-6A84-41A7-93B9-562A5F5CEBC8}"/>
              </a:ext>
            </a:extLst>
          </p:cNvPr>
          <p:cNvSpPr>
            <a:spLocks noGrp="1"/>
          </p:cNvSpPr>
          <p:nvPr/>
        </p:nvSpPr>
        <p:spPr>
          <a:xfrm>
            <a:off x="3999548" y="31041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FD8A076-66B0-4BC9-B44D-8DD88B11B4ED}"/>
              </a:ext>
            </a:extLst>
          </p:cNvPr>
          <p:cNvSpPr>
            <a:spLocks noGrp="1"/>
          </p:cNvSpPr>
          <p:nvPr/>
        </p:nvSpPr>
        <p:spPr>
          <a:xfrm>
            <a:off x="3999548" y="2208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09" name="Straight Arrow Connector 108"/>
          <p:cNvCxnSpPr>
            <a:stCxn id="42" idx="0"/>
            <a:endCxn id="43" idx="4"/>
          </p:cNvCxnSpPr>
          <p:nvPr/>
        </p:nvCxnSpPr>
        <p:spPr>
          <a:xfrm flipV="1">
            <a:off x="4000501" y="2210753"/>
            <a:ext cx="0" cy="89344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9B7EC9E-4615-4191-9B42-BFFC517CBA08}"/>
              </a:ext>
            </a:extLst>
          </p:cNvPr>
          <p:cNvSpPr>
            <a:spLocks noGrp="1"/>
          </p:cNvSpPr>
          <p:nvPr/>
        </p:nvSpPr>
        <p:spPr>
          <a:xfrm>
            <a:off x="3999548" y="38471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81F6F9F-7667-4432-A8A1-98A4839EED62}"/>
              </a:ext>
            </a:extLst>
          </p:cNvPr>
          <p:cNvSpPr>
            <a:spLocks noGrp="1"/>
          </p:cNvSpPr>
          <p:nvPr/>
        </p:nvSpPr>
        <p:spPr>
          <a:xfrm>
            <a:off x="3999548" y="48377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12" name="Straight Arrow Connector 111"/>
          <p:cNvCxnSpPr>
            <a:stCxn id="45" idx="4"/>
            <a:endCxn id="46" idx="0"/>
          </p:cNvCxnSpPr>
          <p:nvPr/>
        </p:nvCxnSpPr>
        <p:spPr>
          <a:xfrm>
            <a:off x="4000501" y="3849053"/>
            <a:ext cx="0" cy="9886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795E011-CF5A-43F0-B5F4-1F897280E767}"/>
              </a:ext>
            </a:extLst>
          </p:cNvPr>
          <p:cNvSpPr>
            <a:spLocks noGrp="1"/>
          </p:cNvSpPr>
          <p:nvPr/>
        </p:nvSpPr>
        <p:spPr>
          <a:xfrm>
            <a:off x="3905250" y="33147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31B791A-EB2B-4E59-A0BE-BCCF14ACC81B}"/>
              </a:ext>
            </a:extLst>
          </p:cNvPr>
          <p:cNvSpPr>
            <a:spLocks noGrp="1"/>
          </p:cNvSpPr>
          <p:nvPr/>
        </p:nvSpPr>
        <p:spPr>
          <a:xfrm>
            <a:off x="4523423" y="31041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A242474-841E-495B-BEBA-71A7E38176E6}"/>
              </a:ext>
            </a:extLst>
          </p:cNvPr>
          <p:cNvSpPr>
            <a:spLocks noGrp="1"/>
          </p:cNvSpPr>
          <p:nvPr/>
        </p:nvSpPr>
        <p:spPr>
          <a:xfrm>
            <a:off x="4523423" y="2208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16" name="Straight Arrow Connector 115"/>
          <p:cNvCxnSpPr>
            <a:stCxn id="49" idx="0"/>
            <a:endCxn id="50" idx="4"/>
          </p:cNvCxnSpPr>
          <p:nvPr/>
        </p:nvCxnSpPr>
        <p:spPr>
          <a:xfrm flipV="1">
            <a:off x="4524376" y="2210753"/>
            <a:ext cx="0" cy="89344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AE41F769-1541-4064-B3DD-387B04A2F411}"/>
              </a:ext>
            </a:extLst>
          </p:cNvPr>
          <p:cNvSpPr>
            <a:spLocks noGrp="1"/>
          </p:cNvSpPr>
          <p:nvPr/>
        </p:nvSpPr>
        <p:spPr>
          <a:xfrm>
            <a:off x="4523423" y="38471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3B16D72-61BC-42D4-9C78-63FEFD865530}"/>
              </a:ext>
            </a:extLst>
          </p:cNvPr>
          <p:cNvSpPr>
            <a:spLocks noGrp="1"/>
          </p:cNvSpPr>
          <p:nvPr/>
        </p:nvSpPr>
        <p:spPr>
          <a:xfrm>
            <a:off x="4523423" y="48377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19" name="Straight Arrow Connector 118"/>
          <p:cNvCxnSpPr>
            <a:stCxn id="52" idx="4"/>
            <a:endCxn id="53" idx="0"/>
          </p:cNvCxnSpPr>
          <p:nvPr/>
        </p:nvCxnSpPr>
        <p:spPr>
          <a:xfrm>
            <a:off x="4524376" y="3849053"/>
            <a:ext cx="0" cy="9886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0718F2B3-7469-4D78-884B-1698FC005F4E}"/>
              </a:ext>
            </a:extLst>
          </p:cNvPr>
          <p:cNvSpPr>
            <a:spLocks noGrp="1"/>
          </p:cNvSpPr>
          <p:nvPr/>
        </p:nvSpPr>
        <p:spPr>
          <a:xfrm>
            <a:off x="4429125" y="33147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3324304-1DFC-47A1-AAF6-0F1390126DC5}"/>
              </a:ext>
            </a:extLst>
          </p:cNvPr>
          <p:cNvSpPr>
            <a:spLocks noGrp="1"/>
          </p:cNvSpPr>
          <p:nvPr/>
        </p:nvSpPr>
        <p:spPr>
          <a:xfrm>
            <a:off x="5047298" y="31041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51785C0-89EE-4169-939C-86C2702DB11A}"/>
              </a:ext>
            </a:extLst>
          </p:cNvPr>
          <p:cNvSpPr>
            <a:spLocks noGrp="1"/>
          </p:cNvSpPr>
          <p:nvPr/>
        </p:nvSpPr>
        <p:spPr>
          <a:xfrm>
            <a:off x="5047298" y="22088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23" name="Straight Arrow Connector 122"/>
          <p:cNvCxnSpPr>
            <a:stCxn id="56" idx="0"/>
            <a:endCxn id="57" idx="4"/>
          </p:cNvCxnSpPr>
          <p:nvPr/>
        </p:nvCxnSpPr>
        <p:spPr>
          <a:xfrm flipV="1">
            <a:off x="5048251" y="2210753"/>
            <a:ext cx="0" cy="89344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DBEE5D39-4F7F-4FC9-87D3-6562731D6E6B}"/>
              </a:ext>
            </a:extLst>
          </p:cNvPr>
          <p:cNvSpPr>
            <a:spLocks noGrp="1"/>
          </p:cNvSpPr>
          <p:nvPr/>
        </p:nvSpPr>
        <p:spPr>
          <a:xfrm>
            <a:off x="5047298" y="38471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E62CE47-BA09-4332-BED1-C040AA915EFD}"/>
              </a:ext>
            </a:extLst>
          </p:cNvPr>
          <p:cNvSpPr>
            <a:spLocks noGrp="1"/>
          </p:cNvSpPr>
          <p:nvPr/>
        </p:nvSpPr>
        <p:spPr>
          <a:xfrm>
            <a:off x="5047298" y="48377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126" name="Straight Arrow Connector 125"/>
          <p:cNvCxnSpPr>
            <a:stCxn id="59" idx="4"/>
            <a:endCxn id="60" idx="0"/>
          </p:cNvCxnSpPr>
          <p:nvPr/>
        </p:nvCxnSpPr>
        <p:spPr>
          <a:xfrm>
            <a:off x="5048251" y="3849053"/>
            <a:ext cx="0" cy="9886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23CDCAD1-64D1-46A5-B46C-CB460AE583CF}"/>
              </a:ext>
            </a:extLst>
          </p:cNvPr>
          <p:cNvSpPr>
            <a:spLocks noGrp="1"/>
          </p:cNvSpPr>
          <p:nvPr/>
        </p:nvSpPr>
        <p:spPr>
          <a:xfrm>
            <a:off x="4953000" y="33147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155AE31-ABA5-441F-BD21-D0FB512F11AC}"/>
              </a:ext>
            </a:extLst>
          </p:cNvPr>
          <p:cNvSpPr>
            <a:spLocks noGrp="1"/>
          </p:cNvSpPr>
          <p:nvPr/>
        </p:nvSpPr>
        <p:spPr>
          <a:xfrm>
            <a:off x="2324100" y="2571750"/>
            <a:ext cx="1905000" cy="1905000"/>
          </a:xfrm>
          <a:prstGeom prst="rect">
            <a:avLst/>
          </a:prstGeom>
          <a:noFill/>
          <a:ln w="28575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29" name="Picture 1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0" y="2609920"/>
            <a:ext cx="5048250" cy="97141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980018C1-7BEB-4E06-8B42-63EE76BBD9CF}"/>
              </a:ext>
            </a:extLst>
          </p:cNvPr>
          <p:cNvSpPr>
            <a:spLocks noGrp="1"/>
          </p:cNvSpPr>
          <p:nvPr/>
        </p:nvSpPr>
        <p:spPr>
          <a:xfrm>
            <a:off x="5886450" y="4095750"/>
            <a:ext cx="5143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멀어질수록 각 전하 조각의 영향은 약해지지만 보이는 전하 면적은 커진다.</a:t>
            </a:r>
          </a:p>
        </p:txBody>
      </p:sp>
    </p:spTree>
    <p:extLst>
      <p:ext uri="{BB962C8B-B14F-4D97-AF65-F5344CB8AC3E}">
        <p14:creationId xmlns:p14="http://schemas.microsoft.com/office/powerpoint/2010/main" val="1762398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90AEC6C-3FD8-407F-8BD0-4EB0721C9BF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SUPERPOSITION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662A9A-C931-467D-9D23-F9EF1B10AC8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반대 부호의 두 평면은 사이에서 더하고 바깥에서 상쇄한다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7D7F85-CF6C-459B-A227-7C4A8420D7E1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CE934A-C0AE-49A5-A177-DAB12B4BD3BD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EAE863-50A8-4541-8CAA-302165148E83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F308B-4616-416E-97F8-4CD6B3F77E7F}"/>
              </a:ext>
            </a:extLst>
          </p:cNvPr>
          <p:cNvSpPr>
            <a:spLocks noGrp="1"/>
          </p:cNvSpPr>
          <p:nvPr/>
        </p:nvSpPr>
        <p:spPr>
          <a:xfrm rot="5400000">
            <a:off x="1762125" y="3543300"/>
            <a:ext cx="31432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510A9C-54F2-4A13-B669-516EB0ED5DA6}"/>
              </a:ext>
            </a:extLst>
          </p:cNvPr>
          <p:cNvSpPr>
            <a:spLocks noGrp="1"/>
          </p:cNvSpPr>
          <p:nvPr/>
        </p:nvSpPr>
        <p:spPr>
          <a:xfrm rot="5400000">
            <a:off x="5095875" y="3543300"/>
            <a:ext cx="3143250" cy="57150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D03CA5-D232-4C23-A012-FAF06EDA22CF}"/>
              </a:ext>
            </a:extLst>
          </p:cNvPr>
          <p:cNvSpPr>
            <a:spLocks noGrp="1"/>
          </p:cNvSpPr>
          <p:nvPr/>
        </p:nvSpPr>
        <p:spPr>
          <a:xfrm>
            <a:off x="2800350" y="21431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7426F5-16B6-4FE0-8130-B1696BE98C09}"/>
              </a:ext>
            </a:extLst>
          </p:cNvPr>
          <p:cNvSpPr>
            <a:spLocks noGrp="1"/>
          </p:cNvSpPr>
          <p:nvPr/>
        </p:nvSpPr>
        <p:spPr>
          <a:xfrm>
            <a:off x="6858000" y="21431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348ECC-3CC4-4167-9220-B6FE6CBD7D33}"/>
              </a:ext>
            </a:extLst>
          </p:cNvPr>
          <p:cNvSpPr>
            <a:spLocks noGrp="1"/>
          </p:cNvSpPr>
          <p:nvPr/>
        </p:nvSpPr>
        <p:spPr>
          <a:xfrm>
            <a:off x="2800350" y="25622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201C3D-E195-4BA9-AD47-385EF7B8AA87}"/>
              </a:ext>
            </a:extLst>
          </p:cNvPr>
          <p:cNvSpPr>
            <a:spLocks noGrp="1"/>
          </p:cNvSpPr>
          <p:nvPr/>
        </p:nvSpPr>
        <p:spPr>
          <a:xfrm>
            <a:off x="6858000" y="25622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4A75E6-7568-4C07-9824-68FA4845CE9E}"/>
              </a:ext>
            </a:extLst>
          </p:cNvPr>
          <p:cNvSpPr>
            <a:spLocks noGrp="1"/>
          </p:cNvSpPr>
          <p:nvPr/>
        </p:nvSpPr>
        <p:spPr>
          <a:xfrm>
            <a:off x="2800350" y="29813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1C8059-6C42-45E3-A642-D4C688F3B318}"/>
              </a:ext>
            </a:extLst>
          </p:cNvPr>
          <p:cNvSpPr>
            <a:spLocks noGrp="1"/>
          </p:cNvSpPr>
          <p:nvPr/>
        </p:nvSpPr>
        <p:spPr>
          <a:xfrm>
            <a:off x="6858000" y="29813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2ADEDA-440D-4252-A222-26CB0993EFC7}"/>
              </a:ext>
            </a:extLst>
          </p:cNvPr>
          <p:cNvSpPr>
            <a:spLocks noGrp="1"/>
          </p:cNvSpPr>
          <p:nvPr/>
        </p:nvSpPr>
        <p:spPr>
          <a:xfrm>
            <a:off x="2800350" y="34004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46993D-6437-44D0-A95B-21E2C1EDD3EB}"/>
              </a:ext>
            </a:extLst>
          </p:cNvPr>
          <p:cNvSpPr>
            <a:spLocks noGrp="1"/>
          </p:cNvSpPr>
          <p:nvPr/>
        </p:nvSpPr>
        <p:spPr>
          <a:xfrm>
            <a:off x="6858000" y="34004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18DA7-E61C-458D-8288-C86DD8F58FBB}"/>
              </a:ext>
            </a:extLst>
          </p:cNvPr>
          <p:cNvSpPr>
            <a:spLocks noGrp="1"/>
          </p:cNvSpPr>
          <p:nvPr/>
        </p:nvSpPr>
        <p:spPr>
          <a:xfrm>
            <a:off x="2800350" y="38195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E5146E-EAF4-4D7F-ACCF-6EDE0AABBF2B}"/>
              </a:ext>
            </a:extLst>
          </p:cNvPr>
          <p:cNvSpPr>
            <a:spLocks noGrp="1"/>
          </p:cNvSpPr>
          <p:nvPr/>
        </p:nvSpPr>
        <p:spPr>
          <a:xfrm>
            <a:off x="6858000" y="38195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D3E300-D1F8-4BE1-99F8-9CACA6AC985F}"/>
              </a:ext>
            </a:extLst>
          </p:cNvPr>
          <p:cNvSpPr>
            <a:spLocks noGrp="1"/>
          </p:cNvSpPr>
          <p:nvPr/>
        </p:nvSpPr>
        <p:spPr>
          <a:xfrm>
            <a:off x="2800350" y="42386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3215D8-2DDE-4F9C-8A66-EBFA2B39E191}"/>
              </a:ext>
            </a:extLst>
          </p:cNvPr>
          <p:cNvSpPr>
            <a:spLocks noGrp="1"/>
          </p:cNvSpPr>
          <p:nvPr/>
        </p:nvSpPr>
        <p:spPr>
          <a:xfrm>
            <a:off x="6858000" y="42386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888279-152B-4F28-B402-2781EE6CAE79}"/>
              </a:ext>
            </a:extLst>
          </p:cNvPr>
          <p:cNvSpPr>
            <a:spLocks noGrp="1"/>
          </p:cNvSpPr>
          <p:nvPr/>
        </p:nvSpPr>
        <p:spPr>
          <a:xfrm>
            <a:off x="2800350" y="46577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31B5B3-735C-4717-8F44-8ADAC3F7D6C6}"/>
              </a:ext>
            </a:extLst>
          </p:cNvPr>
          <p:cNvSpPr>
            <a:spLocks noGrp="1"/>
          </p:cNvSpPr>
          <p:nvPr/>
        </p:nvSpPr>
        <p:spPr>
          <a:xfrm>
            <a:off x="6858000" y="46577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E07495-B1DD-4895-AC18-72924192C595}"/>
              </a:ext>
            </a:extLst>
          </p:cNvPr>
          <p:cNvSpPr>
            <a:spLocks noGrp="1"/>
          </p:cNvSpPr>
          <p:nvPr/>
        </p:nvSpPr>
        <p:spPr>
          <a:xfrm>
            <a:off x="3713798" y="2380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8A5EC9-89C3-4F4A-8FBF-01C7FCBACEA1}"/>
              </a:ext>
            </a:extLst>
          </p:cNvPr>
          <p:cNvSpPr>
            <a:spLocks noGrp="1"/>
          </p:cNvSpPr>
          <p:nvPr/>
        </p:nvSpPr>
        <p:spPr>
          <a:xfrm>
            <a:off x="6285548" y="2380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6" name="Straight Arrow Connector 65"/>
          <p:cNvCxnSpPr>
            <a:stCxn id="22" idx="6"/>
            <a:endCxn id="23" idx="2"/>
          </p:cNvCxnSpPr>
          <p:nvPr/>
        </p:nvCxnSpPr>
        <p:spPr>
          <a:xfrm>
            <a:off x="3715703" y="2381251"/>
            <a:ext cx="2569845" cy="0"/>
          </a:xfrm>
          <a:prstGeom prst="straightConnector1">
            <a:avLst/>
          </a:prstGeom>
          <a:ln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A7FCBDD-10D8-4CAF-9C60-105CA6DE2089}"/>
              </a:ext>
            </a:extLst>
          </p:cNvPr>
          <p:cNvSpPr>
            <a:spLocks noGrp="1"/>
          </p:cNvSpPr>
          <p:nvPr/>
        </p:nvSpPr>
        <p:spPr>
          <a:xfrm>
            <a:off x="3713798" y="2837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4CFD08B-7D0F-404D-9A31-6033EC553888}"/>
              </a:ext>
            </a:extLst>
          </p:cNvPr>
          <p:cNvSpPr>
            <a:spLocks noGrp="1"/>
          </p:cNvSpPr>
          <p:nvPr/>
        </p:nvSpPr>
        <p:spPr>
          <a:xfrm>
            <a:off x="6285548" y="2837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9" name="Straight Arrow Connector 68"/>
          <p:cNvCxnSpPr>
            <a:stCxn id="25" idx="6"/>
            <a:endCxn id="26" idx="2"/>
          </p:cNvCxnSpPr>
          <p:nvPr/>
        </p:nvCxnSpPr>
        <p:spPr>
          <a:xfrm>
            <a:off x="3715703" y="2838451"/>
            <a:ext cx="2569845" cy="0"/>
          </a:xfrm>
          <a:prstGeom prst="straightConnector1">
            <a:avLst/>
          </a:prstGeom>
          <a:ln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F5F4C957-1AC3-463E-A897-764BA2EBD388}"/>
              </a:ext>
            </a:extLst>
          </p:cNvPr>
          <p:cNvSpPr>
            <a:spLocks noGrp="1"/>
          </p:cNvSpPr>
          <p:nvPr/>
        </p:nvSpPr>
        <p:spPr>
          <a:xfrm>
            <a:off x="3713798" y="32946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1F918BC-0438-4C6C-9A50-7E92D364D8E4}"/>
              </a:ext>
            </a:extLst>
          </p:cNvPr>
          <p:cNvSpPr>
            <a:spLocks noGrp="1"/>
          </p:cNvSpPr>
          <p:nvPr/>
        </p:nvSpPr>
        <p:spPr>
          <a:xfrm>
            <a:off x="6285548" y="32946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2" name="Straight Arrow Connector 71"/>
          <p:cNvCxnSpPr>
            <a:stCxn id="28" idx="6"/>
            <a:endCxn id="29" idx="2"/>
          </p:cNvCxnSpPr>
          <p:nvPr/>
        </p:nvCxnSpPr>
        <p:spPr>
          <a:xfrm>
            <a:off x="3715703" y="3295651"/>
            <a:ext cx="2569845" cy="0"/>
          </a:xfrm>
          <a:prstGeom prst="straightConnector1">
            <a:avLst/>
          </a:prstGeom>
          <a:ln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973D469-40EE-45CC-9A13-953635190FC3}"/>
              </a:ext>
            </a:extLst>
          </p:cNvPr>
          <p:cNvSpPr>
            <a:spLocks noGrp="1"/>
          </p:cNvSpPr>
          <p:nvPr/>
        </p:nvSpPr>
        <p:spPr>
          <a:xfrm>
            <a:off x="3713798" y="37518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8413F12-3E33-4806-B177-06A11C335574}"/>
              </a:ext>
            </a:extLst>
          </p:cNvPr>
          <p:cNvSpPr>
            <a:spLocks noGrp="1"/>
          </p:cNvSpPr>
          <p:nvPr/>
        </p:nvSpPr>
        <p:spPr>
          <a:xfrm>
            <a:off x="6285548" y="37518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5" name="Straight Arrow Connector 74"/>
          <p:cNvCxnSpPr>
            <a:stCxn id="31" idx="6"/>
            <a:endCxn id="32" idx="2"/>
          </p:cNvCxnSpPr>
          <p:nvPr/>
        </p:nvCxnSpPr>
        <p:spPr>
          <a:xfrm>
            <a:off x="3715703" y="3752851"/>
            <a:ext cx="2569845" cy="0"/>
          </a:xfrm>
          <a:prstGeom prst="straightConnector1">
            <a:avLst/>
          </a:prstGeom>
          <a:ln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1D484C7-FB79-4FC8-B608-727D8353E2CC}"/>
              </a:ext>
            </a:extLst>
          </p:cNvPr>
          <p:cNvSpPr>
            <a:spLocks noGrp="1"/>
          </p:cNvSpPr>
          <p:nvPr/>
        </p:nvSpPr>
        <p:spPr>
          <a:xfrm>
            <a:off x="3713798" y="42090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DDB563C-81C7-4F05-AEC4-EF4B46AB6866}"/>
              </a:ext>
            </a:extLst>
          </p:cNvPr>
          <p:cNvSpPr>
            <a:spLocks noGrp="1"/>
          </p:cNvSpPr>
          <p:nvPr/>
        </p:nvSpPr>
        <p:spPr>
          <a:xfrm>
            <a:off x="6285548" y="42090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78" name="Straight Arrow Connector 77"/>
          <p:cNvCxnSpPr>
            <a:stCxn id="34" idx="6"/>
            <a:endCxn id="35" idx="2"/>
          </p:cNvCxnSpPr>
          <p:nvPr/>
        </p:nvCxnSpPr>
        <p:spPr>
          <a:xfrm>
            <a:off x="3715703" y="4210051"/>
            <a:ext cx="2569845" cy="0"/>
          </a:xfrm>
          <a:prstGeom prst="straightConnector1">
            <a:avLst/>
          </a:prstGeom>
          <a:ln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E04E9E03-6C1B-4CBA-9FF5-A8228BA6FD7B}"/>
              </a:ext>
            </a:extLst>
          </p:cNvPr>
          <p:cNvSpPr>
            <a:spLocks noGrp="1"/>
          </p:cNvSpPr>
          <p:nvPr/>
        </p:nvSpPr>
        <p:spPr>
          <a:xfrm>
            <a:off x="3713798" y="4666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C483B37-4EFB-44F3-A9DF-BB1BFBC3B21B}"/>
              </a:ext>
            </a:extLst>
          </p:cNvPr>
          <p:cNvSpPr>
            <a:spLocks noGrp="1"/>
          </p:cNvSpPr>
          <p:nvPr/>
        </p:nvSpPr>
        <p:spPr>
          <a:xfrm>
            <a:off x="6285548" y="4666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81" name="Straight Arrow Connector 80"/>
          <p:cNvCxnSpPr>
            <a:stCxn id="37" idx="6"/>
            <a:endCxn id="38" idx="2"/>
          </p:cNvCxnSpPr>
          <p:nvPr/>
        </p:nvCxnSpPr>
        <p:spPr>
          <a:xfrm>
            <a:off x="3715703" y="4667251"/>
            <a:ext cx="2569845" cy="0"/>
          </a:xfrm>
          <a:prstGeom prst="straightConnector1">
            <a:avLst/>
          </a:prstGeom>
          <a:ln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5E242AB-6809-4DB7-B105-46FDAD1D4950}"/>
              </a:ext>
            </a:extLst>
          </p:cNvPr>
          <p:cNvSpPr>
            <a:spLocks noGrp="1"/>
          </p:cNvSpPr>
          <p:nvPr/>
        </p:nvSpPr>
        <p:spPr>
          <a:xfrm>
            <a:off x="2857500" y="1581150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3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+σ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B3AFF3C-451E-4479-9879-175AB114ECAF}"/>
              </a:ext>
            </a:extLst>
          </p:cNvPr>
          <p:cNvSpPr>
            <a:spLocks noGrp="1"/>
          </p:cNvSpPr>
          <p:nvPr/>
        </p:nvSpPr>
        <p:spPr>
          <a:xfrm>
            <a:off x="6191250" y="1581150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32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−σ</a:t>
            </a:r>
          </a:p>
        </p:txBody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24750" y="2654487"/>
            <a:ext cx="3714750" cy="11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62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98C0085-1DAB-4CE6-A237-B565B36ED4C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GAUSS'S LAW / COMMON ERRORS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AEEDC3-E25F-4CF8-B997-1B47567C3DB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가우스 법칙은 항상 참이지만 E를 항상 구해주지는 않는다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EFDE58-EDF0-414E-97A7-DE2BD5D8B5D0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FC32C5-9FD3-45EB-AAFF-AEFB50E3EE0A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0F215-BE22-4316-A42B-C1BC890A4645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78C970-AA4C-4DCF-9DA5-20AEB7F3CEA3}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물리적 표면과 가우스 면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288BFE-1170-47BE-85C3-E2312ACAB2DB}"/>
              </a:ext>
            </a:extLst>
          </p:cNvPr>
          <p:cNvSpPr>
            <a:spLocks noGrp="1"/>
          </p:cNvSpPr>
          <p:nvPr/>
        </p:nvSpPr>
        <p:spPr>
          <a:xfrm>
            <a:off x="4286250" y="1714500"/>
            <a:ext cx="685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가우스 면은 계산을 위해 선택한 닫힌 면이다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2A08AD-7A1E-46DF-8E0F-5FCF1D3C6ACC}"/>
              </a:ext>
            </a:extLst>
          </p:cNvPr>
          <p:cNvSpPr>
            <a:spLocks noGrp="1"/>
          </p:cNvSpPr>
          <p:nvPr/>
        </p:nvSpPr>
        <p:spPr>
          <a:xfrm>
            <a:off x="762000" y="2433638"/>
            <a:ext cx="103822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7D1D1A-466B-46DF-87A4-8C015CCA4E63}"/>
              </a:ext>
            </a:extLst>
          </p:cNvPr>
          <p:cNvSpPr>
            <a:spLocks noGrp="1"/>
          </p:cNvSpPr>
          <p:nvPr/>
        </p:nvSpPr>
        <p:spPr>
          <a:xfrm>
            <a:off x="762000" y="27432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총전하와 포함 전하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644974-9CD2-488D-8A3F-47CADCB49753}"/>
              </a:ext>
            </a:extLst>
          </p:cNvPr>
          <p:cNvSpPr>
            <a:spLocks noGrp="1"/>
          </p:cNvSpPr>
          <p:nvPr/>
        </p:nvSpPr>
        <p:spPr>
          <a:xfrm>
            <a:off x="4286250" y="2705100"/>
            <a:ext cx="685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오직</a:t>
            </a:r>
            <a:r>
              <a:rPr sz="1950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면</a:t>
            </a:r>
            <a:r>
              <a:rPr sz="1950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내부의</a:t>
            </a:r>
            <a:r>
              <a:rPr sz="1950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Q</a:t>
            </a:r>
            <a:r>
              <a:rPr sz="1950" b="1" i="0" baseline="-2500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enc</a:t>
            </a:r>
            <a:r>
              <a:rPr sz="1950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만 </a:t>
            </a:r>
            <a:r>
              <a:rPr sz="1950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오른쪽에</a:t>
            </a:r>
            <a:r>
              <a:rPr sz="1950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50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들어간다</a:t>
            </a:r>
            <a:endParaRPr sz="1950" b="1" i="0" dirty="0">
              <a:solidFill>
                <a:srgbClr val="191919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BC204B-1707-48E0-BB73-26C8BEC4C323}"/>
              </a:ext>
            </a:extLst>
          </p:cNvPr>
          <p:cNvSpPr>
            <a:spLocks noGrp="1"/>
          </p:cNvSpPr>
          <p:nvPr/>
        </p:nvSpPr>
        <p:spPr>
          <a:xfrm>
            <a:off x="762000" y="3424238"/>
            <a:ext cx="103822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A3580D-7D62-406B-818E-E0F5B50B83BC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플럭스가 0인 경우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D64C03-9113-43F6-A095-DB47FF67B945}"/>
              </a:ext>
            </a:extLst>
          </p:cNvPr>
          <p:cNvSpPr>
            <a:spLocks noGrp="1"/>
          </p:cNvSpPr>
          <p:nvPr/>
        </p:nvSpPr>
        <p:spPr>
          <a:xfrm>
            <a:off x="4286250" y="3695700"/>
            <a:ext cx="685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 = 0을 뜻하지 않고 들어온 양과 나간 양이 같을 수 있다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CF8162-88EC-484C-9865-082A4CA51702}"/>
              </a:ext>
            </a:extLst>
          </p:cNvPr>
          <p:cNvSpPr>
            <a:spLocks noGrp="1"/>
          </p:cNvSpPr>
          <p:nvPr/>
        </p:nvSpPr>
        <p:spPr>
          <a:xfrm>
            <a:off x="762000" y="4414838"/>
            <a:ext cx="103822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9EF07F-03F4-4890-B3F6-159605B4A239}"/>
              </a:ext>
            </a:extLst>
          </p:cNvPr>
          <p:cNvSpPr>
            <a:spLocks noGrp="1"/>
          </p:cNvSpPr>
          <p:nvPr/>
        </p:nvSpPr>
        <p:spPr>
          <a:xfrm>
            <a:off x="762000" y="47244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대칭 없는 경우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A674A5-B006-499A-835A-57B25730C427}"/>
              </a:ext>
            </a:extLst>
          </p:cNvPr>
          <p:cNvSpPr>
            <a:spLocks noGrp="1"/>
          </p:cNvSpPr>
          <p:nvPr/>
        </p:nvSpPr>
        <p:spPr>
          <a:xfrm>
            <a:off x="4286250" y="4686300"/>
            <a:ext cx="685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법칙은 참이지만 E를 적분 밖으로 꺼낼 수 없다</a:t>
            </a:r>
          </a:p>
        </p:txBody>
      </p:sp>
    </p:spTree>
    <p:extLst>
      <p:ext uri="{BB962C8B-B14F-4D97-AF65-F5344CB8AC3E}">
        <p14:creationId xmlns:p14="http://schemas.microsoft.com/office/powerpoint/2010/main" val="1222811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94BC1B9-710F-4472-8549-6CC0B2A48F4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CIRCULATION OF A POINT-CHARGE FIELD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4ED875-3DDE-4A4C-BA9F-F631A72FA25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선적분은 끝점의 반지름만 기억한다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F2A05A-299E-4340-905E-FE027ECB0D81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3FA9E9-8382-4010-A644-04A6F47435B5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7D0B5B-8827-4B8E-A6E7-284409727874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7320ED-BB0C-424C-A873-10E8FF280F73}"/>
              </a:ext>
            </a:extLst>
          </p:cNvPr>
          <p:cNvSpPr>
            <a:spLocks noGrp="1"/>
          </p:cNvSpPr>
          <p:nvPr/>
        </p:nvSpPr>
        <p:spPr>
          <a:xfrm>
            <a:off x="2552700" y="3581400"/>
            <a:ext cx="228600" cy="2286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9ED34B-2CD0-48BF-B7E9-ECC852A3FCC8}"/>
              </a:ext>
            </a:extLst>
          </p:cNvPr>
          <p:cNvSpPr>
            <a:spLocks noGrp="1"/>
          </p:cNvSpPr>
          <p:nvPr/>
        </p:nvSpPr>
        <p:spPr>
          <a:xfrm>
            <a:off x="2343150" y="3238500"/>
            <a:ext cx="647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2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EDD3E-C3A1-49B3-B89A-4E261DBDF0EF}"/>
              </a:ext>
            </a:extLst>
          </p:cNvPr>
          <p:cNvSpPr>
            <a:spLocks noGrp="1"/>
          </p:cNvSpPr>
          <p:nvPr/>
        </p:nvSpPr>
        <p:spPr>
          <a:xfrm>
            <a:off x="4076700" y="2600325"/>
            <a:ext cx="133350" cy="133350"/>
          </a:xfrm>
          <a:prstGeom prst="ellipse">
            <a:avLst/>
          </a:prstGeom>
          <a:solidFill>
            <a:srgbClr val="191919"/>
          </a:solidFill>
          <a:ln w="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2C59AB-BD35-4BFC-B24D-790B5E0B7EB2}"/>
              </a:ext>
            </a:extLst>
          </p:cNvPr>
          <p:cNvSpPr>
            <a:spLocks noGrp="1"/>
          </p:cNvSpPr>
          <p:nvPr/>
        </p:nvSpPr>
        <p:spPr>
          <a:xfrm>
            <a:off x="4552950" y="4886325"/>
            <a:ext cx="133350" cy="133350"/>
          </a:xfrm>
          <a:prstGeom prst="ellipse">
            <a:avLst/>
          </a:prstGeom>
          <a:solidFill>
            <a:srgbClr val="191919"/>
          </a:solidFill>
          <a:ln w="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AFC68F-DE04-4C55-A99B-E44FF30F1526}"/>
              </a:ext>
            </a:extLst>
          </p:cNvPr>
          <p:cNvSpPr>
            <a:spLocks noGrp="1"/>
          </p:cNvSpPr>
          <p:nvPr/>
        </p:nvSpPr>
        <p:spPr>
          <a:xfrm>
            <a:off x="3886200" y="220980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DEE8B8-DA98-459C-BB32-14A0CFECD337}"/>
              </a:ext>
            </a:extLst>
          </p:cNvPr>
          <p:cNvSpPr>
            <a:spLocks noGrp="1"/>
          </p:cNvSpPr>
          <p:nvPr/>
        </p:nvSpPr>
        <p:spPr>
          <a:xfrm>
            <a:off x="4667250" y="501015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222943-532A-48DD-AC20-6D88ABFC7B37}"/>
              </a:ext>
            </a:extLst>
          </p:cNvPr>
          <p:cNvSpPr>
            <a:spLocks noGrp="1"/>
          </p:cNvSpPr>
          <p:nvPr/>
        </p:nvSpPr>
        <p:spPr>
          <a:xfrm>
            <a:off x="2799398" y="3599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CE9BF6E-0D3E-4EE6-8BEC-F0BB3CBCC683}"/>
              </a:ext>
            </a:extLst>
          </p:cNvPr>
          <p:cNvSpPr>
            <a:spLocks noGrp="1"/>
          </p:cNvSpPr>
          <p:nvPr/>
        </p:nvSpPr>
        <p:spPr>
          <a:xfrm>
            <a:off x="4075748" y="27422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39" name="Straight Arrow Connector 38"/>
          <p:cNvCxnSpPr>
            <a:stCxn id="12" idx="7"/>
            <a:endCxn id="13" idx="3"/>
          </p:cNvCxnSpPr>
          <p:nvPr/>
        </p:nvCxnSpPr>
        <p:spPr>
          <a:xfrm flipV="1">
            <a:off x="2801024" y="2743874"/>
            <a:ext cx="1275003" cy="855903"/>
          </a:xfrm>
          <a:prstGeom prst="straightConnector1">
            <a:avLst/>
          </a:prstGeom>
          <a:ln w="31433" cap="rnd">
            <a:solidFill>
              <a:srgbClr val="344054"/>
            </a:solidFill>
            <a:prstDash val="solid"/>
            <a:tailEnd type="triangle" w="med" len="med"/>
          </a:ln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07C52CA-CA63-4118-A2AE-062DF6ED11FB}"/>
              </a:ext>
            </a:extLst>
          </p:cNvPr>
          <p:cNvSpPr>
            <a:spLocks noGrp="1"/>
          </p:cNvSpPr>
          <p:nvPr/>
        </p:nvSpPr>
        <p:spPr>
          <a:xfrm>
            <a:off x="2808923" y="38090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8C5ABA7-8F86-4AA8-BACF-F411F5C05280}"/>
              </a:ext>
            </a:extLst>
          </p:cNvPr>
          <p:cNvSpPr>
            <a:spLocks noGrp="1"/>
          </p:cNvSpPr>
          <p:nvPr/>
        </p:nvSpPr>
        <p:spPr>
          <a:xfrm>
            <a:off x="4551998" y="48567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42" name="Straight Arrow Connector 41"/>
          <p:cNvCxnSpPr>
            <a:stCxn id="15" idx="5"/>
            <a:endCxn id="16" idx="1"/>
          </p:cNvCxnSpPr>
          <p:nvPr/>
        </p:nvCxnSpPr>
        <p:spPr>
          <a:xfrm>
            <a:off x="2810549" y="3810674"/>
            <a:ext cx="1741728" cy="1046403"/>
          </a:xfrm>
          <a:prstGeom prst="straightConnector1">
            <a:avLst/>
          </a:prstGeom>
          <a:ln w="31433" cap="rnd">
            <a:solidFill>
              <a:srgbClr val="344054"/>
            </a:solidFill>
            <a:prstDash val="solid"/>
            <a:tailEnd type="triangle" w="med" len="med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AF90A21-9BCA-4C97-93DF-5386B20BB0A7}"/>
              </a:ext>
            </a:extLst>
          </p:cNvPr>
          <p:cNvSpPr>
            <a:spLocks noGrp="1"/>
          </p:cNvSpPr>
          <p:nvPr/>
        </p:nvSpPr>
        <p:spPr>
          <a:xfrm rot="4320000">
            <a:off x="3971906" y="2906592"/>
            <a:ext cx="523875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4B9406-E43C-40DD-AD71-4B5C30732C14}"/>
              </a:ext>
            </a:extLst>
          </p:cNvPr>
          <p:cNvSpPr>
            <a:spLocks noGrp="1"/>
          </p:cNvSpPr>
          <p:nvPr/>
        </p:nvSpPr>
        <p:spPr>
          <a:xfrm rot="2160000">
            <a:off x="4246179" y="3334731"/>
            <a:ext cx="619125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D195D7-5281-4499-9245-08ECE23FF173}"/>
              </a:ext>
            </a:extLst>
          </p:cNvPr>
          <p:cNvSpPr>
            <a:spLocks noGrp="1"/>
          </p:cNvSpPr>
          <p:nvPr/>
        </p:nvSpPr>
        <p:spPr>
          <a:xfrm rot="5760000">
            <a:off x="4362998" y="3917320"/>
            <a:ext cx="809625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A53FA58-7262-4A39-BF04-E8920127FAAC}"/>
              </a:ext>
            </a:extLst>
          </p:cNvPr>
          <p:cNvSpPr>
            <a:spLocks noGrp="1"/>
          </p:cNvSpPr>
          <p:nvPr/>
        </p:nvSpPr>
        <p:spPr>
          <a:xfrm>
            <a:off x="4723448" y="43424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FF28B12-CA0B-4B30-9806-9416EC1927B7}"/>
              </a:ext>
            </a:extLst>
          </p:cNvPr>
          <p:cNvSpPr>
            <a:spLocks noGrp="1"/>
          </p:cNvSpPr>
          <p:nvPr/>
        </p:nvSpPr>
        <p:spPr>
          <a:xfrm>
            <a:off x="4618673" y="488537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48" name="Straight Arrow Connector 47"/>
          <p:cNvCxnSpPr>
            <a:stCxn id="21" idx="4"/>
            <a:endCxn id="22" idx="0"/>
          </p:cNvCxnSpPr>
          <p:nvPr/>
        </p:nvCxnSpPr>
        <p:spPr>
          <a:xfrm flipH="1">
            <a:off x="4619626" y="4344353"/>
            <a:ext cx="104775" cy="541020"/>
          </a:xfrm>
          <a:prstGeom prst="straightConnector1">
            <a:avLst/>
          </a:prstGeom>
          <a:ln w="26194" cap="rnd">
            <a:solidFill>
              <a:srgbClr val="2563EB"/>
            </a:solidFill>
            <a:prstDash val="solid"/>
            <a:tailEnd type="triangle" w="med" len="med"/>
          </a:ln>
        </p:spPr>
      </p:cxnSp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66208" y="2538413"/>
            <a:ext cx="4441135" cy="100012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111FD80-34DC-4D08-86F2-371ABDE2AC4F}"/>
              </a:ext>
            </a:extLst>
          </p:cNvPr>
          <p:cNvSpPr>
            <a:spLocks noGrp="1"/>
          </p:cNvSpPr>
          <p:nvPr/>
        </p:nvSpPr>
        <p:spPr>
          <a:xfrm>
            <a:off x="5962650" y="4057650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닫힌 경로에서는 시작점과 끝점이 같으므로 선적분이 0이다.</a:t>
            </a:r>
          </a:p>
        </p:txBody>
      </p:sp>
    </p:spTree>
    <p:extLst>
      <p:ext uri="{BB962C8B-B14F-4D97-AF65-F5344CB8AC3E}">
        <p14:creationId xmlns:p14="http://schemas.microsoft.com/office/powerpoint/2010/main" val="196857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64ADBB2-08B0-4FD5-8BEC-FCD05AFDB83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CURL OF 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61CF4C-5301-4696-8992-A02F25E05CA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정전기장은 순환하지 않는다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9BEA5C-9218-43E7-8204-953BADF534E3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2D448-1584-4566-9B5A-A994502A909D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07490-7C7F-4AC0-AFA5-F36C081E12FC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46983" y="2214563"/>
            <a:ext cx="5898034" cy="1000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4A1D14-556C-4209-93D5-BE8D55C1D39C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4095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영역 경계의 순환 = 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C051D1-47FC-474C-B9DE-697EC98437C4}"/>
              </a:ext>
            </a:extLst>
          </p:cNvPr>
          <p:cNvSpPr>
            <a:spLocks noGrp="1"/>
          </p:cNvSpPr>
          <p:nvPr/>
        </p:nvSpPr>
        <p:spPr>
          <a:xfrm>
            <a:off x="6896100" y="4000500"/>
            <a:ext cx="4095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영역 내부의 curl = 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DFFEC8-8C32-447D-A409-B7D9CD5DE282}"/>
              </a:ext>
            </a:extLst>
          </p:cNvPr>
          <p:cNvSpPr>
            <a:spLocks noGrp="1"/>
          </p:cNvSpPr>
          <p:nvPr/>
        </p:nvSpPr>
        <p:spPr>
          <a:xfrm>
            <a:off x="5428298" y="42662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828C40-2F26-40BA-BD77-20BAC9D6BE84}"/>
              </a:ext>
            </a:extLst>
          </p:cNvPr>
          <p:cNvSpPr>
            <a:spLocks noGrp="1"/>
          </p:cNvSpPr>
          <p:nvPr/>
        </p:nvSpPr>
        <p:spPr>
          <a:xfrm>
            <a:off x="6742748" y="42662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2" name="Straight Arrow Connector 21"/>
          <p:cNvCxnSpPr>
            <a:stCxn id="9" idx="6"/>
            <a:endCxn id="10" idx="2"/>
          </p:cNvCxnSpPr>
          <p:nvPr/>
        </p:nvCxnSpPr>
        <p:spPr>
          <a:xfrm>
            <a:off x="5430203" y="4267201"/>
            <a:ext cx="1312545" cy="0"/>
          </a:xfrm>
          <a:prstGeom prst="straightConnector1">
            <a:avLst/>
          </a:prstGeom>
          <a:ln w="41910" cap="rnd">
            <a:solidFill>
              <a:srgbClr val="E0F0FE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35920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E1D2284-6E54-478D-BB9D-19605EB4A8C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PATH INDEPENDENCE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05BB8D-3C9C-4F92-BE4E-DF1FF36FB54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경로의 적분이 다르면 닫힌 경로의 순환이 0일 수 없다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AEE04F-4DB1-4CD0-8E48-4E7E529F0DBD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BA5C88-A25E-495F-8869-249360B347E8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122AD6-63E1-434D-B097-E1CB2B1E2D30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051D27-B382-46FA-8230-F7CFE9183FFA}"/>
              </a:ext>
            </a:extLst>
          </p:cNvPr>
          <p:cNvSpPr>
            <a:spLocks noGrp="1"/>
          </p:cNvSpPr>
          <p:nvPr/>
        </p:nvSpPr>
        <p:spPr>
          <a:xfrm>
            <a:off x="1819275" y="3629025"/>
            <a:ext cx="171450" cy="171450"/>
          </a:xfrm>
          <a:prstGeom prst="ellipse">
            <a:avLst/>
          </a:prstGeom>
          <a:solidFill>
            <a:srgbClr val="191919"/>
          </a:solidFill>
          <a:ln w="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3813AB-774C-4B6F-94EE-AC149A719F0D}"/>
              </a:ext>
            </a:extLst>
          </p:cNvPr>
          <p:cNvSpPr>
            <a:spLocks noGrp="1"/>
          </p:cNvSpPr>
          <p:nvPr/>
        </p:nvSpPr>
        <p:spPr>
          <a:xfrm>
            <a:off x="5724525" y="3629025"/>
            <a:ext cx="171450" cy="171450"/>
          </a:xfrm>
          <a:prstGeom prst="ellipse">
            <a:avLst/>
          </a:prstGeom>
          <a:solidFill>
            <a:srgbClr val="191919"/>
          </a:solidFill>
          <a:ln w="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57AECE-16F0-4895-AC64-383843AC3F4E}"/>
              </a:ext>
            </a:extLst>
          </p:cNvPr>
          <p:cNvSpPr>
            <a:spLocks noGrp="1"/>
          </p:cNvSpPr>
          <p:nvPr/>
        </p:nvSpPr>
        <p:spPr>
          <a:xfrm>
            <a:off x="1562100" y="394335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AA2B34-92C5-4A83-A543-53E6155ED679}"/>
              </a:ext>
            </a:extLst>
          </p:cNvPr>
          <p:cNvSpPr>
            <a:spLocks noGrp="1"/>
          </p:cNvSpPr>
          <p:nvPr/>
        </p:nvSpPr>
        <p:spPr>
          <a:xfrm>
            <a:off x="5600700" y="394335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4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D45A50-5099-4C74-9ADF-E4B2F50DF313}"/>
              </a:ext>
            </a:extLst>
          </p:cNvPr>
          <p:cNvSpPr>
            <a:spLocks noGrp="1"/>
          </p:cNvSpPr>
          <p:nvPr/>
        </p:nvSpPr>
        <p:spPr>
          <a:xfrm rot="-2100000">
            <a:off x="1869233" y="3254859"/>
            <a:ext cx="12382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80F8AF-1382-4531-A558-17ED4CDB03F6}"/>
              </a:ext>
            </a:extLst>
          </p:cNvPr>
          <p:cNvSpPr>
            <a:spLocks noGrp="1"/>
          </p:cNvSpPr>
          <p:nvPr/>
        </p:nvSpPr>
        <p:spPr>
          <a:xfrm>
            <a:off x="2990850" y="2895600"/>
            <a:ext cx="152400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2257C9-A1B7-4F1D-A724-67064DCAF4A7}"/>
              </a:ext>
            </a:extLst>
          </p:cNvPr>
          <p:cNvSpPr>
            <a:spLocks noGrp="1"/>
          </p:cNvSpPr>
          <p:nvPr/>
        </p:nvSpPr>
        <p:spPr>
          <a:xfrm rot="2040000">
            <a:off x="4386205" y="3316379"/>
            <a:ext cx="15049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3F1A0A-F1C7-4999-9A7E-6D12453EBA36}"/>
              </a:ext>
            </a:extLst>
          </p:cNvPr>
          <p:cNvSpPr>
            <a:spLocks noGrp="1"/>
          </p:cNvSpPr>
          <p:nvPr/>
        </p:nvSpPr>
        <p:spPr>
          <a:xfrm rot="2100000">
            <a:off x="1869233" y="4117491"/>
            <a:ext cx="1238250" cy="57150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345B83-7498-4358-90FD-8822396C12E9}"/>
              </a:ext>
            </a:extLst>
          </p:cNvPr>
          <p:cNvSpPr>
            <a:spLocks noGrp="1"/>
          </p:cNvSpPr>
          <p:nvPr/>
        </p:nvSpPr>
        <p:spPr>
          <a:xfrm>
            <a:off x="2990850" y="4476750"/>
            <a:ext cx="1524000" cy="57150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11E930-FD02-4623-8C9A-86ED62ED7282}"/>
              </a:ext>
            </a:extLst>
          </p:cNvPr>
          <p:cNvSpPr>
            <a:spLocks noGrp="1"/>
          </p:cNvSpPr>
          <p:nvPr/>
        </p:nvSpPr>
        <p:spPr>
          <a:xfrm rot="-2040000">
            <a:off x="4386205" y="4055971"/>
            <a:ext cx="1504950" cy="57150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95B9F9-A033-4CA4-9C48-B65112CFE889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0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경로 ①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C2530D-DDD0-40C5-A369-ED68C5B15F17}"/>
              </a:ext>
            </a:extLst>
          </p:cNvPr>
          <p:cNvSpPr>
            <a:spLocks noGrp="1"/>
          </p:cNvSpPr>
          <p:nvPr/>
        </p:nvSpPr>
        <p:spPr>
          <a:xfrm>
            <a:off x="3219450" y="481965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02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경로 ②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0" y="2746926"/>
            <a:ext cx="4476750" cy="93552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B2C8330-0E9C-44BB-B7B0-7EF00B6C1D67}"/>
              </a:ext>
            </a:extLst>
          </p:cNvPr>
          <p:cNvSpPr>
            <a:spLocks noGrp="1"/>
          </p:cNvSpPr>
          <p:nvPr/>
        </p:nvSpPr>
        <p:spPr>
          <a:xfrm>
            <a:off x="6667500" y="4057650"/>
            <a:ext cx="4381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경로독립성이 있으므로 공간의 각 점에 하나의 스칼라 V를 지정할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444171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E2B18CB-8710-460A-A7F5-B337AD97E5D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ELECTRIC POTENTIAL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26C214-E64C-40DC-9640-9C7FEFDE01C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기준점에서 현재 점까지의 선적분으로 전위를 정의한다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667E1-989C-4A01-A199-B83047D63424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8258E9-092B-49E4-A619-F432787D2A2A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C67162-14EB-4B8C-BE5E-200D8EAD5FD7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1D0647-A679-4510-BFB6-BFA8B24E20B5}"/>
              </a:ext>
            </a:extLst>
          </p:cNvPr>
          <p:cNvSpPr>
            <a:spLocks noGrp="1"/>
          </p:cNvSpPr>
          <p:nvPr/>
        </p:nvSpPr>
        <p:spPr>
          <a:xfrm>
            <a:off x="1200150" y="220980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기준점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B8F01D-F98D-41EA-B52D-A7A9BFF93898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190500" cy="190500"/>
          </a:xfrm>
          <a:prstGeom prst="ellipse">
            <a:avLst/>
          </a:prstGeom>
          <a:solidFill>
            <a:srgbClr val="191919"/>
          </a:solidFill>
          <a:ln w="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3D8DC5-23DD-48FA-8F6C-7BD61ABC0D9C}"/>
              </a:ext>
            </a:extLst>
          </p:cNvPr>
          <p:cNvSpPr>
            <a:spLocks noGrp="1"/>
          </p:cNvSpPr>
          <p:nvPr/>
        </p:nvSpPr>
        <p:spPr>
          <a:xfrm>
            <a:off x="1714500" y="3905250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3460DA-B241-448E-A740-6BC525A833C2}"/>
              </a:ext>
            </a:extLst>
          </p:cNvPr>
          <p:cNvSpPr>
            <a:spLocks noGrp="1"/>
          </p:cNvSpPr>
          <p:nvPr/>
        </p:nvSpPr>
        <p:spPr>
          <a:xfrm>
            <a:off x="5238750" y="2857500"/>
            <a:ext cx="190500" cy="1905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997597-C9AD-4BCE-A678-FBE2DE0DEA49}"/>
              </a:ext>
            </a:extLst>
          </p:cNvPr>
          <p:cNvSpPr>
            <a:spLocks noGrp="1"/>
          </p:cNvSpPr>
          <p:nvPr/>
        </p:nvSpPr>
        <p:spPr>
          <a:xfrm>
            <a:off x="5257800" y="2495550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DD4D35-9D11-4D76-A873-D152C3670A68}"/>
              </a:ext>
            </a:extLst>
          </p:cNvPr>
          <p:cNvSpPr>
            <a:spLocks noGrp="1"/>
          </p:cNvSpPr>
          <p:nvPr/>
        </p:nvSpPr>
        <p:spPr>
          <a:xfrm rot="-1680000">
            <a:off x="1933355" y="3246422"/>
            <a:ext cx="114300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CD5F42-6436-4A3C-9C70-2845AE53169B}"/>
              </a:ext>
            </a:extLst>
          </p:cNvPr>
          <p:cNvSpPr>
            <a:spLocks noGrp="1"/>
          </p:cNvSpPr>
          <p:nvPr/>
        </p:nvSpPr>
        <p:spPr>
          <a:xfrm>
            <a:off x="3019425" y="2971800"/>
            <a:ext cx="114300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1952B5A-9B38-4304-8F18-E85E60F2FBD1}"/>
              </a:ext>
            </a:extLst>
          </p:cNvPr>
          <p:cNvSpPr>
            <a:spLocks noGrp="1"/>
          </p:cNvSpPr>
          <p:nvPr/>
        </p:nvSpPr>
        <p:spPr>
          <a:xfrm>
            <a:off x="4161473" y="299942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D199DD9-06AB-4FBE-9DAA-6977746FF3B2}"/>
              </a:ext>
            </a:extLst>
          </p:cNvPr>
          <p:cNvSpPr>
            <a:spLocks noGrp="1"/>
          </p:cNvSpPr>
          <p:nvPr/>
        </p:nvSpPr>
        <p:spPr>
          <a:xfrm>
            <a:off x="5218748" y="296132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32" name="Straight Arrow Connector 31"/>
          <p:cNvCxnSpPr>
            <a:stCxn id="13" idx="6"/>
            <a:endCxn id="14" idx="2"/>
          </p:cNvCxnSpPr>
          <p:nvPr/>
        </p:nvCxnSpPr>
        <p:spPr>
          <a:xfrm flipV="1">
            <a:off x="4163378" y="2962276"/>
            <a:ext cx="1055370" cy="38100"/>
          </a:xfrm>
          <a:prstGeom prst="straightConnector1">
            <a:avLst/>
          </a:prstGeom>
          <a:ln w="41910" cap="rnd">
            <a:solidFill>
              <a:srgbClr val="2563EB"/>
            </a:solidFill>
            <a:prstDash val="solid"/>
            <a:tailEnd type="triangle" w="med" len="med"/>
          </a:ln>
        </p:spPr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05675" y="2490788"/>
            <a:ext cx="2914650" cy="100012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CF0B181-711C-408A-9347-1CFDFBD2515F}"/>
              </a:ext>
            </a:extLst>
          </p:cNvPr>
          <p:cNvSpPr>
            <a:spLocks noGrp="1"/>
          </p:cNvSpPr>
          <p:nvPr/>
        </p:nvSpPr>
        <p:spPr>
          <a:xfrm>
            <a:off x="6496050" y="4000500"/>
            <a:ext cx="447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경로는 자유롭지만 기준점 O와 부호 규약은 명시해야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254420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517E706-64EE-43CF-9967-599203D5E8E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POTENTIAL DIFFERENCE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A497DE-CD72-4738-8D23-56CCACA30A8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점의 전위차에는 기준점이 나타나지 않는다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F14E99-2237-47EE-A626-7101F02519B3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526C1C-1491-4BF3-A142-845580023C9B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8A599B-90F7-4465-8DBE-1C58E77B06CC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78101" y="2128838"/>
            <a:ext cx="4035799" cy="1000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C19C7-2F5C-4AF7-BA1C-6DF5698098CF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a → 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582D67-F4BF-4720-BDB2-66465B16F90A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304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전기장이 한 일의 부호 반대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8077BB-0BDC-4142-ABE8-1AE2C5F762C5}"/>
              </a:ext>
            </a:extLst>
          </p:cNvPr>
          <p:cNvSpPr>
            <a:spLocks noGrp="1"/>
          </p:cNvSpPr>
          <p:nvPr/>
        </p:nvSpPr>
        <p:spPr>
          <a:xfrm>
            <a:off x="4629150" y="40005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경로 선택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67148D-5B57-4104-9292-0D08B7F88924}"/>
              </a:ext>
            </a:extLst>
          </p:cNvPr>
          <p:cNvSpPr>
            <a:spLocks noGrp="1"/>
          </p:cNvSpPr>
          <p:nvPr/>
        </p:nvSpPr>
        <p:spPr>
          <a:xfrm>
            <a:off x="4629150" y="4495800"/>
            <a:ext cx="304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경로를 택해도 같은 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24AF34-6704-4CD5-BFBE-7988F63D7A59}"/>
              </a:ext>
            </a:extLst>
          </p:cNvPr>
          <p:cNvSpPr>
            <a:spLocks noGrp="1"/>
          </p:cNvSpPr>
          <p:nvPr/>
        </p:nvSpPr>
        <p:spPr>
          <a:xfrm>
            <a:off x="8343900" y="40005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기준점 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6CFBB3-877C-4CD1-ADC8-409F7D8F6177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304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전위차에서 자동으로 소거</a:t>
            </a:r>
          </a:p>
        </p:txBody>
      </p:sp>
    </p:spTree>
    <p:extLst>
      <p:ext uri="{BB962C8B-B14F-4D97-AF65-F5344CB8AC3E}">
        <p14:creationId xmlns:p14="http://schemas.microsoft.com/office/powerpoint/2010/main" val="1735892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33AEDBB-5A86-4DE1-BA59-763D4628DDE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FIELD FROM POTENTIAL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D01456-D207-48AE-9AE8-421323FF0AA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전기장은 전위가 가장 빠르게 감소하는 방향을 가리킨다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D8D32C-770E-4AE6-8AA2-296F75C30C8C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905DDD-8BFC-4E4E-961E-1EE3BA84DE1A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996160-1BEC-47B8-807D-04FAB03E9E14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95788" y="2071688"/>
            <a:ext cx="3400425" cy="1000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4DC7B7E-EB47-4778-9853-D18EF0EA6ECF}"/>
              </a:ext>
            </a:extLst>
          </p:cNvPr>
          <p:cNvSpPr>
            <a:spLocks noGrp="1"/>
          </p:cNvSpPr>
          <p:nvPr/>
        </p:nvSpPr>
        <p:spPr>
          <a:xfrm>
            <a:off x="1381125" y="40957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입력: 스칼라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B81989-9EDA-441A-96EA-1DF7752991A9}"/>
              </a:ext>
            </a:extLst>
          </p:cNvPr>
          <p:cNvSpPr>
            <a:spLocks noGrp="1"/>
          </p:cNvSpPr>
          <p:nvPr/>
        </p:nvSpPr>
        <p:spPr>
          <a:xfrm>
            <a:off x="3562350" y="4095750"/>
            <a:ext cx="40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8E4593-1B7C-424C-8136-19DA21A84E6F}"/>
              </a:ext>
            </a:extLst>
          </p:cNvPr>
          <p:cNvSpPr>
            <a:spLocks noGrp="1"/>
          </p:cNvSpPr>
          <p:nvPr/>
        </p:nvSpPr>
        <p:spPr>
          <a:xfrm>
            <a:off x="5048250" y="409575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20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연산자: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92FD36-C87E-4376-9918-226AEA7B1B35}"/>
              </a:ext>
            </a:extLst>
          </p:cNvPr>
          <p:cNvSpPr>
            <a:spLocks noGrp="1"/>
          </p:cNvSpPr>
          <p:nvPr/>
        </p:nvSpPr>
        <p:spPr>
          <a:xfrm>
            <a:off x="6381750" y="4095750"/>
            <a:ext cx="1000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 i="1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rPr>
              <a:t>−grad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8764BF-6D9D-4D69-BCFB-13F9D0F23CEE}"/>
              </a:ext>
            </a:extLst>
          </p:cNvPr>
          <p:cNvSpPr>
            <a:spLocks noGrp="1"/>
          </p:cNvSpPr>
          <p:nvPr/>
        </p:nvSpPr>
        <p:spPr>
          <a:xfrm>
            <a:off x="8572500" y="409575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출력: 벡터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A804BC-701B-46C3-9077-AC6F7BF9FC3C}"/>
              </a:ext>
            </a:extLst>
          </p:cNvPr>
          <p:cNvSpPr>
            <a:spLocks noGrp="1"/>
          </p:cNvSpPr>
          <p:nvPr/>
        </p:nvSpPr>
        <p:spPr>
          <a:xfrm>
            <a:off x="10382250" y="4095750"/>
            <a:ext cx="43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80E56DA-A55A-4C5E-8F51-0C9546129481}"/>
              </a:ext>
            </a:extLst>
          </p:cNvPr>
          <p:cNvSpPr>
            <a:spLocks noGrp="1"/>
          </p:cNvSpPr>
          <p:nvPr/>
        </p:nvSpPr>
        <p:spPr>
          <a:xfrm>
            <a:off x="3904298" y="43233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5C2527-9A3C-4EB9-B789-E444A0FBB225}"/>
              </a:ext>
            </a:extLst>
          </p:cNvPr>
          <p:cNvSpPr>
            <a:spLocks noGrp="1"/>
          </p:cNvSpPr>
          <p:nvPr/>
        </p:nvSpPr>
        <p:spPr>
          <a:xfrm>
            <a:off x="4590098" y="43233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33" name="Straight Arrow Connector 32"/>
          <p:cNvCxnSpPr>
            <a:stCxn id="13" idx="6"/>
            <a:endCxn id="14" idx="2"/>
          </p:cNvCxnSpPr>
          <p:nvPr/>
        </p:nvCxnSpPr>
        <p:spPr>
          <a:xfrm>
            <a:off x="3906203" y="4324351"/>
            <a:ext cx="683895" cy="0"/>
          </a:xfrm>
          <a:prstGeom prst="straightConnector1">
            <a:avLst/>
          </a:prstGeom>
          <a:ln w="36671" cap="rnd">
            <a:solidFill>
              <a:srgbClr val="E0F0FE"/>
            </a:solidFill>
            <a:prstDash val="solid"/>
            <a:tailEnd type="triangle" w="med" len="med"/>
          </a:ln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04D43A9-7B6A-4A41-B01D-71344A036C83}"/>
              </a:ext>
            </a:extLst>
          </p:cNvPr>
          <p:cNvSpPr>
            <a:spLocks noGrp="1"/>
          </p:cNvSpPr>
          <p:nvPr/>
        </p:nvSpPr>
        <p:spPr>
          <a:xfrm>
            <a:off x="7523798" y="43233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471080-CEA8-4E59-89DB-150552A7B684}"/>
              </a:ext>
            </a:extLst>
          </p:cNvPr>
          <p:cNvSpPr>
            <a:spLocks noGrp="1"/>
          </p:cNvSpPr>
          <p:nvPr/>
        </p:nvSpPr>
        <p:spPr>
          <a:xfrm>
            <a:off x="8209598" y="43233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36" name="Straight Arrow Connector 35"/>
          <p:cNvCxnSpPr>
            <a:stCxn id="16" idx="6"/>
            <a:endCxn id="17" idx="2"/>
          </p:cNvCxnSpPr>
          <p:nvPr/>
        </p:nvCxnSpPr>
        <p:spPr>
          <a:xfrm>
            <a:off x="7525703" y="4324351"/>
            <a:ext cx="683895" cy="0"/>
          </a:xfrm>
          <a:prstGeom prst="straightConnector1">
            <a:avLst/>
          </a:prstGeom>
          <a:ln w="36671" cap="rnd">
            <a:solidFill>
              <a:srgbClr val="E0F0FE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04368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6878704-4300-4293-98A1-21D1053A1A4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WHY A SCALAR IS ENOUGH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495D81-2F8F-4FC6-B9B8-5C06C95DA8E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전기장의 세 성분은 회전이 0인 조건으로 서로 묶여 있다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DA25B4-0DDE-4A0E-A0CB-DB0772D78C9F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9E51F1-D695-43F4-A745-952E3EC14C48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1F8DC3-9380-49D5-A082-F55880F8F067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00166" y="2119313"/>
            <a:ext cx="7191668" cy="1000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80EE3D0-4523-494A-B026-74A83BC564AE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457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E를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직접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구하면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세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성분을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동시에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다룬다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0C93C8-08D8-443E-B2F7-D84244B9F591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457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V를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구하면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스칼라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함수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뒤에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−∇</a:t>
            </a: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만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i="0" dirty="0" err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적용한다</a:t>
            </a:r>
            <a:r>
              <a:rPr sz="2175" b="1" i="0" dirty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D14186-3664-4FEA-B31E-6D7822A0ABDD}"/>
              </a:ext>
            </a:extLst>
          </p:cNvPr>
          <p:cNvSpPr>
            <a:spLocks noGrp="1"/>
          </p:cNvSpPr>
          <p:nvPr/>
        </p:nvSpPr>
        <p:spPr>
          <a:xfrm>
            <a:off x="5714048" y="4361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28B0D71-2926-421A-ACBE-6C65A7DD7E51}"/>
              </a:ext>
            </a:extLst>
          </p:cNvPr>
          <p:cNvSpPr>
            <a:spLocks noGrp="1"/>
          </p:cNvSpPr>
          <p:nvPr/>
        </p:nvSpPr>
        <p:spPr>
          <a:xfrm>
            <a:off x="6418898" y="43614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22" name="Straight Arrow Connector 21"/>
          <p:cNvCxnSpPr>
            <a:stCxn id="9" idx="6"/>
            <a:endCxn id="10" idx="2"/>
          </p:cNvCxnSpPr>
          <p:nvPr/>
        </p:nvCxnSpPr>
        <p:spPr>
          <a:xfrm>
            <a:off x="5715953" y="4362451"/>
            <a:ext cx="702945" cy="0"/>
          </a:xfrm>
          <a:prstGeom prst="straightConnector1">
            <a:avLst/>
          </a:prstGeom>
          <a:ln w="41910" cap="rnd">
            <a:solidFill>
              <a:srgbClr val="2563EB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752452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E41AA63-94ED-4816-8213-09B397BA51B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REFERENCE 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21434D-9D23-417D-B104-C9D5B592927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전위 기준을 바꿔도 전기장은 그대로다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DAF651-8C3D-4558-A7AD-E01DB8639801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DC8B09-561B-4488-9D9B-DFBD8C887215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F21302-0359-42BE-AA50-C30BA8C1C874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1709" y="2098221"/>
            <a:ext cx="4152582" cy="7810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59084" y="2124075"/>
            <a:ext cx="3036332" cy="7810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B407BC5-85A2-4F4D-8DD9-0F887CCF05A6}"/>
              </a:ext>
            </a:extLst>
          </p:cNvPr>
          <p:cNvSpPr>
            <a:spLocks noGrp="1"/>
          </p:cNvSpPr>
          <p:nvPr/>
        </p:nvSpPr>
        <p:spPr>
          <a:xfrm>
            <a:off x="1143000" y="5410200"/>
            <a:ext cx="4476750" cy="38100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ACC231-A5C1-438E-8260-A5C09DD9F129}"/>
              </a:ext>
            </a:extLst>
          </p:cNvPr>
          <p:cNvSpPr>
            <a:spLocks noGrp="1"/>
          </p:cNvSpPr>
          <p:nvPr/>
        </p:nvSpPr>
        <p:spPr>
          <a:xfrm>
            <a:off x="6572250" y="5410200"/>
            <a:ext cx="4476750" cy="38100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84E1E-C69E-4033-86A1-B8B9297C54B1}"/>
              </a:ext>
            </a:extLst>
          </p:cNvPr>
          <p:cNvSpPr>
            <a:spLocks noGrp="1"/>
          </p:cNvSpPr>
          <p:nvPr/>
        </p:nvSpPr>
        <p:spPr>
          <a:xfrm>
            <a:off x="1905000" y="4457700"/>
            <a:ext cx="22860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D3F73-572E-40D8-9BBE-C10D82BEACB4}"/>
              </a:ext>
            </a:extLst>
          </p:cNvPr>
          <p:cNvSpPr>
            <a:spLocks noGrp="1"/>
          </p:cNvSpPr>
          <p:nvPr/>
        </p:nvSpPr>
        <p:spPr>
          <a:xfrm>
            <a:off x="7334250" y="4029075"/>
            <a:ext cx="22860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E82C86-326C-488A-A307-2EE46C4B2571}"/>
              </a:ext>
            </a:extLst>
          </p:cNvPr>
          <p:cNvSpPr>
            <a:spLocks noGrp="1"/>
          </p:cNvSpPr>
          <p:nvPr/>
        </p:nvSpPr>
        <p:spPr>
          <a:xfrm>
            <a:off x="1905000" y="3695700"/>
            <a:ext cx="2286000" cy="38100"/>
          </a:xfrm>
          <a:prstGeom prst="rect">
            <a:avLst/>
          </a:prstGeom>
          <a:solidFill>
            <a:srgbClr val="191919"/>
          </a:solidFill>
          <a:ln w="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47FB19-A0F8-45EB-8274-EBACE0BF7B9F}"/>
              </a:ext>
            </a:extLst>
          </p:cNvPr>
          <p:cNvSpPr>
            <a:spLocks noGrp="1"/>
          </p:cNvSpPr>
          <p:nvPr/>
        </p:nvSpPr>
        <p:spPr>
          <a:xfrm>
            <a:off x="7334250" y="3267075"/>
            <a:ext cx="2286000" cy="38100"/>
          </a:xfrm>
          <a:prstGeom prst="rect">
            <a:avLst/>
          </a:prstGeom>
          <a:solidFill>
            <a:srgbClr val="191919"/>
          </a:solidFill>
          <a:ln w="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C41ECA-99A4-4585-A72E-9FF9917FEBB3}"/>
              </a:ext>
            </a:extLst>
          </p:cNvPr>
          <p:cNvSpPr>
            <a:spLocks noGrp="1"/>
          </p:cNvSpPr>
          <p:nvPr/>
        </p:nvSpPr>
        <p:spPr>
          <a:xfrm>
            <a:off x="2238375" y="57340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같은 높이차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8FC2AC-F600-4F65-8B60-5E0E19EF3423}"/>
              </a:ext>
            </a:extLst>
          </p:cNvPr>
          <p:cNvSpPr>
            <a:spLocks noGrp="1"/>
          </p:cNvSpPr>
          <p:nvPr/>
        </p:nvSpPr>
        <p:spPr>
          <a:xfrm>
            <a:off x="7667625" y="57340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기준만 이동</a:t>
            </a:r>
          </a:p>
        </p:txBody>
      </p:sp>
    </p:spTree>
    <p:extLst>
      <p:ext uri="{BB962C8B-B14F-4D97-AF65-F5344CB8AC3E}">
        <p14:creationId xmlns:p14="http://schemas.microsoft.com/office/powerpoint/2010/main" val="15404617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2488187-DB6D-49CE-88FD-4283FBC9094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WHEN V(∞)=0 FAILS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1F5BA5-19EC-4CC8-921B-10271BE4E05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무한히 퍼진 전하분포에서는 유한한 기준점을 선택한다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ADA9C-10C9-4760-8C17-4E82CD9BDAD4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673239-F9BD-46B7-BF07-6E6FD34FDC98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41595-74FF-4080-A705-9CD3869B0730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AF358F-6197-47B8-ADC1-D9934BCE31AC}"/>
              </a:ext>
            </a:extLst>
          </p:cNvPr>
          <p:cNvSpPr>
            <a:spLocks noGrp="1"/>
          </p:cNvSpPr>
          <p:nvPr/>
        </p:nvSpPr>
        <p:spPr>
          <a:xfrm>
            <a:off x="1047750" y="3595688"/>
            <a:ext cx="4191000" cy="476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38F2B9-8EA2-4638-B718-550797007927}"/>
              </a:ext>
            </a:extLst>
          </p:cNvPr>
          <p:cNvSpPr>
            <a:spLocks noGrp="1"/>
          </p:cNvSpPr>
          <p:nvPr/>
        </p:nvSpPr>
        <p:spPr>
          <a:xfrm>
            <a:off x="1189673" y="3523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F6572F-7D8B-429D-882B-18FA1985ED54}"/>
              </a:ext>
            </a:extLst>
          </p:cNvPr>
          <p:cNvSpPr>
            <a:spLocks noGrp="1"/>
          </p:cNvSpPr>
          <p:nvPr/>
        </p:nvSpPr>
        <p:spPr>
          <a:xfrm>
            <a:off x="1189673" y="21897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42" name="Straight Arrow Connector 41"/>
          <p:cNvCxnSpPr>
            <a:stCxn id="7" idx="0"/>
            <a:endCxn id="8" idx="4"/>
          </p:cNvCxnSpPr>
          <p:nvPr/>
        </p:nvCxnSpPr>
        <p:spPr>
          <a:xfrm flipV="1">
            <a:off x="1190626" y="2191703"/>
            <a:ext cx="0" cy="13315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0EA99DB-0C3C-4CCC-B703-7C2D4FD335EC}"/>
              </a:ext>
            </a:extLst>
          </p:cNvPr>
          <p:cNvSpPr>
            <a:spLocks noGrp="1"/>
          </p:cNvSpPr>
          <p:nvPr/>
        </p:nvSpPr>
        <p:spPr>
          <a:xfrm>
            <a:off x="1713548" y="3523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BC83F17-7172-40F6-BF8C-037DC3B8AE1B}"/>
              </a:ext>
            </a:extLst>
          </p:cNvPr>
          <p:cNvSpPr>
            <a:spLocks noGrp="1"/>
          </p:cNvSpPr>
          <p:nvPr/>
        </p:nvSpPr>
        <p:spPr>
          <a:xfrm>
            <a:off x="1713548" y="21897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45" name="Straight Arrow Connector 44"/>
          <p:cNvCxnSpPr>
            <a:stCxn id="10" idx="0"/>
            <a:endCxn id="11" idx="4"/>
          </p:cNvCxnSpPr>
          <p:nvPr/>
        </p:nvCxnSpPr>
        <p:spPr>
          <a:xfrm flipV="1">
            <a:off x="1714501" y="2191703"/>
            <a:ext cx="0" cy="13315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E42E3AD-FA7B-4F9F-9ED1-EF920B47FDCA}"/>
              </a:ext>
            </a:extLst>
          </p:cNvPr>
          <p:cNvSpPr>
            <a:spLocks noGrp="1"/>
          </p:cNvSpPr>
          <p:nvPr/>
        </p:nvSpPr>
        <p:spPr>
          <a:xfrm>
            <a:off x="2237423" y="3523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0DC947-7A0E-48C5-988B-2D2E1D639A11}"/>
              </a:ext>
            </a:extLst>
          </p:cNvPr>
          <p:cNvSpPr>
            <a:spLocks noGrp="1"/>
          </p:cNvSpPr>
          <p:nvPr/>
        </p:nvSpPr>
        <p:spPr>
          <a:xfrm>
            <a:off x="2237423" y="21897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48" name="Straight Arrow Connector 47"/>
          <p:cNvCxnSpPr>
            <a:stCxn id="13" idx="0"/>
            <a:endCxn id="14" idx="4"/>
          </p:cNvCxnSpPr>
          <p:nvPr/>
        </p:nvCxnSpPr>
        <p:spPr>
          <a:xfrm flipV="1">
            <a:off x="2238376" y="2191703"/>
            <a:ext cx="0" cy="13315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EE638FE-FDD6-450B-8DD3-B2928D3F16F5}"/>
              </a:ext>
            </a:extLst>
          </p:cNvPr>
          <p:cNvSpPr>
            <a:spLocks noGrp="1"/>
          </p:cNvSpPr>
          <p:nvPr/>
        </p:nvSpPr>
        <p:spPr>
          <a:xfrm>
            <a:off x="2761298" y="3523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B4D3D88-6A3B-4F45-8D8F-BFAD4068B9C3}"/>
              </a:ext>
            </a:extLst>
          </p:cNvPr>
          <p:cNvSpPr>
            <a:spLocks noGrp="1"/>
          </p:cNvSpPr>
          <p:nvPr/>
        </p:nvSpPr>
        <p:spPr>
          <a:xfrm>
            <a:off x="2761298" y="21897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51" name="Straight Arrow Connector 50"/>
          <p:cNvCxnSpPr>
            <a:stCxn id="16" idx="0"/>
            <a:endCxn id="17" idx="4"/>
          </p:cNvCxnSpPr>
          <p:nvPr/>
        </p:nvCxnSpPr>
        <p:spPr>
          <a:xfrm flipV="1">
            <a:off x="2762251" y="2191703"/>
            <a:ext cx="0" cy="13315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8E8BD71-DCFA-4930-AA6C-966122DD4C88}"/>
              </a:ext>
            </a:extLst>
          </p:cNvPr>
          <p:cNvSpPr>
            <a:spLocks noGrp="1"/>
          </p:cNvSpPr>
          <p:nvPr/>
        </p:nvSpPr>
        <p:spPr>
          <a:xfrm>
            <a:off x="3285173" y="3523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171559-D64F-4BA3-B47D-DA41DF363D16}"/>
              </a:ext>
            </a:extLst>
          </p:cNvPr>
          <p:cNvSpPr>
            <a:spLocks noGrp="1"/>
          </p:cNvSpPr>
          <p:nvPr/>
        </p:nvSpPr>
        <p:spPr>
          <a:xfrm>
            <a:off x="3285173" y="21897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54" name="Straight Arrow Connector 53"/>
          <p:cNvCxnSpPr>
            <a:stCxn id="19" idx="0"/>
            <a:endCxn id="20" idx="4"/>
          </p:cNvCxnSpPr>
          <p:nvPr/>
        </p:nvCxnSpPr>
        <p:spPr>
          <a:xfrm flipV="1">
            <a:off x="3286126" y="2191703"/>
            <a:ext cx="0" cy="13315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F135C39-6048-4655-BBED-1D09B054246A}"/>
              </a:ext>
            </a:extLst>
          </p:cNvPr>
          <p:cNvSpPr>
            <a:spLocks noGrp="1"/>
          </p:cNvSpPr>
          <p:nvPr/>
        </p:nvSpPr>
        <p:spPr>
          <a:xfrm>
            <a:off x="3809048" y="3523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52022AD-682F-44A2-A888-2E18110FBAFB}"/>
              </a:ext>
            </a:extLst>
          </p:cNvPr>
          <p:cNvSpPr>
            <a:spLocks noGrp="1"/>
          </p:cNvSpPr>
          <p:nvPr/>
        </p:nvSpPr>
        <p:spPr>
          <a:xfrm>
            <a:off x="3809048" y="21897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57" name="Straight Arrow Connector 56"/>
          <p:cNvCxnSpPr>
            <a:stCxn id="22" idx="0"/>
            <a:endCxn id="23" idx="4"/>
          </p:cNvCxnSpPr>
          <p:nvPr/>
        </p:nvCxnSpPr>
        <p:spPr>
          <a:xfrm flipV="1">
            <a:off x="3810001" y="2191703"/>
            <a:ext cx="0" cy="13315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63688DA9-6973-444F-80F2-25B2B047DA66}"/>
              </a:ext>
            </a:extLst>
          </p:cNvPr>
          <p:cNvSpPr>
            <a:spLocks noGrp="1"/>
          </p:cNvSpPr>
          <p:nvPr/>
        </p:nvSpPr>
        <p:spPr>
          <a:xfrm>
            <a:off x="4332923" y="3523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D14F751-6CCD-4D8C-BA9C-C269D4052EC9}"/>
              </a:ext>
            </a:extLst>
          </p:cNvPr>
          <p:cNvSpPr>
            <a:spLocks noGrp="1"/>
          </p:cNvSpPr>
          <p:nvPr/>
        </p:nvSpPr>
        <p:spPr>
          <a:xfrm>
            <a:off x="4332923" y="21897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0" name="Straight Arrow Connector 59"/>
          <p:cNvCxnSpPr>
            <a:stCxn id="25" idx="0"/>
            <a:endCxn id="26" idx="4"/>
          </p:cNvCxnSpPr>
          <p:nvPr/>
        </p:nvCxnSpPr>
        <p:spPr>
          <a:xfrm flipV="1">
            <a:off x="4333876" y="2191703"/>
            <a:ext cx="0" cy="13315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B16AFAD-0292-4E45-A1DA-95316CB55429}"/>
              </a:ext>
            </a:extLst>
          </p:cNvPr>
          <p:cNvSpPr>
            <a:spLocks noGrp="1"/>
          </p:cNvSpPr>
          <p:nvPr/>
        </p:nvSpPr>
        <p:spPr>
          <a:xfrm>
            <a:off x="4856798" y="35232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0362A8E-AD6C-473C-A215-A95E9FE96EBB}"/>
              </a:ext>
            </a:extLst>
          </p:cNvPr>
          <p:cNvSpPr>
            <a:spLocks noGrp="1"/>
          </p:cNvSpPr>
          <p:nvPr/>
        </p:nvSpPr>
        <p:spPr>
          <a:xfrm>
            <a:off x="4856798" y="218979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3" name="Straight Arrow Connector 62"/>
          <p:cNvCxnSpPr>
            <a:stCxn id="28" idx="0"/>
            <a:endCxn id="29" idx="4"/>
          </p:cNvCxnSpPr>
          <p:nvPr/>
        </p:nvCxnSpPr>
        <p:spPr>
          <a:xfrm flipV="1">
            <a:off x="4857751" y="2191703"/>
            <a:ext cx="0" cy="1331595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AA36DA9-EA8D-4D41-A8E5-A0186BA4C0D3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무한 평면</a:t>
            </a: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0655" y="2452688"/>
            <a:ext cx="4382691" cy="100012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B86653F7-3905-4FA7-86CC-32BCD7F27ACA}"/>
              </a:ext>
            </a:extLst>
          </p:cNvPr>
          <p:cNvSpPr>
            <a:spLocks noGrp="1"/>
          </p:cNvSpPr>
          <p:nvPr/>
        </p:nvSpPr>
        <p:spPr>
          <a:xfrm>
            <a:off x="5905500" y="403860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E가 거리와 함께 감소하지 않으므로 ∞에서 시작한 선적분은 발산한다.</a:t>
            </a:r>
          </a:p>
        </p:txBody>
      </p:sp>
    </p:spTree>
    <p:extLst>
      <p:ext uri="{BB962C8B-B14F-4D97-AF65-F5344CB8AC3E}">
        <p14:creationId xmlns:p14="http://schemas.microsoft.com/office/powerpoint/2010/main" val="11627259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88BD212-8218-49EB-A53C-E03883F8DCF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EQUIPOTENTIAL SURFACES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7253D6-E3BB-48F5-9B84-2FD8FE5CFA4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전기장은 등전위면에 수직이다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6C7C44-2916-48FF-A385-E2D67D45E538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DEB6DC-125B-46F7-B9B8-E74F2142A967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31E345-7D40-41BD-BC0B-00F78D6F1286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F8690D-BBD2-44B1-8BF7-FEEE7FFA4A4F}"/>
              </a:ext>
            </a:extLst>
          </p:cNvPr>
          <p:cNvSpPr>
            <a:spLocks noGrp="1"/>
          </p:cNvSpPr>
          <p:nvPr/>
        </p:nvSpPr>
        <p:spPr>
          <a:xfrm>
            <a:off x="2476500" y="2952750"/>
            <a:ext cx="1333500" cy="1333500"/>
          </a:xfrm>
          <a:prstGeom prst="ellipse">
            <a:avLst/>
          </a:prstGeom>
          <a:noFill/>
          <a:ln w="28575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E44339-F352-499B-A5D4-C7AF6E9C4F57}"/>
              </a:ext>
            </a:extLst>
          </p:cNvPr>
          <p:cNvSpPr>
            <a:spLocks noGrp="1"/>
          </p:cNvSpPr>
          <p:nvPr/>
        </p:nvSpPr>
        <p:spPr>
          <a:xfrm>
            <a:off x="1905000" y="2381250"/>
            <a:ext cx="2476500" cy="2476500"/>
          </a:xfrm>
          <a:prstGeom prst="ellipse">
            <a:avLst/>
          </a:prstGeom>
          <a:noFill/>
          <a:ln w="28575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24EF5D-9040-4B06-B4C8-BEAB13A49B72}"/>
              </a:ext>
            </a:extLst>
          </p:cNvPr>
          <p:cNvSpPr>
            <a:spLocks noGrp="1"/>
          </p:cNvSpPr>
          <p:nvPr/>
        </p:nvSpPr>
        <p:spPr>
          <a:xfrm>
            <a:off x="1333500" y="1809750"/>
            <a:ext cx="3619500" cy="3619500"/>
          </a:xfrm>
          <a:prstGeom prst="ellipse">
            <a:avLst/>
          </a:prstGeom>
          <a:noFill/>
          <a:ln w="28575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0850E7-C366-4A1C-BF04-CA69F870E4B4}"/>
              </a:ext>
            </a:extLst>
          </p:cNvPr>
          <p:cNvSpPr>
            <a:spLocks noGrp="1"/>
          </p:cNvSpPr>
          <p:nvPr/>
        </p:nvSpPr>
        <p:spPr>
          <a:xfrm>
            <a:off x="3048000" y="3524250"/>
            <a:ext cx="190500" cy="1905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4C71DB-C66A-42D6-A538-B9B099C86B2A}"/>
              </a:ext>
            </a:extLst>
          </p:cNvPr>
          <p:cNvSpPr>
            <a:spLocks noGrp="1"/>
          </p:cNvSpPr>
          <p:nvPr/>
        </p:nvSpPr>
        <p:spPr>
          <a:xfrm>
            <a:off x="3904298" y="3618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8D4C526-4EDF-4B14-972A-64ACB3F0C340}"/>
              </a:ext>
            </a:extLst>
          </p:cNvPr>
          <p:cNvSpPr>
            <a:spLocks noGrp="1"/>
          </p:cNvSpPr>
          <p:nvPr/>
        </p:nvSpPr>
        <p:spPr>
          <a:xfrm>
            <a:off x="4809173" y="3618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47" name="Straight Arrow Connector 46"/>
          <p:cNvCxnSpPr>
            <a:stCxn id="10" idx="6"/>
            <a:endCxn id="11" idx="2"/>
          </p:cNvCxnSpPr>
          <p:nvPr/>
        </p:nvCxnSpPr>
        <p:spPr>
          <a:xfrm>
            <a:off x="3906203" y="3619501"/>
            <a:ext cx="90297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FB03908-3707-45D2-9E06-20B7607B1694}"/>
              </a:ext>
            </a:extLst>
          </p:cNvPr>
          <p:cNvSpPr>
            <a:spLocks noGrp="1"/>
          </p:cNvSpPr>
          <p:nvPr/>
        </p:nvSpPr>
        <p:spPr>
          <a:xfrm>
            <a:off x="3681113" y="415736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0A42C2-91CA-4DF8-AC16-C57C9BA24657}"/>
              </a:ext>
            </a:extLst>
          </p:cNvPr>
          <p:cNvSpPr>
            <a:spLocks noGrp="1"/>
          </p:cNvSpPr>
          <p:nvPr/>
        </p:nvSpPr>
        <p:spPr>
          <a:xfrm>
            <a:off x="4320956" y="479720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50" name="Straight Arrow Connector 49"/>
          <p:cNvCxnSpPr>
            <a:stCxn id="13" idx="5"/>
            <a:endCxn id="14" idx="1"/>
          </p:cNvCxnSpPr>
          <p:nvPr/>
        </p:nvCxnSpPr>
        <p:spPr>
          <a:xfrm>
            <a:off x="3682739" y="4158989"/>
            <a:ext cx="638496" cy="638496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1E4E334-E1F0-43FA-A242-BCA7594CB327}"/>
              </a:ext>
            </a:extLst>
          </p:cNvPr>
          <p:cNvSpPr>
            <a:spLocks noGrp="1"/>
          </p:cNvSpPr>
          <p:nvPr/>
        </p:nvSpPr>
        <p:spPr>
          <a:xfrm>
            <a:off x="3142298" y="4380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B312E1-A762-4B3D-9E20-E766CB1F923E}"/>
              </a:ext>
            </a:extLst>
          </p:cNvPr>
          <p:cNvSpPr>
            <a:spLocks noGrp="1"/>
          </p:cNvSpPr>
          <p:nvPr/>
        </p:nvSpPr>
        <p:spPr>
          <a:xfrm>
            <a:off x="3142298" y="528542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53" name="Straight Arrow Connector 52"/>
          <p:cNvCxnSpPr>
            <a:stCxn id="16" idx="4"/>
            <a:endCxn id="17" idx="0"/>
          </p:cNvCxnSpPr>
          <p:nvPr/>
        </p:nvCxnSpPr>
        <p:spPr>
          <a:xfrm>
            <a:off x="3143251" y="4382453"/>
            <a:ext cx="0" cy="90297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E90EB27-1AC4-4DDA-87F3-D34012929379}"/>
              </a:ext>
            </a:extLst>
          </p:cNvPr>
          <p:cNvSpPr>
            <a:spLocks noGrp="1"/>
          </p:cNvSpPr>
          <p:nvPr/>
        </p:nvSpPr>
        <p:spPr>
          <a:xfrm>
            <a:off x="2603482" y="415736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76943C3-530B-4D4E-A19A-5251C75602CD}"/>
              </a:ext>
            </a:extLst>
          </p:cNvPr>
          <p:cNvSpPr>
            <a:spLocks noGrp="1"/>
          </p:cNvSpPr>
          <p:nvPr/>
        </p:nvSpPr>
        <p:spPr>
          <a:xfrm>
            <a:off x="1963639" y="4797206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56" name="Straight Arrow Connector 55"/>
          <p:cNvCxnSpPr>
            <a:stCxn id="19" idx="3"/>
            <a:endCxn id="20" idx="7"/>
          </p:cNvCxnSpPr>
          <p:nvPr/>
        </p:nvCxnSpPr>
        <p:spPr>
          <a:xfrm flipH="1">
            <a:off x="1965265" y="4158989"/>
            <a:ext cx="638496" cy="638496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04D5D3B-B371-415E-9345-A0BC4F703B0B}"/>
              </a:ext>
            </a:extLst>
          </p:cNvPr>
          <p:cNvSpPr>
            <a:spLocks noGrp="1"/>
          </p:cNvSpPr>
          <p:nvPr/>
        </p:nvSpPr>
        <p:spPr>
          <a:xfrm>
            <a:off x="2380298" y="3618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AE7129E-69D7-4BC6-B2F4-C300325A4BCB}"/>
              </a:ext>
            </a:extLst>
          </p:cNvPr>
          <p:cNvSpPr>
            <a:spLocks noGrp="1"/>
          </p:cNvSpPr>
          <p:nvPr/>
        </p:nvSpPr>
        <p:spPr>
          <a:xfrm>
            <a:off x="1475423" y="3618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59" name="Straight Arrow Connector 58"/>
          <p:cNvCxnSpPr>
            <a:stCxn id="22" idx="2"/>
            <a:endCxn id="23" idx="6"/>
          </p:cNvCxnSpPr>
          <p:nvPr/>
        </p:nvCxnSpPr>
        <p:spPr>
          <a:xfrm flipH="1">
            <a:off x="1477328" y="3619501"/>
            <a:ext cx="902970" cy="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1DED7DBF-443A-4B92-844D-5BB7403910F0}"/>
              </a:ext>
            </a:extLst>
          </p:cNvPr>
          <p:cNvSpPr>
            <a:spLocks noGrp="1"/>
          </p:cNvSpPr>
          <p:nvPr/>
        </p:nvSpPr>
        <p:spPr>
          <a:xfrm>
            <a:off x="2603482" y="307973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C4C73E4-06FA-46A6-868D-D3CB7DAAA1E5}"/>
              </a:ext>
            </a:extLst>
          </p:cNvPr>
          <p:cNvSpPr>
            <a:spLocks noGrp="1"/>
          </p:cNvSpPr>
          <p:nvPr/>
        </p:nvSpPr>
        <p:spPr>
          <a:xfrm>
            <a:off x="1963639" y="243988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2" name="Straight Arrow Connector 61"/>
          <p:cNvCxnSpPr>
            <a:stCxn id="25" idx="1"/>
            <a:endCxn id="26" idx="5"/>
          </p:cNvCxnSpPr>
          <p:nvPr/>
        </p:nvCxnSpPr>
        <p:spPr>
          <a:xfrm flipH="1" flipV="1">
            <a:off x="1965265" y="2441515"/>
            <a:ext cx="638496" cy="638496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9AB9B76-6BA8-4318-8C2D-C44A2B879E62}"/>
              </a:ext>
            </a:extLst>
          </p:cNvPr>
          <p:cNvSpPr>
            <a:spLocks noGrp="1"/>
          </p:cNvSpPr>
          <p:nvPr/>
        </p:nvSpPr>
        <p:spPr>
          <a:xfrm>
            <a:off x="3142298" y="2856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6E757F0-345C-4637-B2AF-C7537D70965E}"/>
              </a:ext>
            </a:extLst>
          </p:cNvPr>
          <p:cNvSpPr>
            <a:spLocks noGrp="1"/>
          </p:cNvSpPr>
          <p:nvPr/>
        </p:nvSpPr>
        <p:spPr>
          <a:xfrm>
            <a:off x="3142297" y="195167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5" name="Straight Arrow Connector 64"/>
          <p:cNvCxnSpPr>
            <a:stCxn id="28" idx="0"/>
            <a:endCxn id="29" idx="4"/>
          </p:cNvCxnSpPr>
          <p:nvPr/>
        </p:nvCxnSpPr>
        <p:spPr>
          <a:xfrm flipH="1" flipV="1">
            <a:off x="3143250" y="1953578"/>
            <a:ext cx="1" cy="902970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13B8D8ED-7EB8-4933-BD4C-16C73F43D5C1}"/>
              </a:ext>
            </a:extLst>
          </p:cNvPr>
          <p:cNvSpPr>
            <a:spLocks noGrp="1"/>
          </p:cNvSpPr>
          <p:nvPr/>
        </p:nvSpPr>
        <p:spPr>
          <a:xfrm>
            <a:off x="3681113" y="3079732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30A6CDD-CD4B-4EDA-8C74-E68CA144ABE4}"/>
              </a:ext>
            </a:extLst>
          </p:cNvPr>
          <p:cNvSpPr>
            <a:spLocks noGrp="1"/>
          </p:cNvSpPr>
          <p:nvPr/>
        </p:nvSpPr>
        <p:spPr>
          <a:xfrm>
            <a:off x="4320956" y="2439889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68" name="Straight Arrow Connector 67"/>
          <p:cNvCxnSpPr>
            <a:stCxn id="31" idx="7"/>
            <a:endCxn id="32" idx="3"/>
          </p:cNvCxnSpPr>
          <p:nvPr/>
        </p:nvCxnSpPr>
        <p:spPr>
          <a:xfrm flipV="1">
            <a:off x="3682739" y="2441515"/>
            <a:ext cx="638496" cy="638496"/>
          </a:xfrm>
          <a:prstGeom prst="straightConnector1">
            <a:avLst/>
          </a:prstGeom>
          <a:ln w="36671" cap="rnd">
            <a:solidFill>
              <a:srgbClr val="2563EB"/>
            </a:solidFill>
            <a:prstDash val="solid"/>
            <a:tailEnd type="triangle" w="med" len="med"/>
          </a:ln>
        </p:spPr>
      </p:cxnSp>
      <p:pic>
        <p:nvPicPr>
          <p:cNvPr id="69" name="Picture 6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0750" y="2743654"/>
            <a:ext cx="4953000" cy="513442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1ADDC6F2-8DB4-4115-9978-E19EB4BC6757}"/>
              </a:ext>
            </a:extLst>
          </p:cNvPr>
          <p:cNvSpPr>
            <a:spLocks noGrp="1"/>
          </p:cNvSpPr>
          <p:nvPr/>
        </p:nvSpPr>
        <p:spPr>
          <a:xfrm>
            <a:off x="6000750" y="4048125"/>
            <a:ext cx="495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등전위면을 따라 움직이면 E·dl = 0이므로 전기장은 접선 성분을 갖지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900677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AB9FE9-F49B-4EBE-914A-D97BB911CB9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POTENTIAL SUPERPOSITION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324A7B-377D-4149-B4DB-8DD3B9B05AE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전위는 방향 없는 보통 합으로 중첩된다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4ABFBB-B7FB-41F0-BBA6-1F3217B6D29F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47D6B9-0B9F-4D72-ADCE-FCC3CD422541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D5DD00-A9DA-481A-AB7A-3129C4C72225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25666" y="2024063"/>
            <a:ext cx="5340667" cy="100012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C7F163D-674F-43A4-8D55-767B363D0312}"/>
              </a:ext>
            </a:extLst>
          </p:cNvPr>
          <p:cNvSpPr>
            <a:spLocks noGrp="1"/>
          </p:cNvSpPr>
          <p:nvPr/>
        </p:nvSpPr>
        <p:spPr>
          <a:xfrm>
            <a:off x="2228850" y="3848100"/>
            <a:ext cx="495300" cy="4953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5E906A-1F30-447A-9087-A566F1B1EF0A}"/>
              </a:ext>
            </a:extLst>
          </p:cNvPr>
          <p:cNvSpPr>
            <a:spLocks noGrp="1"/>
          </p:cNvSpPr>
          <p:nvPr/>
        </p:nvSpPr>
        <p:spPr>
          <a:xfrm>
            <a:off x="2047875" y="3924300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+q₁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CC61D3-5E52-4DE7-B312-C199CF47645C}"/>
              </a:ext>
            </a:extLst>
          </p:cNvPr>
          <p:cNvSpPr>
            <a:spLocks noGrp="1"/>
          </p:cNvSpPr>
          <p:nvPr/>
        </p:nvSpPr>
        <p:spPr>
          <a:xfrm>
            <a:off x="4514850" y="4610100"/>
            <a:ext cx="495300" cy="495300"/>
          </a:xfrm>
          <a:prstGeom prst="ellipse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71F24F-4FCF-4657-A2F2-595779EE4257}"/>
              </a:ext>
            </a:extLst>
          </p:cNvPr>
          <p:cNvSpPr>
            <a:spLocks noGrp="1"/>
          </p:cNvSpPr>
          <p:nvPr/>
        </p:nvSpPr>
        <p:spPr>
          <a:xfrm>
            <a:off x="4333875" y="4686300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−q₂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F706B42-5B74-4C64-B650-D569284BC3AA}"/>
              </a:ext>
            </a:extLst>
          </p:cNvPr>
          <p:cNvSpPr>
            <a:spLocks noGrp="1"/>
          </p:cNvSpPr>
          <p:nvPr/>
        </p:nvSpPr>
        <p:spPr>
          <a:xfrm>
            <a:off x="6991350" y="3467100"/>
            <a:ext cx="495300" cy="4953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656DC8-E08D-41A7-9622-973879308B04}"/>
              </a:ext>
            </a:extLst>
          </p:cNvPr>
          <p:cNvSpPr>
            <a:spLocks noGrp="1"/>
          </p:cNvSpPr>
          <p:nvPr/>
        </p:nvSpPr>
        <p:spPr>
          <a:xfrm>
            <a:off x="6810375" y="3543300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+q₃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FBA19A-9B2F-4A29-97B8-4590CF28E910}"/>
              </a:ext>
            </a:extLst>
          </p:cNvPr>
          <p:cNvSpPr>
            <a:spLocks noGrp="1"/>
          </p:cNvSpPr>
          <p:nvPr/>
        </p:nvSpPr>
        <p:spPr>
          <a:xfrm>
            <a:off x="9715500" y="4381500"/>
            <a:ext cx="190500" cy="190500"/>
          </a:xfrm>
          <a:prstGeom prst="ellipse">
            <a:avLst/>
          </a:prstGeom>
          <a:solidFill>
            <a:srgbClr val="191919"/>
          </a:solidFill>
          <a:ln w="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562DE4-BAAF-4DD6-BC9F-ED12C46ED5A1}"/>
              </a:ext>
            </a:extLst>
          </p:cNvPr>
          <p:cNvSpPr>
            <a:spLocks noGrp="1"/>
          </p:cNvSpPr>
          <p:nvPr/>
        </p:nvSpPr>
        <p:spPr>
          <a:xfrm>
            <a:off x="9677400" y="47625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6DA7F0-7350-4874-9D4B-E41551B94ED9}"/>
              </a:ext>
            </a:extLst>
          </p:cNvPr>
          <p:cNvSpPr>
            <a:spLocks noGrp="1"/>
          </p:cNvSpPr>
          <p:nvPr/>
        </p:nvSpPr>
        <p:spPr>
          <a:xfrm rot="178424">
            <a:off x="2776253" y="4280678"/>
            <a:ext cx="6886939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0A6CEB-C28A-4AD2-890D-208638717D7B}"/>
              </a:ext>
            </a:extLst>
          </p:cNvPr>
          <p:cNvSpPr>
            <a:spLocks noGrp="1"/>
          </p:cNvSpPr>
          <p:nvPr/>
        </p:nvSpPr>
        <p:spPr>
          <a:xfrm rot="-258962">
            <a:off x="5059905" y="4651990"/>
            <a:ext cx="4605407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030ECA-C186-4BE5-AC80-063F628F783C}"/>
              </a:ext>
            </a:extLst>
          </p:cNvPr>
          <p:cNvSpPr>
            <a:spLocks noGrp="1"/>
          </p:cNvSpPr>
          <p:nvPr/>
        </p:nvSpPr>
        <p:spPr>
          <a:xfrm rot="990262">
            <a:off x="7485403" y="4107873"/>
            <a:ext cx="2225064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86329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A781F10-DFEE-41ED-8D03-656C94DE323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WORKED EXAMPLE / SPHERICAL SHELL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3F83F9-95D5-4D8C-9D29-C18F23A4137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껍질 안에서 E = 0이어도 V는 0이 아니라 상수다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B3102E-3671-418D-A324-F79A78D225F5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82CB36-3D54-4EC6-AB8F-2301B9A7ECC6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2EE080-D4D2-4D37-AA45-50712687B123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69165" y="1864519"/>
            <a:ext cx="4272170" cy="170021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F486582-0A90-40D6-ABAE-C16935D9F00A}"/>
              </a:ext>
            </a:extLst>
          </p:cNvPr>
          <p:cNvSpPr>
            <a:spLocks noGrp="1"/>
          </p:cNvSpPr>
          <p:nvPr/>
        </p:nvSpPr>
        <p:spPr>
          <a:xfrm>
            <a:off x="7523798" y="5142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5C2800-D593-4EE6-A14D-6728C769F164}"/>
              </a:ext>
            </a:extLst>
          </p:cNvPr>
          <p:cNvSpPr>
            <a:spLocks noGrp="1"/>
          </p:cNvSpPr>
          <p:nvPr/>
        </p:nvSpPr>
        <p:spPr>
          <a:xfrm>
            <a:off x="11238548" y="5142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36" name="Straight Arrow Connector 35"/>
          <p:cNvCxnSpPr>
            <a:stCxn id="7" idx="6"/>
            <a:endCxn id="8" idx="2"/>
          </p:cNvCxnSpPr>
          <p:nvPr/>
        </p:nvCxnSpPr>
        <p:spPr>
          <a:xfrm>
            <a:off x="7525703" y="5143501"/>
            <a:ext cx="3712845" cy="0"/>
          </a:xfrm>
          <a:prstGeom prst="straightConnector1">
            <a:avLst/>
          </a:prstGeom>
          <a:ln w="31433" cap="rnd">
            <a:solidFill>
              <a:srgbClr val="191919"/>
            </a:solidFill>
            <a:prstDash val="solid"/>
            <a:tailEnd type="triangle" w="med" len="med"/>
          </a:ln>
        </p:spPr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C01E9A5-1F60-4FA5-84F0-066864506639}"/>
              </a:ext>
            </a:extLst>
          </p:cNvPr>
          <p:cNvSpPr>
            <a:spLocks noGrp="1"/>
          </p:cNvSpPr>
          <p:nvPr/>
        </p:nvSpPr>
        <p:spPr>
          <a:xfrm>
            <a:off x="7523798" y="5142548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01F7BE-0C49-4F76-BC3B-66EE875C4640}"/>
              </a:ext>
            </a:extLst>
          </p:cNvPr>
          <p:cNvSpPr>
            <a:spLocks noGrp="1"/>
          </p:cNvSpPr>
          <p:nvPr/>
        </p:nvSpPr>
        <p:spPr>
          <a:xfrm>
            <a:off x="7523798" y="1951673"/>
            <a:ext cx="1905" cy="190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cxnSp>
        <p:nvCxnSpPr>
          <p:cNvPr id="39" name="Straight Arrow Connector 38"/>
          <p:cNvCxnSpPr>
            <a:stCxn id="10" idx="0"/>
            <a:endCxn id="11" idx="4"/>
          </p:cNvCxnSpPr>
          <p:nvPr/>
        </p:nvCxnSpPr>
        <p:spPr>
          <a:xfrm flipV="1">
            <a:off x="7524751" y="1953578"/>
            <a:ext cx="0" cy="3188970"/>
          </a:xfrm>
          <a:prstGeom prst="straightConnector1">
            <a:avLst/>
          </a:prstGeom>
          <a:ln w="31433" cap="rnd">
            <a:solidFill>
              <a:srgbClr val="191919"/>
            </a:solidFill>
            <a:prstDash val="solid"/>
            <a:tailEnd type="triangle" w="med" len="me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E46D61E-6D6E-46A3-9588-D9D7CD1D8716}"/>
              </a:ext>
            </a:extLst>
          </p:cNvPr>
          <p:cNvSpPr>
            <a:spLocks noGrp="1"/>
          </p:cNvSpPr>
          <p:nvPr/>
        </p:nvSpPr>
        <p:spPr>
          <a:xfrm>
            <a:off x="10953750" y="52197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D84723-7461-4D5A-B1B5-8B2AEC9BA403}"/>
              </a:ext>
            </a:extLst>
          </p:cNvPr>
          <p:cNvSpPr>
            <a:spLocks noGrp="1"/>
          </p:cNvSpPr>
          <p:nvPr/>
        </p:nvSpPr>
        <p:spPr>
          <a:xfrm>
            <a:off x="7239000" y="18859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D3CFC2-1F95-47D1-A87E-E0FFCDD761C5}"/>
              </a:ext>
            </a:extLst>
          </p:cNvPr>
          <p:cNvSpPr>
            <a:spLocks noGrp="1"/>
          </p:cNvSpPr>
          <p:nvPr/>
        </p:nvSpPr>
        <p:spPr>
          <a:xfrm>
            <a:off x="7524750" y="2638425"/>
            <a:ext cx="133350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549FA1-CBCB-4A96-B075-D7D098617681}"/>
              </a:ext>
            </a:extLst>
          </p:cNvPr>
          <p:cNvSpPr>
            <a:spLocks noGrp="1"/>
          </p:cNvSpPr>
          <p:nvPr/>
        </p:nvSpPr>
        <p:spPr>
          <a:xfrm rot="3232233">
            <a:off x="8775379" y="2801524"/>
            <a:ext cx="403868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8D6A71-4786-4BC0-8D3B-F856CA8811AF}"/>
              </a:ext>
            </a:extLst>
          </p:cNvPr>
          <p:cNvSpPr>
            <a:spLocks noGrp="1"/>
          </p:cNvSpPr>
          <p:nvPr/>
        </p:nvSpPr>
        <p:spPr>
          <a:xfrm rot="2767027">
            <a:off x="9043676" y="3088422"/>
            <a:ext cx="343522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9F9188-9B03-4185-A678-3A1751FC2DEF}"/>
              </a:ext>
            </a:extLst>
          </p:cNvPr>
          <p:cNvSpPr>
            <a:spLocks noGrp="1"/>
          </p:cNvSpPr>
          <p:nvPr/>
        </p:nvSpPr>
        <p:spPr>
          <a:xfrm rot="2353213">
            <a:off x="9299878" y="3309395"/>
            <a:ext cx="307369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5933B-0D2F-4E71-B2A5-2FB594D046AA}"/>
              </a:ext>
            </a:extLst>
          </p:cNvPr>
          <p:cNvSpPr>
            <a:spLocks noGrp="1"/>
          </p:cNvSpPr>
          <p:nvPr/>
        </p:nvSpPr>
        <p:spPr>
          <a:xfrm rot="1999948">
            <a:off x="9549182" y="3484876"/>
            <a:ext cx="28501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D4D4AE-1B70-4A18-AE3D-E0B95EFACF7D}"/>
              </a:ext>
            </a:extLst>
          </p:cNvPr>
          <p:cNvSpPr>
            <a:spLocks noGrp="1"/>
          </p:cNvSpPr>
          <p:nvPr/>
        </p:nvSpPr>
        <p:spPr>
          <a:xfrm rot="1705557">
            <a:off x="9794427" y="3627629"/>
            <a:ext cx="270771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A9AB05-00F2-448D-8708-812B366A3412}"/>
              </a:ext>
            </a:extLst>
          </p:cNvPr>
          <p:cNvSpPr>
            <a:spLocks noGrp="1"/>
          </p:cNvSpPr>
          <p:nvPr/>
        </p:nvSpPr>
        <p:spPr>
          <a:xfrm rot="1463002">
            <a:off x="10037215" y="3746043"/>
            <a:ext cx="261445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38B41F-722C-4C68-890C-26B37B053929}"/>
              </a:ext>
            </a:extLst>
          </p:cNvPr>
          <p:cNvSpPr>
            <a:spLocks noGrp="1"/>
          </p:cNvSpPr>
          <p:nvPr/>
        </p:nvSpPr>
        <p:spPr>
          <a:xfrm rot="1263729">
            <a:off x="10278476" y="3845862"/>
            <a:ext cx="255173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2F9007-0E58-43CA-BD76-1EF7F85ED5F4}"/>
              </a:ext>
            </a:extLst>
          </p:cNvPr>
          <p:cNvSpPr>
            <a:spLocks noGrp="1"/>
          </p:cNvSpPr>
          <p:nvPr/>
        </p:nvSpPr>
        <p:spPr>
          <a:xfrm rot="1099640">
            <a:off x="10518763" y="3931154"/>
            <a:ext cx="250849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953AE0-0240-4B9E-9F82-6BCB95660B78}"/>
              </a:ext>
            </a:extLst>
          </p:cNvPr>
          <p:cNvSpPr>
            <a:spLocks noGrp="1"/>
          </p:cNvSpPr>
          <p:nvPr/>
        </p:nvSpPr>
        <p:spPr>
          <a:xfrm rot="963817">
            <a:off x="10758412" y="4004877"/>
            <a:ext cx="24780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1EA537-BB52-4805-B702-D297A448A173}"/>
              </a:ext>
            </a:extLst>
          </p:cNvPr>
          <p:cNvSpPr>
            <a:spLocks noGrp="1"/>
          </p:cNvSpPr>
          <p:nvPr/>
        </p:nvSpPr>
        <p:spPr>
          <a:xfrm rot="5400000">
            <a:off x="7429500" y="3609975"/>
            <a:ext cx="28575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C53EF7-C7F5-4760-B086-015FA46F0886}"/>
              </a:ext>
            </a:extLst>
          </p:cNvPr>
          <p:cNvSpPr>
            <a:spLocks noGrp="1"/>
          </p:cNvSpPr>
          <p:nvPr/>
        </p:nvSpPr>
        <p:spPr>
          <a:xfrm>
            <a:off x="8686800" y="5219700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95A02C-B337-4413-806F-60610CF65BED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5810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안쪽 전위는 바깥 영역의 적분으로 기준점에 연결된다.</a:t>
            </a:r>
          </a:p>
        </p:txBody>
      </p:sp>
    </p:spTree>
    <p:extLst>
      <p:ext uri="{BB962C8B-B14F-4D97-AF65-F5344CB8AC3E}">
        <p14:creationId xmlns:p14="http://schemas.microsoft.com/office/powerpoint/2010/main" val="1528807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25872BA-D20D-4E76-B176-B046648A5C4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§2.3.3 / POISSON'S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38D7A1-C243-4C96-8414-852138A4599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전하밀도는 전위의 라플라시안으로 나타난다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DFF359-A052-4699-B3BA-274A17672034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817EF-CCF0-4261-98F6-4DE77493F2D0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407E04-BCB7-4991-B145-D5C5E2C50F81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9460" y="2166938"/>
            <a:ext cx="7253080" cy="1000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E6E85D2-3B65-440D-B4BA-3E8F433BA298}"/>
              </a:ext>
            </a:extLst>
          </p:cNvPr>
          <p:cNvSpPr>
            <a:spLocks noGrp="1"/>
          </p:cNvSpPr>
          <p:nvPr/>
        </p:nvSpPr>
        <p:spPr>
          <a:xfrm>
            <a:off x="857250" y="4048125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가우스 법칙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FEA798-905C-4765-831F-DC7EC3CBB782}"/>
              </a:ext>
            </a:extLst>
          </p:cNvPr>
          <p:cNvSpPr>
            <a:spLocks noGrp="1"/>
          </p:cNvSpPr>
          <p:nvPr/>
        </p:nvSpPr>
        <p:spPr>
          <a:xfrm>
            <a:off x="857250" y="4514850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6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전하가 발산을 정한다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4A197-E0F2-4550-BC3D-8499237EE9D0}"/>
              </a:ext>
            </a:extLst>
          </p:cNvPr>
          <p:cNvSpPr>
            <a:spLocks noGrp="1"/>
          </p:cNvSpPr>
          <p:nvPr/>
        </p:nvSpPr>
        <p:spPr>
          <a:xfrm>
            <a:off x="4572000" y="4048125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전위 표현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78740C-F95A-4D9F-A730-7561404467E3}"/>
              </a:ext>
            </a:extLst>
          </p:cNvPr>
          <p:cNvSpPr>
            <a:spLocks noGrp="1"/>
          </p:cNvSpPr>
          <p:nvPr/>
        </p:nvSpPr>
        <p:spPr>
          <a:xfrm>
            <a:off x="4572000" y="4514850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6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전기장을 전위로 표현한다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45A0DC-B349-4A83-A143-15CCA3D82A6A}"/>
              </a:ext>
            </a:extLst>
          </p:cNvPr>
          <p:cNvSpPr>
            <a:spLocks noGrp="1"/>
          </p:cNvSpPr>
          <p:nvPr/>
        </p:nvSpPr>
        <p:spPr>
          <a:xfrm>
            <a:off x="8286750" y="4048125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포아송 방정식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B06A67-04F3-4FF8-9FD0-C5D0E4C862F2}"/>
              </a:ext>
            </a:extLst>
          </p:cNvPr>
          <p:cNvSpPr>
            <a:spLocks noGrp="1"/>
          </p:cNvSpPr>
          <p:nvPr/>
        </p:nvSpPr>
        <p:spPr>
          <a:xfrm>
            <a:off x="8286750" y="4514850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6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전하밀도가 곡률을 정한다</a:t>
            </a:r>
          </a:p>
        </p:txBody>
      </p:sp>
    </p:spTree>
    <p:extLst>
      <p:ext uri="{BB962C8B-B14F-4D97-AF65-F5344CB8AC3E}">
        <p14:creationId xmlns:p14="http://schemas.microsoft.com/office/powerpoint/2010/main" val="19680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DF5828-A74F-408F-A6F3-3BBAD41AED4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§2.3.3 / LAPLACE'S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467473-DC79-4592-97F2-85A00F4E880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전하가 없는 영역에서는 전위의 라플라시안이 0이다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0FE499-5452-41F3-973A-4D268A26A094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0EEF7D-F719-4B80-B12F-1F03B3986841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AB05CD-6E2D-40CD-A454-F364F4C96C97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23889" y="1809750"/>
            <a:ext cx="5944221" cy="10001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61392" y="3143250"/>
            <a:ext cx="4469215" cy="10001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55D484F-1000-4F94-99D6-2064BD222038}"/>
              </a:ext>
            </a:extLst>
          </p:cNvPr>
          <p:cNvSpPr>
            <a:spLocks noGrp="1"/>
          </p:cNvSpPr>
          <p:nvPr/>
        </p:nvSpPr>
        <p:spPr>
          <a:xfrm>
            <a:off x="1428750" y="4762500"/>
            <a:ext cx="9334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전하밀도가 0이라는 것은 전기장이 0이라는 뜻이 아니다. 그 영역 안에 전하 원천이 없다는 뜻이다.</a:t>
            </a:r>
          </a:p>
        </p:txBody>
      </p:sp>
    </p:spTree>
    <p:extLst>
      <p:ext uri="{BB962C8B-B14F-4D97-AF65-F5344CB8AC3E}">
        <p14:creationId xmlns:p14="http://schemas.microsoft.com/office/powerpoint/2010/main" val="14412444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282F027-9C24-43D1-888C-16F14C9EEE2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POISSON / PHYSICAL CHECK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941B18-4981-4825-9BDF-018DA1B839D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전위 적분식은 포아송 방정식의 해가 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2C4C8A-A886-4150-B769-C131EC26A949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AED4A1-2934-451D-8987-F0C82A59740E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FCC9C3-81F8-4673-A3A7-EE5ABF0C208E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38814" y="1952625"/>
            <a:ext cx="7514372" cy="1000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470492-1243-40AE-AC6E-C013E70A8CF6}"/>
              </a:ext>
            </a:extLst>
          </p:cNvPr>
          <p:cNvSpPr>
            <a:spLocks noGrp="1"/>
          </p:cNvSpPr>
          <p:nvPr/>
        </p:nvSpPr>
        <p:spPr>
          <a:xfrm>
            <a:off x="857250" y="3857625"/>
            <a:ext cx="3048000" cy="1428750"/>
          </a:xfrm>
          <a:prstGeom prst="rect">
            <a:avLst/>
          </a:prstGeom>
          <a:solidFill>
            <a:srgbClr val="F7F8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3659A5-0B90-443C-A6DE-A1EAFF520C19}"/>
              </a:ext>
            </a:extLst>
          </p:cNvPr>
          <p:cNvSpPr>
            <a:spLocks noGrp="1"/>
          </p:cNvSpPr>
          <p:nvPr/>
        </p:nvSpPr>
        <p:spPr>
          <a:xfrm>
            <a:off x="1123950" y="4095750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전하가 있는 곳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0CD0F5-9B13-4083-A9E3-D0F028F380ED}"/>
              </a:ext>
            </a:extLst>
          </p:cNvPr>
          <p:cNvSpPr>
            <a:spLocks noGrp="1"/>
          </p:cNvSpPr>
          <p:nvPr/>
        </p:nvSpPr>
        <p:spPr>
          <a:xfrm>
            <a:off x="1095375" y="45910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02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∇²V = −ρ/ε₀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C912B7-0D39-47D9-ABA4-EB67651505D1}"/>
              </a:ext>
            </a:extLst>
          </p:cNvPr>
          <p:cNvSpPr>
            <a:spLocks noGrp="1"/>
          </p:cNvSpPr>
          <p:nvPr/>
        </p:nvSpPr>
        <p:spPr>
          <a:xfrm>
            <a:off x="4572000" y="3857625"/>
            <a:ext cx="3048000" cy="1428750"/>
          </a:xfrm>
          <a:prstGeom prst="rect">
            <a:avLst/>
          </a:prstGeom>
          <a:solidFill>
            <a:srgbClr val="E0F0FE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BDDDB6-AB66-447A-89C6-19D30DC2173C}"/>
              </a:ext>
            </a:extLst>
          </p:cNvPr>
          <p:cNvSpPr>
            <a:spLocks noGrp="1"/>
          </p:cNvSpPr>
          <p:nvPr/>
        </p:nvSpPr>
        <p:spPr>
          <a:xfrm>
            <a:off x="4838700" y="4095750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전하가 없는 곳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068CEA-2583-4D29-A79A-6420A4DC64DA}"/>
              </a:ext>
            </a:extLst>
          </p:cNvPr>
          <p:cNvSpPr>
            <a:spLocks noGrp="1"/>
          </p:cNvSpPr>
          <p:nvPr/>
        </p:nvSpPr>
        <p:spPr>
          <a:xfrm>
            <a:off x="4810125" y="45910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02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∇²V = 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78E7D8-E8F1-4D9E-9EF8-65F8AE96FD73}"/>
              </a:ext>
            </a:extLst>
          </p:cNvPr>
          <p:cNvSpPr>
            <a:spLocks noGrp="1"/>
          </p:cNvSpPr>
          <p:nvPr/>
        </p:nvSpPr>
        <p:spPr>
          <a:xfrm>
            <a:off x="8286750" y="3857625"/>
            <a:ext cx="3048000" cy="1428750"/>
          </a:xfrm>
          <a:prstGeom prst="rect">
            <a:avLst/>
          </a:prstGeom>
          <a:solidFill>
            <a:srgbClr val="F7F8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15770-F2D3-4751-8A42-C5298EEBAB4A}"/>
              </a:ext>
            </a:extLst>
          </p:cNvPr>
          <p:cNvSpPr>
            <a:spLocks noGrp="1"/>
          </p:cNvSpPr>
          <p:nvPr/>
        </p:nvSpPr>
        <p:spPr>
          <a:xfrm>
            <a:off x="8553450" y="4095750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경계에서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049A44-A8B0-4BA3-99AB-958D9B5A38A5}"/>
              </a:ext>
            </a:extLst>
          </p:cNvPr>
          <p:cNvSpPr>
            <a:spLocks noGrp="1"/>
          </p:cNvSpPr>
          <p:nvPr/>
        </p:nvSpPr>
        <p:spPr>
          <a:xfrm>
            <a:off x="8524875" y="45910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V의 연속성과 법선 미분을 확인</a:t>
            </a:r>
          </a:p>
        </p:txBody>
      </p:sp>
    </p:spTree>
    <p:extLst>
      <p:ext uri="{BB962C8B-B14F-4D97-AF65-F5344CB8AC3E}">
        <p14:creationId xmlns:p14="http://schemas.microsoft.com/office/powerpoint/2010/main" val="669800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7141C3-12C7-49C3-B8B1-077B4B22547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 / ELECTROSTATIC FIELD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97794C-8D6C-408A-A505-5614005B0CA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벡터장 가운데 정전기장이 될 수 없는 것은 무엇인가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60CD41-8B05-46F1-997E-012450D35089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075249-0165-4500-AFE3-117AE0DEE316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CFCDA8-8B07-4C2A-AC37-E9EABCEEE139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57174" y="1626394"/>
            <a:ext cx="7877651" cy="17002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62196D-8F68-4382-9415-4F1FDAED8519}"/>
              </a:ext>
            </a:extLst>
          </p:cNvPr>
          <p:cNvSpPr>
            <a:spLocks noGrp="1"/>
          </p:cNvSpPr>
          <p:nvPr/>
        </p:nvSpPr>
        <p:spPr>
          <a:xfrm>
            <a:off x="1524000" y="3714750"/>
            <a:ext cx="6858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1. 각 장의 회전을 계산한다.
2. 가능한 장에 대해 원점을 기준으로 전위를 구한다.
3. 전위의 음의 기울기로 검산한다.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579A0B-6142-436D-B28F-B969E6E59918}"/>
              </a:ext>
            </a:extLst>
          </p:cNvPr>
          <p:cNvSpPr>
            <a:spLocks noGrp="1"/>
          </p:cNvSpPr>
          <p:nvPr/>
        </p:nvSpPr>
        <p:spPr>
          <a:xfrm>
            <a:off x="8953500" y="3905250"/>
            <a:ext cx="2095500" cy="1028700"/>
          </a:xfrm>
          <a:prstGeom prst="rect">
            <a:avLst/>
          </a:prstGeom>
          <a:solidFill>
            <a:srgbClr val="E0F0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A601D1-D693-46A1-9B47-81583656CD81}"/>
              </a:ext>
            </a:extLst>
          </p:cNvPr>
          <p:cNvSpPr>
            <a:spLocks noGrp="1"/>
          </p:cNvSpPr>
          <p:nvPr/>
        </p:nvSpPr>
        <p:spPr>
          <a:xfrm>
            <a:off x="9220200" y="405765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판정 기준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920314-F24F-40E2-B346-BE27E58907CE}"/>
              </a:ext>
            </a:extLst>
          </p:cNvPr>
          <p:cNvSpPr>
            <a:spLocks noGrp="1"/>
          </p:cNvSpPr>
          <p:nvPr/>
        </p:nvSpPr>
        <p:spPr>
          <a:xfrm>
            <a:off x="9144000" y="44196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∇×E = 0</a:t>
            </a:r>
          </a:p>
        </p:txBody>
      </p:sp>
    </p:spTree>
    <p:extLst>
      <p:ext uri="{BB962C8B-B14F-4D97-AF65-F5344CB8AC3E}">
        <p14:creationId xmlns:p14="http://schemas.microsoft.com/office/powerpoint/2010/main" val="5500666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E17C15C-8D9B-4A26-B08A-3F6FB4C705C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10.5 PRACTICE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4E54C8-EAC5-4EB9-98DA-88DE03F48D6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세 문제로 발산, 대칭, 전위를 연결한다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E2B1CE-FDAA-462A-B370-11991BAEE2A0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49397F-1EB1-4E60-83B2-6EF1DD15B970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0701AD-DB36-4B9A-B1E1-8C36777795BD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5E46C7-AFF1-4148-9F01-AC91D15F1974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P1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DEF22E-1CE2-497B-A122-7E9E7A60E26C}"/>
              </a:ext>
            </a:extLst>
          </p:cNvPr>
          <p:cNvSpPr>
            <a:spLocks noGrp="1"/>
          </p:cNvSpPr>
          <p:nvPr/>
        </p:nvSpPr>
        <p:spPr>
          <a:xfrm>
            <a:off x="1524000" y="156210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국소식과 적분식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0DF201-D5F5-4E8F-8104-76B010CB9B6C}"/>
              </a:ext>
            </a:extLst>
          </p:cNvPr>
          <p:cNvSpPr>
            <a:spLocks noGrp="1"/>
          </p:cNvSpPr>
          <p:nvPr/>
        </p:nvSpPr>
        <p:spPr>
          <a:xfrm>
            <a:off x="4095750" y="1524000"/>
            <a:ext cx="704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7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구면좌표에서 E = kr³ r̂이다. 전하밀도 ρ(r)를 구하고, 반지름 R인 구에 포함된 총전하를 두 방법으로 계산하시오.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95750" y="2286000"/>
            <a:ext cx="6277476" cy="5715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D969AC-2EB9-4B2C-B8B8-BD89C416148D}"/>
              </a:ext>
            </a:extLst>
          </p:cNvPr>
          <p:cNvSpPr>
            <a:spLocks noGrp="1"/>
          </p:cNvSpPr>
          <p:nvPr/>
        </p:nvSpPr>
        <p:spPr>
          <a:xfrm>
            <a:off x="609600" y="29289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18F835-30D0-435F-A98A-872ABB2FCFD6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P2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4E8490-90A3-4A96-A61A-BEC7566B702D}"/>
              </a:ext>
            </a:extLst>
          </p:cNvPr>
          <p:cNvSpPr>
            <a:spLocks noGrp="1"/>
          </p:cNvSpPr>
          <p:nvPr/>
        </p:nvSpPr>
        <p:spPr>
          <a:xfrm>
            <a:off x="1524000" y="310515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구면껍질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ED245E-5014-4B11-B218-158535E1683E}"/>
              </a:ext>
            </a:extLst>
          </p:cNvPr>
          <p:cNvSpPr>
            <a:spLocks noGrp="1"/>
          </p:cNvSpPr>
          <p:nvPr/>
        </p:nvSpPr>
        <p:spPr>
          <a:xfrm>
            <a:off x="4095750" y="3067050"/>
            <a:ext cx="704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7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반지름 R, 균일 표면전하밀도 σ인 얇은 구면껍질의 안팎 전기장과 전위를 구하시오. 기준은 V(∞)=0이다.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95750" y="3890132"/>
            <a:ext cx="7048500" cy="44933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F567B14-52A2-405B-BE51-24699C2532BD}"/>
              </a:ext>
            </a:extLst>
          </p:cNvPr>
          <p:cNvSpPr>
            <a:spLocks noGrp="1"/>
          </p:cNvSpPr>
          <p:nvPr/>
        </p:nvSpPr>
        <p:spPr>
          <a:xfrm>
            <a:off x="609600" y="447198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3D5912-B1A5-4294-915F-0722F4C2C98B}"/>
              </a:ext>
            </a:extLst>
          </p:cNvPr>
          <p:cNvSpPr>
            <a:spLocks noGrp="1"/>
          </p:cNvSpPr>
          <p:nvPr/>
        </p:nvSpPr>
        <p:spPr>
          <a:xfrm>
            <a:off x="723900" y="464820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P3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1C4907-093F-4A20-8BBF-977FE61C6D9B}"/>
              </a:ext>
            </a:extLst>
          </p:cNvPr>
          <p:cNvSpPr>
            <a:spLocks noGrp="1"/>
          </p:cNvSpPr>
          <p:nvPr/>
        </p:nvSpPr>
        <p:spPr>
          <a:xfrm>
            <a:off x="1524000" y="464820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평행 평면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3A96F0-A974-4B35-9688-9026AC096DE1}"/>
              </a:ext>
            </a:extLst>
          </p:cNvPr>
          <p:cNvSpPr>
            <a:spLocks noGrp="1"/>
          </p:cNvSpPr>
          <p:nvPr/>
        </p:nvSpPr>
        <p:spPr>
          <a:xfrm>
            <a:off x="4095750" y="4610100"/>
            <a:ext cx="704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7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거리 d만큼 떨어진 무한 평면에 +σ와 −σ가 있다. 세 영역의 전기장과 두 평면 사이 전위차를 구하시오.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95750" y="5446932"/>
            <a:ext cx="7048500" cy="42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748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D76860F-8D99-4D36-9770-5A99CC28840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PRACTICE / RESULT CHECK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EC404C-097F-4F38-BC5F-C1D929D8034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최종 결과는 방향, 단위, 경계에서 함께 검증한다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41CA26-41F7-4331-96A9-EF909380102C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E3C88C-38A8-4013-8F28-40FC65CF1019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6C4822-DDAC-4C32-93E3-DBAC7F819251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287C52-B4AA-49CF-9ED7-17EA0D8A8674}"/>
              </a:ext>
            </a:extLst>
          </p:cNvPr>
          <p:cNvSpPr>
            <a:spLocks noGrp="1"/>
          </p:cNvSpPr>
          <p:nvPr/>
        </p:nvSpPr>
        <p:spPr>
          <a:xfrm>
            <a:off x="800100" y="1762125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75" b="1" i="1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rPr>
              <a:t>P1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76400" y="1772359"/>
            <a:ext cx="7048500" cy="60818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9294100-0BA2-4D84-B53B-00EA29F58ABB}"/>
              </a:ext>
            </a:extLst>
          </p:cNvPr>
          <p:cNvSpPr>
            <a:spLocks noGrp="1"/>
          </p:cNvSpPr>
          <p:nvPr/>
        </p:nvSpPr>
        <p:spPr>
          <a:xfrm>
            <a:off x="8858250" y="1695450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ρ의 단위와 두 Q 계산의 일치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BBD5AC-FC72-48E3-AD14-9E3728217042}"/>
              </a:ext>
            </a:extLst>
          </p:cNvPr>
          <p:cNvSpPr>
            <a:spLocks noGrp="1"/>
          </p:cNvSpPr>
          <p:nvPr/>
        </p:nvSpPr>
        <p:spPr>
          <a:xfrm>
            <a:off x="800100" y="2757488"/>
            <a:ext cx="10534650" cy="95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A71FDF-7D8C-4760-98F4-794B257507A5}"/>
              </a:ext>
            </a:extLst>
          </p:cNvPr>
          <p:cNvSpPr>
            <a:spLocks noGrp="1"/>
          </p:cNvSpPr>
          <p:nvPr/>
        </p:nvSpPr>
        <p:spPr>
          <a:xfrm>
            <a:off x="800100" y="3286125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75" b="1" i="1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rPr>
              <a:t>P2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399538" y="3143250"/>
            <a:ext cx="5602224" cy="9144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8574242-EA46-4604-8D97-04760F5D1414}"/>
              </a:ext>
            </a:extLst>
          </p:cNvPr>
          <p:cNvSpPr>
            <a:spLocks noGrp="1"/>
          </p:cNvSpPr>
          <p:nvPr/>
        </p:nvSpPr>
        <p:spPr>
          <a:xfrm>
            <a:off x="8858250" y="3219450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 = R에서 V의 연속성과 E의 불연속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9479C1-D8E9-43D4-B8C8-83BDF215E9B4}"/>
              </a:ext>
            </a:extLst>
          </p:cNvPr>
          <p:cNvSpPr>
            <a:spLocks noGrp="1"/>
          </p:cNvSpPr>
          <p:nvPr/>
        </p:nvSpPr>
        <p:spPr>
          <a:xfrm>
            <a:off x="800100" y="4281488"/>
            <a:ext cx="10534650" cy="9525"/>
          </a:xfrm>
          <a:prstGeom prst="rect">
            <a:avLst/>
          </a:prstGeom>
          <a:solidFill>
            <a:srgbClr val="344054"/>
          </a:solidFill>
          <a:ln w="0">
            <a:solidFill>
              <a:srgbClr val="34405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E262F5-E793-4467-B8B4-0AAC3031006E}"/>
              </a:ext>
            </a:extLst>
          </p:cNvPr>
          <p:cNvSpPr>
            <a:spLocks noGrp="1"/>
          </p:cNvSpPr>
          <p:nvPr/>
        </p:nvSpPr>
        <p:spPr>
          <a:xfrm>
            <a:off x="800100" y="4810125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75" b="1" i="1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rPr>
              <a:t>P3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366010" y="4667250"/>
            <a:ext cx="5669280" cy="914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7616E7A-C670-4129-9B5A-E7FD24B2D89B}"/>
              </a:ext>
            </a:extLst>
          </p:cNvPr>
          <p:cNvSpPr>
            <a:spLocks noGrp="1"/>
          </p:cNvSpPr>
          <p:nvPr/>
        </p:nvSpPr>
        <p:spPr>
          <a:xfrm>
            <a:off x="8858250" y="4743450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E의 방향과 ΔV의 부호</a:t>
            </a:r>
          </a:p>
        </p:txBody>
      </p:sp>
    </p:spTree>
    <p:extLst>
      <p:ext uri="{BB962C8B-B14F-4D97-AF65-F5344CB8AC3E}">
        <p14:creationId xmlns:p14="http://schemas.microsoft.com/office/powerpoint/2010/main" val="13616433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676F061-7E08-4F35-869F-060344F6A24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00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W04-05 / SYNTHESIS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CAE663-2CB6-4EB0-B59B-FFFCC44CD78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전하분포가 전기장과 전위의 공간 변화를 결정한다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DEDF7C-9F3B-4597-8364-4543B0619252}"/>
              </a:ext>
            </a:extLst>
          </p:cNvPr>
          <p:cNvSpPr>
            <a:spLocks noGrp="1"/>
          </p:cNvSpPr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3DC95-809E-45EF-978B-A09E1CB7E157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04-05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9CC9A8-2E19-4D64-9613-768BEF1D026F}"/>
              </a:ext>
            </a:extLst>
          </p:cNvPr>
          <p:cNvSpPr>
            <a:spLocks noGrp="1"/>
          </p:cNvSpPr>
          <p:nvPr/>
        </p:nvSpPr>
        <p:spPr>
          <a:xfrm>
            <a:off x="10820400" y="65151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39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953096"/>
            <a:ext cx="10477500" cy="9610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7B2CE0B-A9CF-480F-B736-13060D83F52A}"/>
              </a:ext>
            </a:extLst>
          </p:cNvPr>
          <p:cNvSpPr>
            <a:spLocks noGrp="1"/>
          </p:cNvSpPr>
          <p:nvPr/>
        </p:nvSpPr>
        <p:spPr>
          <a:xfrm>
            <a:off x="857250" y="38481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발산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FB3A2B-481C-4BD1-A49A-D6A187142F82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원천의 위치와 세기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43D635-3534-4790-A60C-9747B0852BA0}"/>
              </a:ext>
            </a:extLst>
          </p:cNvPr>
          <p:cNvSpPr>
            <a:spLocks noGrp="1"/>
          </p:cNvSpPr>
          <p:nvPr/>
        </p:nvSpPr>
        <p:spPr>
          <a:xfrm>
            <a:off x="4572000" y="38481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회전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C1ECA7-A51F-4FE9-960E-BBB35B289707}"/>
              </a:ext>
            </a:extLst>
          </p:cNvPr>
          <p:cNvSpPr>
            <a:spLocks noGrp="1"/>
          </p:cNvSpPr>
          <p:nvPr/>
        </p:nvSpPr>
        <p:spPr>
          <a:xfrm>
            <a:off x="4572000" y="4324350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경로독립성과 보존성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A37B3E-6536-4D0A-9766-0E710F8FC8EB}"/>
              </a:ext>
            </a:extLst>
          </p:cNvPr>
          <p:cNvSpPr>
            <a:spLocks noGrp="1"/>
          </p:cNvSpPr>
          <p:nvPr/>
        </p:nvSpPr>
        <p:spPr>
          <a:xfrm>
            <a:off x="8286750" y="38481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라플라시안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38487B-B148-400B-8DAB-96217E6B1F78}"/>
              </a:ext>
            </a:extLst>
          </p:cNvPr>
          <p:cNvSpPr>
            <a:spLocks noGrp="1"/>
          </p:cNvSpPr>
          <p:nvPr/>
        </p:nvSpPr>
        <p:spPr>
          <a:xfrm>
            <a:off x="8286750" y="4324350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전위의 곡률과 전하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12125E-A763-4063-AF3A-8162683DA764}"/>
              </a:ext>
            </a:extLst>
          </p:cNvPr>
          <p:cNvSpPr>
            <a:spLocks noGrp="1"/>
          </p:cNvSpPr>
          <p:nvPr/>
        </p:nvSpPr>
        <p:spPr>
          <a:xfrm>
            <a:off x="1657350" y="5400675"/>
            <a:ext cx="88773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0610B-AAAF-4B8F-9AF0-F31CF4A330E9}"/>
              </a:ext>
            </a:extLst>
          </p:cNvPr>
          <p:cNvSpPr>
            <a:spLocks noGrp="1"/>
          </p:cNvSpPr>
          <p:nvPr/>
        </p:nvSpPr>
        <p:spPr>
          <a:xfrm>
            <a:off x="1524000" y="5619750"/>
            <a:ext cx="914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0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다음 주: 정전기적 일과 에너지, 도체</a:t>
            </a:r>
          </a:p>
        </p:txBody>
      </p:sp>
    </p:spTree>
    <p:extLst>
      <p:ext uri="{BB962C8B-B14F-4D97-AF65-F5344CB8AC3E}">
        <p14:creationId xmlns:p14="http://schemas.microsoft.com/office/powerpoint/2010/main" val="861776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5154</Words>
  <Application>Microsoft Macintosh PowerPoint</Application>
  <DocSecurity>0</DocSecurity>
  <PresentationFormat>Widescreen</PresentationFormat>
  <Paragraphs>746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Apple SD Gothic Neo</vt:lpstr>
      <vt:lpstr>Calibri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정재일</cp:lastModifiedBy>
  <cp:revision>1</cp:revision>
  <dcterms:created xsi:type="dcterms:W3CDTF">2026-09-25T08:21:53Z</dcterms:created>
  <dcterms:modified xsi:type="dcterms:W3CDTF">2026-09-25T09:12:49Z</dcterms:modified>
</cp:coreProperties>
</file>