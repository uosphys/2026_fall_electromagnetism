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05b045523f43b8" /><Relationship Type="http://schemas.openxmlformats.org/officeDocument/2006/relationships/extended-properties" Target="/docProps/app.xml" Id="R843b2cfe93d34035" /><Relationship Type="http://schemas.openxmlformats.org/officeDocument/2006/relationships/officeDocument" Target="/ppt/presentation.xml" Id="Rd9959d08971c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b0cb64b37d4c4d"/>
  </p:sldMasterIdLst>
  <p:notesMasterIdLst>
    <p:notesMasterId xmlns:r="http://schemas.openxmlformats.org/officeDocument/2006/relationships" r:id="R2fa6dfec912a4a55"/>
  </p:notesMasterIdLst>
  <p:sldIdLst>
    <p:sldId xmlns:r="http://schemas.openxmlformats.org/officeDocument/2006/relationships" id="256" r:id="R00de2c59f115436c"/>
    <p:sldId xmlns:r="http://schemas.openxmlformats.org/officeDocument/2006/relationships" id="257" r:id="R7cadfda83a864899"/>
    <p:sldId xmlns:r="http://schemas.openxmlformats.org/officeDocument/2006/relationships" id="258" r:id="Rd0c4245d12b240d0"/>
    <p:sldId xmlns:r="http://schemas.openxmlformats.org/officeDocument/2006/relationships" id="259" r:id="R0dadd647707b4135"/>
    <p:sldId xmlns:r="http://schemas.openxmlformats.org/officeDocument/2006/relationships" id="260" r:id="R9429b0d2435c4cd9"/>
    <p:sldId xmlns:r="http://schemas.openxmlformats.org/officeDocument/2006/relationships" id="261" r:id="Re0b9b316e0474684"/>
    <p:sldId xmlns:r="http://schemas.openxmlformats.org/officeDocument/2006/relationships" id="262" r:id="Re2a2394924d6412b"/>
    <p:sldId xmlns:r="http://schemas.openxmlformats.org/officeDocument/2006/relationships" id="263" r:id="R4386992cd9d2447a"/>
    <p:sldId xmlns:r="http://schemas.openxmlformats.org/officeDocument/2006/relationships" id="264" r:id="R349249ad4aa6483a"/>
    <p:sldId xmlns:r="http://schemas.openxmlformats.org/officeDocument/2006/relationships" id="265" r:id="R7213d022f49a4d86"/>
    <p:sldId xmlns:r="http://schemas.openxmlformats.org/officeDocument/2006/relationships" id="266" r:id="R9c7b355b4abc4574"/>
    <p:sldId xmlns:r="http://schemas.openxmlformats.org/officeDocument/2006/relationships" id="267" r:id="Ra1a4fc4f4d7e471c"/>
    <p:sldId xmlns:r="http://schemas.openxmlformats.org/officeDocument/2006/relationships" id="268" r:id="R1359e846f91746bd"/>
    <p:sldId xmlns:r="http://schemas.openxmlformats.org/officeDocument/2006/relationships" id="269" r:id="R952d58e12042471b"/>
    <p:sldId xmlns:r="http://schemas.openxmlformats.org/officeDocument/2006/relationships" id="270" r:id="R692ecfb809934ae6"/>
    <p:sldId xmlns:r="http://schemas.openxmlformats.org/officeDocument/2006/relationships" id="271" r:id="R3a4a80a6d6184a1c"/>
    <p:sldId xmlns:r="http://schemas.openxmlformats.org/officeDocument/2006/relationships" id="272" r:id="Re7f91969690447d1"/>
    <p:sldId xmlns:r="http://schemas.openxmlformats.org/officeDocument/2006/relationships" id="273" r:id="R2a339debd91f4492"/>
    <p:sldId xmlns:r="http://schemas.openxmlformats.org/officeDocument/2006/relationships" id="274" r:id="Re12c18b143dd4a8c"/>
    <p:sldId xmlns:r="http://schemas.openxmlformats.org/officeDocument/2006/relationships" id="275" r:id="R5608c36496c64a85"/>
    <p:sldId xmlns:r="http://schemas.openxmlformats.org/officeDocument/2006/relationships" id="276" r:id="Re8d5d4ef61bf4885"/>
    <p:sldId xmlns:r="http://schemas.openxmlformats.org/officeDocument/2006/relationships" id="277" r:id="Rac58d5341a3b4ed5"/>
    <p:sldId xmlns:r="http://schemas.openxmlformats.org/officeDocument/2006/relationships" id="278" r:id="R1b256e471bd347e4"/>
    <p:sldId xmlns:r="http://schemas.openxmlformats.org/officeDocument/2006/relationships" id="279" r:id="R9428d81bfc264817"/>
    <p:sldId xmlns:r="http://schemas.openxmlformats.org/officeDocument/2006/relationships" id="280" r:id="R0591b48e9ab64e4d"/>
    <p:sldId xmlns:r="http://schemas.openxmlformats.org/officeDocument/2006/relationships" id="281" r:id="R46f8917b7d254404"/>
    <p:sldId xmlns:r="http://schemas.openxmlformats.org/officeDocument/2006/relationships" id="282" r:id="R28ba4603b2bd4231"/>
    <p:sldId xmlns:r="http://schemas.openxmlformats.org/officeDocument/2006/relationships" id="283" r:id="R0af340bab5174e54"/>
    <p:sldId xmlns:r="http://schemas.openxmlformats.org/officeDocument/2006/relationships" id="284" r:id="R7070f5c27c1a4eb1"/>
    <p:sldId xmlns:r="http://schemas.openxmlformats.org/officeDocument/2006/relationships" id="285" r:id="Rf307fbbd63634d76"/>
    <p:sldId xmlns:r="http://schemas.openxmlformats.org/officeDocument/2006/relationships" id="286" r:id="R84d06fb65a4e4ff1"/>
    <p:sldId xmlns:r="http://schemas.openxmlformats.org/officeDocument/2006/relationships" id="287" r:id="R7bc6bec898f842db"/>
    <p:sldId xmlns:r="http://schemas.openxmlformats.org/officeDocument/2006/relationships" id="288" r:id="R936e68bfb7e7475f"/>
    <p:sldId xmlns:r="http://schemas.openxmlformats.org/officeDocument/2006/relationships" id="289" r:id="R50e48d6af847442c"/>
    <p:sldId xmlns:r="http://schemas.openxmlformats.org/officeDocument/2006/relationships" id="290" r:id="Rb520ff6a2ac645fd"/>
    <p:sldId xmlns:r="http://schemas.openxmlformats.org/officeDocument/2006/relationships" id="291" r:id="R7e2cd0b512ef449d"/>
    <p:sldId xmlns:r="http://schemas.openxmlformats.org/officeDocument/2006/relationships" id="292" r:id="R25421d6e68a44886"/>
    <p:sldId xmlns:r="http://schemas.openxmlformats.org/officeDocument/2006/relationships" id="293" r:id="Rd351182ad242499d"/>
    <p:sldId xmlns:r="http://schemas.openxmlformats.org/officeDocument/2006/relationships" id="294" r:id="Rffe0a2a4a0164559"/>
    <p:sldId xmlns:r="http://schemas.openxmlformats.org/officeDocument/2006/relationships" id="295" r:id="R0b2d0c7bb9fc4b54"/>
    <p:sldId xmlns:r="http://schemas.openxmlformats.org/officeDocument/2006/relationships" id="296" r:id="Ra4c08d84a3c7488f"/>
    <p:sldId xmlns:r="http://schemas.openxmlformats.org/officeDocument/2006/relationships" id="297" r:id="R9bdc2a4dbab64c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eb049da9fb4d4e" /><Relationship Type="http://schemas.openxmlformats.org/officeDocument/2006/relationships/slideMaster" Target="/ppt/slideMasters/slideMaster1.xml" Id="Rb7b0cb64b37d4c4d" /><Relationship Type="http://schemas.openxmlformats.org/officeDocument/2006/relationships/notesMaster" Target="/ppt/notesMasters/notesMaster1.xml" Id="R2fa6dfec912a4a55" /><Relationship Type="http://schemas.openxmlformats.org/officeDocument/2006/relationships/presProps" Target="/ppt/presProps.xml" Id="Rdeaa1463e30244d9" /><Relationship Type="http://schemas.openxmlformats.org/officeDocument/2006/relationships/tableStyles" Target="/ppt/tableStyles.xml" Id="R49e0a96ace894ac9" /><Relationship Type="http://schemas.openxmlformats.org/officeDocument/2006/relationships/slide" Target="/ppt/slides/slide1.xml" Id="R00de2c59f115436c" /><Relationship Type="http://schemas.openxmlformats.org/officeDocument/2006/relationships/slide" Target="/ppt/slides/slide2.xml" Id="R7cadfda83a864899" /><Relationship Type="http://schemas.openxmlformats.org/officeDocument/2006/relationships/slide" Target="/ppt/slides/slide3.xml" Id="Rd0c4245d12b240d0" /><Relationship Type="http://schemas.openxmlformats.org/officeDocument/2006/relationships/slide" Target="/ppt/slides/slide4.xml" Id="R0dadd647707b4135" /><Relationship Type="http://schemas.openxmlformats.org/officeDocument/2006/relationships/slide" Target="/ppt/slides/slide5.xml" Id="R9429b0d2435c4cd9" /><Relationship Type="http://schemas.openxmlformats.org/officeDocument/2006/relationships/slide" Target="/ppt/slides/slide6.xml" Id="Re0b9b316e0474684" /><Relationship Type="http://schemas.openxmlformats.org/officeDocument/2006/relationships/slide" Target="/ppt/slides/slide7.xml" Id="Re2a2394924d6412b" /><Relationship Type="http://schemas.openxmlformats.org/officeDocument/2006/relationships/slide" Target="/ppt/slides/slide8.xml" Id="R4386992cd9d2447a" /><Relationship Type="http://schemas.openxmlformats.org/officeDocument/2006/relationships/slide" Target="/ppt/slides/slide9.xml" Id="R349249ad4aa6483a" /><Relationship Type="http://schemas.openxmlformats.org/officeDocument/2006/relationships/slide" Target="/ppt/slides/slide10.xml" Id="R7213d022f49a4d86" /><Relationship Type="http://schemas.openxmlformats.org/officeDocument/2006/relationships/slide" Target="/ppt/slides/slide11.xml" Id="R9c7b355b4abc4574" /><Relationship Type="http://schemas.openxmlformats.org/officeDocument/2006/relationships/slide" Target="/ppt/slides/slide12.xml" Id="Ra1a4fc4f4d7e471c" /><Relationship Type="http://schemas.openxmlformats.org/officeDocument/2006/relationships/slide" Target="/ppt/slides/slide13.xml" Id="R1359e846f91746bd" /><Relationship Type="http://schemas.openxmlformats.org/officeDocument/2006/relationships/slide" Target="/ppt/slides/slide14.xml" Id="R952d58e12042471b" /><Relationship Type="http://schemas.openxmlformats.org/officeDocument/2006/relationships/slide" Target="/ppt/slides/slide15.xml" Id="R692ecfb809934ae6" /><Relationship Type="http://schemas.openxmlformats.org/officeDocument/2006/relationships/slide" Target="/ppt/slides/slide16.xml" Id="R3a4a80a6d6184a1c" /><Relationship Type="http://schemas.openxmlformats.org/officeDocument/2006/relationships/slide" Target="/ppt/slides/slide17.xml" Id="Re7f91969690447d1" /><Relationship Type="http://schemas.openxmlformats.org/officeDocument/2006/relationships/slide" Target="/ppt/slides/slide18.xml" Id="R2a339debd91f4492" /><Relationship Type="http://schemas.openxmlformats.org/officeDocument/2006/relationships/slide" Target="/ppt/slides/slide19.xml" Id="Re12c18b143dd4a8c" /><Relationship Type="http://schemas.openxmlformats.org/officeDocument/2006/relationships/slide" Target="/ppt/slides/slide20.xml" Id="R5608c36496c64a85" /><Relationship Type="http://schemas.openxmlformats.org/officeDocument/2006/relationships/slide" Target="/ppt/slides/slide21.xml" Id="Re8d5d4ef61bf4885" /><Relationship Type="http://schemas.openxmlformats.org/officeDocument/2006/relationships/slide" Target="/ppt/slides/slide22.xml" Id="Rac58d5341a3b4ed5" /><Relationship Type="http://schemas.openxmlformats.org/officeDocument/2006/relationships/slide" Target="/ppt/slides/slide23.xml" Id="R1b256e471bd347e4" /><Relationship Type="http://schemas.openxmlformats.org/officeDocument/2006/relationships/slide" Target="/ppt/slides/slide24.xml" Id="R9428d81bfc264817" /><Relationship Type="http://schemas.openxmlformats.org/officeDocument/2006/relationships/slide" Target="/ppt/slides/slide25.xml" Id="R0591b48e9ab64e4d" /><Relationship Type="http://schemas.openxmlformats.org/officeDocument/2006/relationships/slide" Target="/ppt/slides/slide26.xml" Id="R46f8917b7d254404" /><Relationship Type="http://schemas.openxmlformats.org/officeDocument/2006/relationships/slide" Target="/ppt/slides/slide27.xml" Id="R28ba4603b2bd4231" /><Relationship Type="http://schemas.openxmlformats.org/officeDocument/2006/relationships/slide" Target="/ppt/slides/slide28.xml" Id="R0af340bab5174e54" /><Relationship Type="http://schemas.openxmlformats.org/officeDocument/2006/relationships/slide" Target="/ppt/slides/slide29.xml" Id="R7070f5c27c1a4eb1" /><Relationship Type="http://schemas.openxmlformats.org/officeDocument/2006/relationships/slide" Target="/ppt/slides/slide30.xml" Id="Rf307fbbd63634d76" /><Relationship Type="http://schemas.openxmlformats.org/officeDocument/2006/relationships/slide" Target="/ppt/slides/slide31.xml" Id="R84d06fb65a4e4ff1" /><Relationship Type="http://schemas.openxmlformats.org/officeDocument/2006/relationships/slide" Target="/ppt/slides/slide32.xml" Id="R7bc6bec898f842db" /><Relationship Type="http://schemas.openxmlformats.org/officeDocument/2006/relationships/slide" Target="/ppt/slides/slide33.xml" Id="R936e68bfb7e7475f" /><Relationship Type="http://schemas.openxmlformats.org/officeDocument/2006/relationships/slide" Target="/ppt/slides/slide34.xml" Id="R50e48d6af847442c" /><Relationship Type="http://schemas.openxmlformats.org/officeDocument/2006/relationships/slide" Target="/ppt/slides/slide35.xml" Id="Rb520ff6a2ac645fd" /><Relationship Type="http://schemas.openxmlformats.org/officeDocument/2006/relationships/slide" Target="/ppt/slides/slide36.xml" Id="R7e2cd0b512ef449d" /><Relationship Type="http://schemas.openxmlformats.org/officeDocument/2006/relationships/slide" Target="/ppt/slides/slide37.xml" Id="R25421d6e68a44886" /><Relationship Type="http://schemas.openxmlformats.org/officeDocument/2006/relationships/slide" Target="/ppt/slides/slide38.xml" Id="Rd351182ad242499d" /><Relationship Type="http://schemas.openxmlformats.org/officeDocument/2006/relationships/slide" Target="/ppt/slides/slide39.xml" Id="Rffe0a2a4a0164559" /><Relationship Type="http://schemas.openxmlformats.org/officeDocument/2006/relationships/slide" Target="/ppt/slides/slide40.xml" Id="R0b2d0c7bb9fc4b54" /><Relationship Type="http://schemas.openxmlformats.org/officeDocument/2006/relationships/slide" Target="/ppt/slides/slide41.xml" Id="Ra4c08d84a3c7488f" /><Relationship Type="http://schemas.openxmlformats.org/officeDocument/2006/relationships/slide" Target="/ppt/slides/slide42.xml" Id="R9bdc2a4dbab64c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f67d3f134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03a8af8bf4529" /><Relationship Type="http://schemas.openxmlformats.org/officeDocument/2006/relationships/notesMaster" Target="/ppt/notesMasters/notesMaster1.xml" Id="R2308091bbcf041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d86ac78bed40d1" /><Relationship Type="http://schemas.openxmlformats.org/officeDocument/2006/relationships/notesMaster" Target="/ppt/notesMasters/notesMaster1.xml" Id="R66360f8897e4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25e256d3a401c" /><Relationship Type="http://schemas.openxmlformats.org/officeDocument/2006/relationships/notesMaster" Target="/ppt/notesMasters/notesMaster1.xml" Id="R8b268d9e4d7f42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224b4aec4d41b6" /><Relationship Type="http://schemas.openxmlformats.org/officeDocument/2006/relationships/notesMaster" Target="/ppt/notesMasters/notesMaster1.xml" Id="R0a418e3363d442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c385fc3b7f4c42" /><Relationship Type="http://schemas.openxmlformats.org/officeDocument/2006/relationships/notesMaster" Target="/ppt/notesMasters/notesMaster1.xml" Id="R333051e954b140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8fd27d55ad4a7e" /><Relationship Type="http://schemas.openxmlformats.org/officeDocument/2006/relationships/notesMaster" Target="/ppt/notesMasters/notesMaster1.xml" Id="R4ce80050fc7842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2369743b904bf2" /><Relationship Type="http://schemas.openxmlformats.org/officeDocument/2006/relationships/notesMaster" Target="/ppt/notesMasters/notesMaster1.xml" Id="R555c162011df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b984c0dd4a4f26" /><Relationship Type="http://schemas.openxmlformats.org/officeDocument/2006/relationships/notesMaster" Target="/ppt/notesMasters/notesMaster1.xml" Id="Read363edad1b4a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0b965bae9c485b" /><Relationship Type="http://schemas.openxmlformats.org/officeDocument/2006/relationships/notesMaster" Target="/ppt/notesMasters/notesMaster1.xml" Id="Ra1eaa3fc7f0a4f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ca0a9315e546e5" /><Relationship Type="http://schemas.openxmlformats.org/officeDocument/2006/relationships/notesMaster" Target="/ppt/notesMasters/notesMaster1.xml" Id="R3f8bcd0af51f4d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845ff0b9b94c9a" /><Relationship Type="http://schemas.openxmlformats.org/officeDocument/2006/relationships/notesMaster" Target="/ppt/notesMasters/notesMaster1.xml" Id="Rdbd9c0c44aa845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0dc4b300964e13" /><Relationship Type="http://schemas.openxmlformats.org/officeDocument/2006/relationships/notesMaster" Target="/ppt/notesMasters/notesMaster1.xml" Id="R5e70da4d70cf44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905bcc84b8479d" /><Relationship Type="http://schemas.openxmlformats.org/officeDocument/2006/relationships/notesMaster" Target="/ppt/notesMasters/notesMaster1.xml" Id="R346a1090fcaa4e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30709d21184b08" /><Relationship Type="http://schemas.openxmlformats.org/officeDocument/2006/relationships/notesMaster" Target="/ppt/notesMasters/notesMaster1.xml" Id="R83ca10b69a944fe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6e1dbcd86c4b0b" /><Relationship Type="http://schemas.openxmlformats.org/officeDocument/2006/relationships/notesMaster" Target="/ppt/notesMasters/notesMaster1.xml" Id="Rf58e9b2e403c41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38ab9dd3d6429f" /><Relationship Type="http://schemas.openxmlformats.org/officeDocument/2006/relationships/notesMaster" Target="/ppt/notesMasters/notesMaster1.xml" Id="R340fab8f423847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d99f98fee846d1" /><Relationship Type="http://schemas.openxmlformats.org/officeDocument/2006/relationships/notesMaster" Target="/ppt/notesMasters/notesMaster1.xml" Id="R8043d023e7904f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656783092e4bfa" /><Relationship Type="http://schemas.openxmlformats.org/officeDocument/2006/relationships/notesMaster" Target="/ppt/notesMasters/notesMaster1.xml" Id="R5b76db11412947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d62fe1fe754a14" /><Relationship Type="http://schemas.openxmlformats.org/officeDocument/2006/relationships/notesMaster" Target="/ppt/notesMasters/notesMaster1.xml" Id="Red02a8da65cf46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3ea02a253a4458" /><Relationship Type="http://schemas.openxmlformats.org/officeDocument/2006/relationships/notesMaster" Target="/ppt/notesMasters/notesMaster1.xml" Id="R2f07f7cc02894e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b472a8ca0443f9" /><Relationship Type="http://schemas.openxmlformats.org/officeDocument/2006/relationships/notesMaster" Target="/ppt/notesMasters/notesMaster1.xml" Id="R1a19ae32e2174d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052d3354124890" /><Relationship Type="http://schemas.openxmlformats.org/officeDocument/2006/relationships/notesMaster" Target="/ppt/notesMasters/notesMaster1.xml" Id="R0cb586b2d4ac4d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0394fb35dda4a0a" /><Relationship Type="http://schemas.openxmlformats.org/officeDocument/2006/relationships/notesMaster" Target="/ppt/notesMasters/notesMaster1.xml" Id="R46061c50baea48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28384d0bc84699" /><Relationship Type="http://schemas.openxmlformats.org/officeDocument/2006/relationships/notesMaster" Target="/ppt/notesMasters/notesMaster1.xml" Id="R1de8a90c1a254b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1dd5feeef54cff" /><Relationship Type="http://schemas.openxmlformats.org/officeDocument/2006/relationships/notesMaster" Target="/ppt/notesMasters/notesMaster1.xml" Id="Rd173a0247c724d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b1e489646e481b" /><Relationship Type="http://schemas.openxmlformats.org/officeDocument/2006/relationships/notesMaster" Target="/ppt/notesMasters/notesMaster1.xml" Id="Rd7aee596c8444b7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3f6082bef04a11" /><Relationship Type="http://schemas.openxmlformats.org/officeDocument/2006/relationships/notesMaster" Target="/ppt/notesMasters/notesMaster1.xml" Id="R1d371ab3df6d4f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b1b84deef843f8" /><Relationship Type="http://schemas.openxmlformats.org/officeDocument/2006/relationships/notesMaster" Target="/ppt/notesMasters/notesMaster1.xml" Id="R10e4b3964a3140c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59dc48cb204574" /><Relationship Type="http://schemas.openxmlformats.org/officeDocument/2006/relationships/notesMaster" Target="/ppt/notesMasters/notesMaster1.xml" Id="Rdac917a488de4d8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3388e55e79d4726" /><Relationship Type="http://schemas.openxmlformats.org/officeDocument/2006/relationships/notesMaster" Target="/ppt/notesMasters/notesMaster1.xml" Id="R1eb4a140d6b644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b85b0ed24bf4afa" /><Relationship Type="http://schemas.openxmlformats.org/officeDocument/2006/relationships/notesMaster" Target="/ppt/notesMasters/notesMaster1.xml" Id="R0337345f8c62489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6551085c4cd4d97" /><Relationship Type="http://schemas.openxmlformats.org/officeDocument/2006/relationships/notesMaster" Target="/ppt/notesMasters/notesMaster1.xml" Id="R241dd428c83442c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0b5e3f44b04961" /><Relationship Type="http://schemas.openxmlformats.org/officeDocument/2006/relationships/notesMaster" Target="/ppt/notesMasters/notesMaster1.xml" Id="R2579f4d4f4a141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5b86d20eb014d36" /><Relationship Type="http://schemas.openxmlformats.org/officeDocument/2006/relationships/notesMaster" Target="/ppt/notesMasters/notesMaster1.xml" Id="Rfc94a252ffbb499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82f342c47f14889" /><Relationship Type="http://schemas.openxmlformats.org/officeDocument/2006/relationships/notesMaster" Target="/ppt/notesMasters/notesMaster1.xml" Id="R0d2df3aa94354e4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6ebb62c8624c20" /><Relationship Type="http://schemas.openxmlformats.org/officeDocument/2006/relationships/notesMaster" Target="/ppt/notesMasters/notesMaster1.xml" Id="R79bba8b92508417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76b038b5204b59" /><Relationship Type="http://schemas.openxmlformats.org/officeDocument/2006/relationships/notesMaster" Target="/ppt/notesMasters/notesMaster1.xml" Id="R926b23d319754b8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ffcf0bb7b245d6" /><Relationship Type="http://schemas.openxmlformats.org/officeDocument/2006/relationships/notesMaster" Target="/ppt/notesMasters/notesMaster1.xml" Id="R231dbc5b45fb49c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c3464c8813e4c60" /><Relationship Type="http://schemas.openxmlformats.org/officeDocument/2006/relationships/notesMaster" Target="/ppt/notesMasters/notesMaster1.xml" Id="Rf8034053ed174a7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58a8060d84e4e3f" /><Relationship Type="http://schemas.openxmlformats.org/officeDocument/2006/relationships/notesMaster" Target="/ppt/notesMasters/notesMaster1.xml" Id="R33638b108722431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2bb4f45ecaa4417" /><Relationship Type="http://schemas.openxmlformats.org/officeDocument/2006/relationships/notesMaster" Target="/ppt/notesMasters/notesMaster1.xml" Id="R143d7d3c3a84456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0455fc2e8f48bf" /><Relationship Type="http://schemas.openxmlformats.org/officeDocument/2006/relationships/notesMaster" Target="/ppt/notesMasters/notesMaster1.xml" Id="R6b4ad5c66da740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표지. 한 점의 미분정보가 경계 전체의 적분과 연결되는 주차임을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17-36</a:t>
            </a:r>
          </a:p>
          <a:p xmlns:a="http://schemas.openxmlformats.org/drawingml/2006/main">
            <a:r>
              <a:t>- repo:전자기학_2026_2학기/0.자료폴더/0.날짜별강의_그리피스1-5장_세부범위.docx</a:t>
            </a:r>
          </a:p>
          <a:p xmlns:a="http://schemas.openxmlformats.org/drawingml/2006/main">
            <a:r>
              <a:t>- https://github.com/smilesjcha/llm-agent-and-workflow-automation</a:t>
            </a:r>
          </a:p>
          <a:p xmlns:a="http://schemas.openxmlformats.org/drawingml/2006/main">
            <a:r>
              <a:t>- OpenAI generated cover asset, 2026-09-07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날짜와 완료 증거를 먼저 고정한다. 일정표의 §1.2.6 묶음은 교재의 §1.2.6 곱법칙과 §1.2.7 2계 미분으로 나누어 다룬다.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17-36</a:t>
            </a:r>
          </a:p>
          <a:p xmlns:a="http://schemas.openxmlformats.org/drawingml/2006/main">
            <a:r>
              <a:t>- repo:전자기학_2026_2학기/0.자료폴더/0.날짜별강의_그리피스1-5장_세부범위.docx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1주차의 그래디언트를 출발점으로 이번 주의 논리적 경로를 제시한다. 국소 연산자와 전역 적분을 기본정리가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14-36</a:t>
            </a:r>
          </a:p>
          <a:p xmlns:a="http://schemas.openxmlformats.org/drawingml/2006/main">
            <a:r>
              <a:t>- repo:전자기학_2026_2학기/0.자료폴더/0.날짜별강의_그리피스1-5장_세부범위.docx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작은 부피의 국소 퍼짐을 모두 더하면 바깥 경계를 통과하는 총 플럭스가 된다는 질문으로 발산정리를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30-31, §1.3.4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그래디언트·발산·컬의 입력과 출력 유형을 먼저 고정한다. 유형 검산은 성분 계산 오류를 줄이는 첫 단계다.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14-20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직교좌표 발산 정의. 각 성분을 같은 방향 좌표로 미분해 합하며 결과는 스칼라다.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\nabla\!\cdot\!\mathbf v=\frac{\partial v_x}{\partial x}+\frac{\partial v_y}{\partial y}+\frac{\partial v_z}{\partial z}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17-18, Eq. 1.40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양의 발산, 영 발산, 음의 발산을 작은 검사 부피의 순유출로 비교한다. 화살표 수가 아니라 경계 통과 성분의 변화가 핵심이다.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17-18, Fig. 1.16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Griffiths Example 1.4. 일정한 벡터장은 크기가 0이 아니어도 발산이 0일 수 있음을 강조한다.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\begin{aligned}\nabla\!\cdot\mathbf r&amp;=3\\[5pt]\nabla\!\cdot\hat{\mathbf z}&amp;=0\\[5pt]\nabla\!\cdot(z\hat{\mathbf z})&amp;=1\end{aligned}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p. 18, Example 1.4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1.15(a)의 벡터장을 사용한다. 벡터 성분이 변한다는 사실과 발산에 기여하는 같은 방향 미분을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\begin{aligned}\mathbf v&amp;=x^2\hat{\mathbf x}+3xz^2\hat{\mathbf y}-2xz\hat{\mathbf z}\\[5pt]\nabla\!\cdot\mathbf v&amp;=2x+0-2x=0\end{aligned}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 1.15(a), p. 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컬의 행렬식과 성분식을 연결한다. 결과 벡터의 방향은 국소 회전축, 크기는 회전의 세기를 나타낸다.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\nabla\!\times\!\mathbf v=\begin{vmatrix}\hat{\mathbf x}&amp;\hat{\mathbf y}&amp;\hat{\mathbf z}\\[2pt]\partial_x&amp;\partial_y&amp;\partial_z\\[2pt]v_x&amp;v_y&amp;v_z\end{vmatrix}</a:t>
            </a:r>
          </a:p>
          <a:p xmlns:a="http://schemas.openxmlformats.org/drawingml/2006/main">
            <a:r>
              <a:t>- \begin{aligned}\nabla\!\times\!\mathbf v={}&amp;(\partial_yv_z-\partial_zv_y)\hat{\mathbf x}\\&amp;+(\partial_zv_x-\partial_xv_z)\hat{\mathbf y}\\&amp;+(\partial_xv_y-\partial_yv_x)\hat{\mathbf z}\end{aligned}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18-20, Eq. 1.41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작은 패들휠의 회전으로 컬을 해석한다. 장의 값 자체가 아니라 주변의 비대칭적 변화가 바퀴를 돌린다.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19-20, Fig. 1.18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Griffiths Example 1.5. 회전장과 전단장이 모두 양의 z 방향 컬을 가질 수 있음을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\begin{aligned}\nabla\!\times(-y\hat{\mathbf x}+x\hat{\mathbf y})&amp;=2\hat{\mathbf z}\\[5pt]\nabla\!\times(x\hat{\mathbf y})&amp;=\hat{\mathbf z}\end{aligned}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p. 20, Example 1.5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발산과 컬의 결과 유형, 측정 질문, 직관적 시험 도구를 나란히 비교한다. 두 국소량은 독립적이다.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17-20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스칼라 함수가 포함된 그래디언트·발산·컬 곱법칙을 한 구조로 읽는다. 컬의 두 번째 항은 외적 순서를 바꾸면 부호가 달라짐을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\begin{aligned}\nabla(fg)&amp;=f\nabla g+g\nabla f\\[6pt]\nabla\!\cdot(f\mathbf A)&amp;=f(\nabla\!\cdot\mathbf A)+\mathbf A\!\cdot\nabla f\\[6pt]\nabla\!\times(f\mathbf A)&amp;=f(\nabla\!\times\mathbf A)-\mathbf A\!\times\nabla f\end{aligned}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20-21, Eqs. 1.43(i),(iii),(v)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벡터장 둘의 항등식은 연산 순서가 중요하다. (A·∇)B를 A 방향의 B 변화율로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\begin{aligned}\nabla\!\cdot(\mathbf A\!\times\!\mathbf B)&amp;=\mathbf B\!\cdot(\nabla\!\times\!\mathbf A)-\mathbf A\!\cdot(\nabla\!\times\!\mathbf B)\\[6pt]\nabla\!\times(\mathbf A\!\times\!\mathbf B)&amp;=(\mathbf B\!\cdot\nabla)\mathbf A-(\mathbf A\!\cdot\nabla)\mathbf B\\&amp;\quad+\mathbf A(\nabla\!\cdot\mathbf B)-\mathbf B(\nabla\!\cdot\mathbf A)\end{aligned}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p. 21, Eqs. 1.43(iv),(vi); Problem 1.22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발산 곱법칙을 성분으로 증명한다. 유도는 세 번의 등호 이동 안에 유지하고 등호를 정렬한다.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\begin{aligned}\nabla\!\cdot(f\mathbf A)&amp;=\partial_x(fA_x)+\partial_y(fA_y)+\partial_z(fA_z)\\[4pt]&amp;=f(\partial_xA_x+\partial_yA_y+\partial_zA_z)\\&amp;\quad+(A_x\partial_xf+A_y\partial_yf+A_z\partial_zf)\\[4pt]&amp;=f(\nabla\!\cdot\mathbf A)+\mathbf A\!\cdot\nabla f\end{aligned}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p. 21; Problem 1.21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일정표에서는 2계 미분이 §1.2.6과 묶여 있지만 교재 실제 번호는 §1.2.7이다. 가능한 연산자 조합을 결과 유형으로 분류한다.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\nabla^2T,\qquad \nabla(\nabla\!\cdot\mathbf v),\qquad \nabla\!\times(\nabla\!\times\mathbf v)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22-23, §1.2.7</a:t>
            </a:r>
          </a:p>
          <a:p xmlns:a="http://schemas.openxmlformats.org/drawingml/2006/main">
            <a:r>
              <a:t>- repo:전자기학_2026_2학기/0.자료폴더/0.날짜별강의_그리피스1-5장_세부범위.docx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스칼라 라플라시안을 각 좌표 방향의 두 번째 변화율 합으로 읽는다. 다음 장의 포아송·라플라스 방정식을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\nabla^2T=\frac{\partial^2T}{\partial x^2}+\frac{\partial^2T}{\partial y^2}+\frac{\partial^2T}{\partial z^2}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p. 22, Eq. 1.44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영 항등식은 혼합편미분의 교환에서 나온다. 장이 충분히 매끄럽다는 조건을 함께 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\nabla\!\times(\nabla T)=\mathbf0,\qquad \nabla\!\cdot(\nabla\!\times\mathbf v)=0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22-23, Eqs. 1.45-1.46; Problems 1.27-1.28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컬의 컬 항등식을 발산의 그래디언트와 벡터 라플라시안으로 분해한다. 이후 전자기파 유도에서 재사용될 식임을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\nabla\!\times(\nabla\!\times\mathbf v)=\nabla(\nabla\!\cdot\mathbf v)-\nabla^2\mathbf 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p. 23, Eq. 1.47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미분에서 적분으로 넘어가는 전환 장표다. 적분은 반드시 영역과 미소요소를 선언해야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24-36, §1.3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선적분은 경로의 접선 방향 성분을 더한다. 일반적인 벡터장에서는 두 끝점이 같아도 경로에 따라 값이 달라진다.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\int_{P}^{Q}\mathbf v\!\cdot\mathrm d\mathbf l=\int_a^b\mathbf v(\mathbf r(t))\!\cdot\mathbf r'(t)\,\mathrm dt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24-25, Eqs. 1.48-1.49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같은 끝점을 잇는 두 경로를 비교한다. 경로독립성은 일반적이지 않고 보존장 또는 그래디언트장에서 성립한다.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24-25; Problem 1.29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면적분은 법선 성분의 총량이며 방향 있는 면이 필요하다. 닫힌 면에서는 바깥쪽 법선을 표준으로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\int_S\mathbf v\!\cdot\mathrm d\mathbf a=\int_S\mathbf v\!\cdot\hat{\mathbf n}\,\mathrm 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25-26, Eqs. 1.50-1.51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체적적분은 부피밀도를 전체 영역에서 더한다. 전하밀도의 체적적분이 총전하가 되는 방식과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\int_V T\,\mathrm d\tau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26-27, Eq. 1.52; Problem 1.31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기본정리를 한 화면에서 내부 미분의 적분과 경계 적분의 등가로 비교한다. 영역의 차원과 경계의 차원이 하나 차이난다.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\begin{aligned}\int_P^Q\nabla T\!\cdot\mathrm d\mathbf l&amp;=T(Q)-T(P)\\[7pt]\int_V\nabla\!\cdot\mathbf v\,\mathrm d\tau&amp;=\oint_{\partial V}\mathbf v\!\cdot\mathrm d\mathbf a\\[7pt]\int_S(\nabla\!\times\mathbf v)\!\cdot\mathrm d\mathbf a&amp;=\oint_{\partial S}\mathbf v\!\cdot\mathrm d\mathbf l\end{aligned}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27-34, Eqs. 1.55, 1.56, 1.57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그래디언트 정리는 선적분을 스칼라장의 끝점 차로 바꾼다. 경로독립성의 직접적 근거다.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\int_P^Q(\nabla T)\!\cdot\mathrm d\mathbf l=T(Q)-T(P)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28-29, Eq. 1.55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그래디언트장, 닫힌 선적분 0, 경로독립성을 동치 구조로 읽는다. 영역의 위상 조건이 필요할 수 있음을 짚는다.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\oint\nabla T\!\cdot\mathrm d\mathbf l=0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28-30, Eqs. 1.55 and corollaries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발산정리에서 영역, 경계, 바깥쪽 방향을 한 화면에 고정한다. 부피 적분과 면 적분을 독립적으로 계산해 검산한다.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\int_V(\nabla\!\cdot\mathbf v)\,\mathrm d\tau=\oint_{\partial V}\mathbf v\!\cdot\mathrm d\mathbf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30-31, Eq. 1.56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v=r과 첫 팔분면 정육면체를 사용해 발산정리를 검산한다. x=0, y=0, z=0 면의 플럭스는 0이고 반대 세 면이 각각 a³이다.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\int_V3\,\mathrm d\tau=3a^3,\qquad \oint_{\partial V}\mathbf r\!\cdot\mathrm d\mathbf a=a^3+a^3+a^3=3a^3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30-31, divergence theorem example pattern; Problem 1.33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스토크스 정리는 면 위 컬 플럭스를 경계곡선의 순환으로 바꾼다. 면 법선과 경계 진행방향을 오른손 규칙으로 묶는다.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\int_S(\nabla\!\times\mathbf v)\!\cdot\mathrm d\mathbf a=\oint_{\partial S}\mathbf v\!\cdot\mathrm d\mathbf 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32-34, Eq. 1.57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면 법선을 먼저 정하고 오른손으로 경계 방향을 정한다. 법선과 경계를 함께 반전하면 스토크스 정리의 양변 부호가 함께 바뀐다.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32-34, Fig. 1.25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발산 곱법칙에 발산정리를 적용해 벡터 적분 부분적분을 얻는다. 경계항을 생략할 때는 경계조건을 근거로 제시해야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\int_V f(\nabla\!\cdot\mathbf A)\,\mathrm d\tau=-\int_V\mathbf A\!\cdot\nabla f\,\mathrm d\tau+\oint_{\partial V}f\mathbf A\!\cdot\mathrm d\mathbf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34-36, §1.3.6; Problem 1.36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연습 전에 사용할 공통 풀이 체크리스트다. 계산을 시작하기 전에 입력·출력, 영역, 경계, 방향을 한 줄씩 선언하게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17-36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세트 모두 정확히 30분이다. 각 세트에서 계산자, 영역·방향 관리자, 검산자를 정한다.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1.15, 1.18, 1.26-1.35</a:t>
            </a:r>
          </a:p>
          <a:p xmlns:a="http://schemas.openxmlformats.org/drawingml/2006/main">
            <a:r>
              <a:t>- repo:전자기학_2026_2학기/0.자료폴더/0.날짜별강의_그리피스1-5장_세부범위.docx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 Problems 1.15, 1.18, 1.26-1.28의 구조를 결합한 변형 문항이다. 30분 뒤 계산과 항등식 검산을 함께 제출한다.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v=(x^2y,\,2xyz,\,yz^2)</a:t>
            </a:r>
          </a:p>
          <a:p xmlns:a="http://schemas.openxmlformats.org/drawingml/2006/main">
            <a:r>
              <a:t>- T=x^2y+y^2z+z^2x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1.15, 1.18, 1.26-1.28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1 해설. 발산은 스칼라, 컬은 벡터, 라플라시안은 스칼라라는 결과 유형을 확인하고 영 항등식을 직접 검산한다.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\begin{aligned}\nabla\!\cdot\mathbf v&amp;=2xy+2xz+2yz\\[4pt]\nabla\!\times\mathbf v&amp;=(z^2-2xy,\,0,\,2yz-x^2)\\[4pt]\nabla\!\cdot(\nabla\!\times\mathbf v)&amp;=-2y+2y=0\end{aligned}</a:t>
            </a:r>
          </a:p>
          <a:p xmlns:a="http://schemas.openxmlformats.org/drawingml/2006/main">
            <a:r>
              <a:t>- \nabla^2T=2(x+y+z),\qquad \nabla\!\times(\nabla T)=\mathbf0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1.15, 1.18, 1.26-1.28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 Problems 1.29, 1.32의 구조를 결합한 변형 문항이다. 일반장과 그래디언트장을 같은 끝점에서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v=(-y,\,x,\,0),\qquad P=(0,0,0),\quad Q=(1,1,0)</a:t>
            </a:r>
          </a:p>
          <a:p xmlns:a="http://schemas.openxmlformats.org/drawingml/2006/main">
            <a:r>
              <a:t>- T=x^2+xy+yz,\qquad \nabla T=(2x+y,\,x+z,\,y)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1.29, 1.32; pp. 24-30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2 해설. v=(-y,x,0)은 두 경로에서 1과 -1을 주지만 그래디언트장 ∇T는 두 경로 모두 끝점 차 3을 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\int_{P\to(1,0)\to Q}\mathbf v\!\cdot\mathrm d\mathbf l=1,\qquad \int_{P\to(0,1)\to Q}\mathbf v\!\cdot\mathrm d\mathbf l=-1</a:t>
            </a:r>
          </a:p>
          <a:p xmlns:a="http://schemas.openxmlformats.org/drawingml/2006/main">
            <a:r>
              <a:t>- \int_P^Q\nabla T\!\cdot\mathrm d\mathbf l=T(Q)-T(P)=3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1.29, 1.32; gradient theorem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교재 Problems 1.33-1.35의 구조를 단순 영역으로 재구성한 변형 문항이다. 정리의 양변을 독립적으로 계산하고 방향을 선언한다.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1.33-1.35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세트 3 해설. 발산정리의 양변은 3a³, 스토크스 정리의 양변은 2πR²이다. 방향을 함께 반전하면 양변 부호가 함께 바뀐다.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\int_V\nabla\!\cdot\mathbf r\,\mathrm d\tau=3a^3=\oint_{\partial V}\mathbf r\!\cdot\mathrm d\mathbf a</a:t>
            </a:r>
          </a:p>
          <a:p xmlns:a="http://schemas.openxmlformats.org/drawingml/2006/main">
            <a:r>
              <a:t>- \int_S2\hat{\mathbf z}\!\cdot\hat{\mathbf z}\,\mathrm da=2\pi R^2=\oint_{\partial S}(-y\,\mathrm dx+x\,\mathrm dy)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Problems 1.33-1.35; Eqs. 1.56-1.57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마무리. 국소 미분연산자, 전역 적분, 기본정리를 하나의 구조로 회수한다. 다음 주는 곡선좌표와 디랙 델타 함수로 이어진다.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 4e, Chapter 1, pp. 17-36</a:t>
            </a:r>
          </a:p>
          <a:p xmlns:a="http://schemas.openxmlformats.org/drawingml/2006/main">
            <a:r>
              <a:t>- repo:전자기학_2026_2학기/0.자료폴더/0.날짜별강의_그리피스1-5장_세부범위.docx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ce24b9c5c45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804e7f4843453b" /><Relationship Type="http://schemas.openxmlformats.org/officeDocument/2006/relationships/slideLayout" Target="/ppt/slideLayouts/slideLayout1.xml" Id="R72b80c56bccb4a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b80c56bccb4a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2889c18e84ab1" /><Relationship Type="http://schemas.openxmlformats.org/officeDocument/2006/relationships/image" Target="/ppt/media/image.png" Id="Rcf51bc1f75444e81" /><Relationship Type="http://schemas.openxmlformats.org/officeDocument/2006/relationships/notesSlide" Target="/ppt/notesSlides/notesSlide1.xml" Id="R644da5fb6a4e4f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5f12cc21c425e" /><Relationship Type="http://schemas.openxmlformats.org/officeDocument/2006/relationships/notesSlide" Target="/ppt/notesSlides/notesSlide2.xml" Id="R960a4adc0fe740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f4846cb614298" /><Relationship Type="http://schemas.openxmlformats.org/officeDocument/2006/relationships/notesSlide" Target="/ppt/notesSlides/notesSlide3.xml" Id="Rfdf3984010f044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42e7cd8394305" /><Relationship Type="http://schemas.openxmlformats.org/officeDocument/2006/relationships/notesSlide" Target="/ppt/notesSlides/notesSlide4.xml" Id="Raed2a14d975046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c179cdf074a92" /><Relationship Type="http://schemas.openxmlformats.org/officeDocument/2006/relationships/notesSlide" Target="/ppt/notesSlides/notesSlide5.xml" Id="Rb6558cbebdb1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a5ed44c84fe6" /><Relationship Type="http://schemas.openxmlformats.org/officeDocument/2006/relationships/image" Target="/ppt/media/image2.png" Id="R923f858f56034fd4" /><Relationship Type="http://schemas.openxmlformats.org/officeDocument/2006/relationships/notesSlide" Target="/ppt/notesSlides/notesSlide6.xml" Id="R35b410a396dd47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45fedfebf4f10" /><Relationship Type="http://schemas.openxmlformats.org/officeDocument/2006/relationships/notesSlide" Target="/ppt/notesSlides/notesSlide7.xml" Id="Rc78aef45b79d48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a4c6e2ac043c7" /><Relationship Type="http://schemas.openxmlformats.org/officeDocument/2006/relationships/image" Target="/ppt/media/image3.png" Id="R51f7c57049444b5c" /><Relationship Type="http://schemas.openxmlformats.org/officeDocument/2006/relationships/notesSlide" Target="/ppt/notesSlides/notesSlide8.xml" Id="R9b5cef973f2a46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bcdb1798a421e" /><Relationship Type="http://schemas.openxmlformats.org/officeDocument/2006/relationships/image" Target="/ppt/media/image4.png" Id="R5dd5383eea3949a2" /><Relationship Type="http://schemas.openxmlformats.org/officeDocument/2006/relationships/notesSlide" Target="/ppt/notesSlides/notesSlide9.xml" Id="Ref5ea65101a84e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637d13da04a19" /><Relationship Type="http://schemas.openxmlformats.org/officeDocument/2006/relationships/image" Target="/ppt/media/image5.png" Id="Rfcfff4b26e15495d" /><Relationship Type="http://schemas.openxmlformats.org/officeDocument/2006/relationships/image" Target="/ppt/media/image6.png" Id="R64aaba07b2064865" /><Relationship Type="http://schemas.openxmlformats.org/officeDocument/2006/relationships/notesSlide" Target="/ppt/notesSlides/notesSlide10.xml" Id="Rc32ce10f05c24b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b04036d7f44fc" /><Relationship Type="http://schemas.openxmlformats.org/officeDocument/2006/relationships/notesSlide" Target="/ppt/notesSlides/notesSlide11.xml" Id="R8836e67b6b8947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e8498712d4193" /><Relationship Type="http://schemas.openxmlformats.org/officeDocument/2006/relationships/image" Target="/ppt/media/image7.png" Id="R7bb6e9b974ac4a18" /><Relationship Type="http://schemas.openxmlformats.org/officeDocument/2006/relationships/notesSlide" Target="/ppt/notesSlides/notesSlide12.xml" Id="R4f05616b0d7247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09461fb454939" /><Relationship Type="http://schemas.openxmlformats.org/officeDocument/2006/relationships/notesSlide" Target="/ppt/notesSlides/notesSlide13.xml" Id="R7f820890c1fe43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8a1e7a7fe455a" /><Relationship Type="http://schemas.openxmlformats.org/officeDocument/2006/relationships/image" Target="/ppt/media/image8.png" Id="R0e333a07560948c0" /><Relationship Type="http://schemas.openxmlformats.org/officeDocument/2006/relationships/notesSlide" Target="/ppt/notesSlides/notesSlide14.xml" Id="R29f246eb5d354c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f299e9df94623" /><Relationship Type="http://schemas.openxmlformats.org/officeDocument/2006/relationships/image" Target="/ppt/media/image9.png" Id="R3ab2e8523cb2471b" /><Relationship Type="http://schemas.openxmlformats.org/officeDocument/2006/relationships/notesSlide" Target="/ppt/notesSlides/notesSlide15.xml" Id="Rd0e6900a01ef44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df32eb0d24cba" /><Relationship Type="http://schemas.openxmlformats.org/officeDocument/2006/relationships/image" Target="/ppt/media/image10.png" Id="R59ccc57d027b49be" /><Relationship Type="http://schemas.openxmlformats.org/officeDocument/2006/relationships/notesSlide" Target="/ppt/notesSlides/notesSlide16.xml" Id="R1ec26a4c01f04d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3cda55294fe3" /><Relationship Type="http://schemas.openxmlformats.org/officeDocument/2006/relationships/image" Target="/ppt/media/image11.png" Id="R5cdb2245330d46dd" /><Relationship Type="http://schemas.openxmlformats.org/officeDocument/2006/relationships/notesSlide" Target="/ppt/notesSlides/notesSlide17.xml" Id="R2afa9d30491f41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28072bce54d3a" /><Relationship Type="http://schemas.openxmlformats.org/officeDocument/2006/relationships/image" Target="/ppt/media/image12.png" Id="R4d1e5944524c42f6" /><Relationship Type="http://schemas.openxmlformats.org/officeDocument/2006/relationships/notesSlide" Target="/ppt/notesSlides/notesSlide18.xml" Id="Ra476f0f638554c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78b3a46e343a4" /><Relationship Type="http://schemas.openxmlformats.org/officeDocument/2006/relationships/image" Target="/ppt/media/image13.png" Id="R778b07c918f94425" /><Relationship Type="http://schemas.openxmlformats.org/officeDocument/2006/relationships/notesSlide" Target="/ppt/notesSlides/notesSlide19.xml" Id="Rfdbb2e76a4e34a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8912fc97f48e2" /><Relationship Type="http://schemas.openxmlformats.org/officeDocument/2006/relationships/image" Target="/ppt/media/image14.png" Id="R3cd94617e7964d6d" /><Relationship Type="http://schemas.openxmlformats.org/officeDocument/2006/relationships/notesSlide" Target="/ppt/notesSlides/notesSlide20.xml" Id="Rcee0af5ecb2841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3adeba9204cd8" /><Relationship Type="http://schemas.openxmlformats.org/officeDocument/2006/relationships/notesSlide" Target="/ppt/notesSlides/notesSlide21.xml" Id="Rfa63b31d5a0b490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d93b181a6485c" /><Relationship Type="http://schemas.openxmlformats.org/officeDocument/2006/relationships/image" Target="/ppt/media/image15.png" Id="Rd636635db6314be5" /><Relationship Type="http://schemas.openxmlformats.org/officeDocument/2006/relationships/notesSlide" Target="/ppt/notesSlides/notesSlide22.xml" Id="Rbb064480c27d4f2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cababd9ef4a2f" /><Relationship Type="http://schemas.openxmlformats.org/officeDocument/2006/relationships/notesSlide" Target="/ppt/notesSlides/notesSlide23.xml" Id="R4fa208c849e143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1b67a6604472e" /><Relationship Type="http://schemas.openxmlformats.org/officeDocument/2006/relationships/image" Target="/ppt/media/image16.png" Id="Rdbdb6823949f4666" /><Relationship Type="http://schemas.openxmlformats.org/officeDocument/2006/relationships/notesSlide" Target="/ppt/notesSlides/notesSlide24.xml" Id="R3edae9e9e7374f9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029052efc477f" /><Relationship Type="http://schemas.openxmlformats.org/officeDocument/2006/relationships/image" Target="/ppt/media/image17.png" Id="R7d6d6278e51c4582" /><Relationship Type="http://schemas.openxmlformats.org/officeDocument/2006/relationships/notesSlide" Target="/ppt/notesSlides/notesSlide25.xml" Id="Rb89ccae1a91647a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71e3d985c4d44" /><Relationship Type="http://schemas.openxmlformats.org/officeDocument/2006/relationships/image" Target="/ppt/media/image18.png" Id="Rf8bb108768224af5" /><Relationship Type="http://schemas.openxmlformats.org/officeDocument/2006/relationships/notesSlide" Target="/ppt/notesSlides/notesSlide26.xml" Id="Rdd20c0438f0246e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b0f53afb45f0" /><Relationship Type="http://schemas.openxmlformats.org/officeDocument/2006/relationships/image" Target="/ppt/media/image19.png" Id="R959cc55d6fba4fad" /><Relationship Type="http://schemas.openxmlformats.org/officeDocument/2006/relationships/notesSlide" Target="/ppt/notesSlides/notesSlide27.xml" Id="Rf5bf1d5ef58a42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cc4855a6c401a" /><Relationship Type="http://schemas.openxmlformats.org/officeDocument/2006/relationships/image" Target="/ppt/media/image20.png" Id="R2cf2cb2b0c6c4de8" /><Relationship Type="http://schemas.openxmlformats.org/officeDocument/2006/relationships/notesSlide" Target="/ppt/notesSlides/notesSlide28.xml" Id="R8e67b29cb642427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7775b6b60437a" /><Relationship Type="http://schemas.openxmlformats.org/officeDocument/2006/relationships/image" Target="/ppt/media/image21.png" Id="R199af14192564b9d" /><Relationship Type="http://schemas.openxmlformats.org/officeDocument/2006/relationships/notesSlide" Target="/ppt/notesSlides/notesSlide29.xml" Id="R588290b0279a4d3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e11f87d4420f" /><Relationship Type="http://schemas.openxmlformats.org/officeDocument/2006/relationships/image" Target="/ppt/media/image22.png" Id="R928db004901a4a5e" /><Relationship Type="http://schemas.openxmlformats.org/officeDocument/2006/relationships/notesSlide" Target="/ppt/notesSlides/notesSlide30.xml" Id="R5cd1a2cf200e4c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29d84ca174dc8" /><Relationship Type="http://schemas.openxmlformats.org/officeDocument/2006/relationships/image" Target="/ppt/media/image23.png" Id="Ref26ee30fb4d4dc7" /><Relationship Type="http://schemas.openxmlformats.org/officeDocument/2006/relationships/notesSlide" Target="/ppt/notesSlides/notesSlide31.xml" Id="Rc1b5aa497da44e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2a2b5ab764e6a" /><Relationship Type="http://schemas.openxmlformats.org/officeDocument/2006/relationships/notesSlide" Target="/ppt/notesSlides/notesSlide32.xml" Id="Rb547004de3f447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ffcf96c2841fe" /><Relationship Type="http://schemas.openxmlformats.org/officeDocument/2006/relationships/image" Target="/ppt/media/image24.png" Id="R2edca90c26ac4400" /><Relationship Type="http://schemas.openxmlformats.org/officeDocument/2006/relationships/notesSlide" Target="/ppt/notesSlides/notesSlide33.xml" Id="R3afec39b1d47480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9a275f5654319" /><Relationship Type="http://schemas.openxmlformats.org/officeDocument/2006/relationships/notesSlide" Target="/ppt/notesSlides/notesSlide34.xml" Id="Rc6a28dbfa0f741f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41f38954447ae" /><Relationship Type="http://schemas.openxmlformats.org/officeDocument/2006/relationships/notesSlide" Target="/ppt/notesSlides/notesSlide35.xml" Id="R79686965645741f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33ead6e9d471d" /><Relationship Type="http://schemas.openxmlformats.org/officeDocument/2006/relationships/image" Target="/ppt/media/image25.png" Id="R8918a8a44ca44075" /><Relationship Type="http://schemas.openxmlformats.org/officeDocument/2006/relationships/image" Target="/ppt/media/image26.png" Id="R8f4af857a4a64a59" /><Relationship Type="http://schemas.openxmlformats.org/officeDocument/2006/relationships/notesSlide" Target="/ppt/notesSlides/notesSlide36.xml" Id="Raf67ecd00f724f2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d8c7c32854b5a" /><Relationship Type="http://schemas.openxmlformats.org/officeDocument/2006/relationships/image" Target="/ppt/media/image27.png" Id="R66e52c5cda5c443a" /><Relationship Type="http://schemas.openxmlformats.org/officeDocument/2006/relationships/image" Target="/ppt/media/image28.png" Id="R4f7e20388a0b4100" /><Relationship Type="http://schemas.openxmlformats.org/officeDocument/2006/relationships/notesSlide" Target="/ppt/notesSlides/notesSlide37.xml" Id="R7d1e78194986416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4bb7dd40f406b" /><Relationship Type="http://schemas.openxmlformats.org/officeDocument/2006/relationships/image" Target="/ppt/media/image29.png" Id="R9b5c9782271f4ff9" /><Relationship Type="http://schemas.openxmlformats.org/officeDocument/2006/relationships/image" Target="/ppt/media/image30.png" Id="Ra09631752a1e4b5a" /><Relationship Type="http://schemas.openxmlformats.org/officeDocument/2006/relationships/notesSlide" Target="/ppt/notesSlides/notesSlide38.xml" Id="Rdb8b6bbdf49b49e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013b9d33542be" /><Relationship Type="http://schemas.openxmlformats.org/officeDocument/2006/relationships/image" Target="/ppt/media/image31.png" Id="R6e7384ce3d714591" /><Relationship Type="http://schemas.openxmlformats.org/officeDocument/2006/relationships/image" Target="/ppt/media/image32.png" Id="Rd44ac47c249346e3" /><Relationship Type="http://schemas.openxmlformats.org/officeDocument/2006/relationships/notesSlide" Target="/ppt/notesSlides/notesSlide39.xml" Id="R40e2041e393a4f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73fb3135f42ea" /><Relationship Type="http://schemas.openxmlformats.org/officeDocument/2006/relationships/notesSlide" Target="/ppt/notesSlides/notesSlide40.xml" Id="R2249c4219b19433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4072ff7645fd" /><Relationship Type="http://schemas.openxmlformats.org/officeDocument/2006/relationships/image" Target="/ppt/media/image33.png" Id="R56198cc2fcde4255" /><Relationship Type="http://schemas.openxmlformats.org/officeDocument/2006/relationships/image" Target="/ppt/media/image34.png" Id="R89899869bc4a43a7" /><Relationship Type="http://schemas.openxmlformats.org/officeDocument/2006/relationships/notesSlide" Target="/ppt/notesSlides/notesSlide41.xml" Id="Ra8f4f15da3e3499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6e61140a04c83" /><Relationship Type="http://schemas.openxmlformats.org/officeDocument/2006/relationships/notesSlide" Target="/ppt/notesSlides/notesSlide42.xml" Id="R88970cfe1b4447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1bc1f75444e8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A50D0-28EF-4A1E-A6A8-FD857EC4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55274-5E32-47A3-A722-270100B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ELECTROMAGNETISM 2026 · WEEK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80465-5455-4F97-A5B8-0A961914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발산·회전에서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적분정리까지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F3C51-EBC8-48C0-A461-718D4E6F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656BD-DBB2-4F77-923C-6DFA91BF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Griffiths §1.2.4–§1.3.6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18B8B-E2E4-41D1-98A0-ADA84719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9월 10일 강의 · 9월 14일 연습</a:t>
            </a:r>
          </a:p>
        </p:txBody>
      </p:sp>
    </p:spTree>
    <p:extLst>
      <p:ext uri="{BB962C8B-B14F-4D97-AF65-F5344CB8AC3E}">
        <p14:creationId xmlns:p14="http://schemas.microsoft.com/office/powerpoint/2010/main" val="306385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2708C0-EB2F-4C74-A6C7-3BE92D01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W02 / COURSE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BEA38-93EC-4EAB-AFBE-F856D83F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2주차 수업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2CF91-3639-46D1-86F8-6A14852B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EFACD-98A9-4D30-AD87-F4F96C84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1409E-4DEA-4AEA-8F98-14134FDA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FADFF-07B1-4DBD-A3B1-7A1C5A52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A640A-7E6A-4AAA-ACA2-DC62E5DB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강의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6EB2A-4326-4003-B169-C149AAF0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9.10 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1602B-6B14-4E01-8D0E-BAF5F853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국소 미분 → 전역 적분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58D60-C92B-4F7F-9080-C967CA86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DDF62-1B8C-4C1A-B8EA-E6C7778C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B8A5E-69A6-42D4-B6C9-6E7EFDC3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9.14 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71C65-1CBF-4C8A-9C17-872389B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30분 문제풀이 ×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61DE8-71AE-4728-AD75-3469F795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71247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5419A-BF0B-4A07-8EBE-B89F0B66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완료 증거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A4B62-BDBE-4D2B-9DFD-80F60CD0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33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1D1AD-4F40-4962-B7B3-F1BDE665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33650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발산·컬의 결과 유형을 구분한다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B3E27-8C82-4694-B547-EF87A400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2895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3B6D2-0D0C-4005-9EF4-2BCA3E41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765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578B37-2150-4DEF-B397-1498A6E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76575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곱법칙과 2계 항등식을 검산한다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35A02-614E-4632-94DF-0B4B599A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71875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5CB80-333D-4553-AFBE-EA105DA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19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E78AA-AB94-4035-8C58-E12A6446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19500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선·면·체적 적분의 영역을 선언한다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F22F16-6CFE-4EC2-95FE-DD8E2612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14800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3E4EBB-2F88-46D3-ADB2-5CFD9B87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624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9AD93-E920-43EC-97EC-3B8E95D7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기본정리의 경계와 방향을 설명한다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F8235-B0D6-4084-8D40-B972D21D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57725"/>
            <a:ext cx="548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5C1CE-212E-4C2F-8F9C-A98500D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05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5B6E2-DCEF-4F3E-9283-80398B31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5486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정리의 양변을 독립적으로 계산한다</a:t>
            </a:r>
          </a:p>
        </p:txBody>
      </p:sp>
    </p:spTree>
    <p:extLst>
      <p:ext uri="{BB962C8B-B14F-4D97-AF65-F5344CB8AC3E}">
        <p14:creationId xmlns:p14="http://schemas.microsoft.com/office/powerpoint/2010/main" val="576698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717AEF-6948-4B0D-A166-9CB3332F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W01 → W02 /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DB2B1-DE19-4B4D-960F-B1793497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한 점의 변화에서 경계의 총량으로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1B3CF-95CE-4FF1-9BB9-19334C20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3EEDC-997B-4FB6-8946-6E201CDD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AC769-DAAC-42E2-AC53-605E691C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ADDC7-86ED-445E-891A-A6B3E5E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65AF3-EBDE-40BB-8EFC-E5BBE39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D5D33-827A-4156-BE53-A04ECF51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그래디언트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9081F-55CF-41B7-95BD-8DFBE4DE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스칼라의 최대 증가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B6296-5330-4312-A521-F1F8A000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W01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578AB-D56C-4F5C-A35A-50150E2F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9B647-119B-436E-A86E-B93C47AF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092B0-155E-4B48-BA95-21F8C692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발산·컬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3FE61-FE73-4A6D-B0C8-DC428BB8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벡터장의 퍼짐과 회전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6238D-79CD-4C39-9F06-75C566B6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D8C47-841A-4A87-90D3-5BBA976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5280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67398-C904-4754-8643-CF3810F0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96C8B-D405-45AB-AA06-CC523555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선·면·체적 적분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FF23A-869C-4886-8A2B-52A64E7D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경로·면·부피의 총량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F7B5F-4A36-4C58-8946-F4DE14A5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GLOBAL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F9DA2-9D39-44B7-BE12-E686FCAB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24350"/>
            <a:ext cx="969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FCEBE-D975-461E-A3AE-FBF08320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353A52-C0F8-4D21-A4A9-EB511130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기본정리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6481F-900D-478E-AE30-1D7422B7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내부와 경계의 등가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8788E-CB2C-4B9C-9707-E14EEDFD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05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BRIDGE</a:t>
            </a:r>
          </a:p>
        </p:txBody>
      </p:sp>
    </p:spTree>
    <p:extLst>
      <p:ext uri="{BB962C8B-B14F-4D97-AF65-F5344CB8AC3E}">
        <p14:creationId xmlns:p14="http://schemas.microsoft.com/office/powerpoint/2010/main" val="393255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FB867-3C43-46B9-B681-ED21CAF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CORE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6819B-8E8C-47F3-8DA3-3BA4CCC1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작은 상자에서 일어난 일이 전체 경계를 말해줄까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76F53-BC8D-4DD9-9EDA-56BA84F8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AD47D-520F-4A9B-B754-A89BFD2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FD6D2-E41B-48C3-BEEB-765FF249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8DE73-26D7-4257-B6F7-35DB2DA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82114-AB16-40C8-8F15-EEAA3672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6A599-0CC6-48B5-93B7-5ADB9FA5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381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213E3-0148-4DD2-971E-31D8AEBB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61950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701A6-BA47-4FAC-9E9B-FF1FC038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1981795" y="3962995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BB8F7-B498-468D-AD9D-693C7C7F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38300" y="4105275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CAFB4-8DF3-432B-B2B5-26E07230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294805" y="3962995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0365C-8F0F-4F4D-B8A9-20F2409C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52525" y="361950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5E466-BB53-4F41-A644-FD6D98B4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00000">
            <a:off x="1294805" y="3276005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DA77C-DA6B-4C69-A6D4-CD8FEC3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638300" y="3133725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C1E6D8-8DDB-435D-B0DC-C98756D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981795" y="3276005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52835-C10D-48CE-9357-165AB936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한 점의 발산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4F0F9-6AC5-463C-9A3A-B42DA758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81400"/>
            <a:ext cx="4495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47CBF-AE05-4C41-BF20-3F2D739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적분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97A39-6E49-4E0D-A128-1DB9DF2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GLOBAL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FEDBF-A47D-4927-B5C1-9B3B17B6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05100"/>
            <a:ext cx="2381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DA544-08A7-49F4-97B6-3A2F0E4A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715375" y="329565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F82AA-2D00-4ED2-A911-180BB53B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134475" y="329565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0E325-F0DF-49C7-9AD1-4BE7DEA7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553575" y="329565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6C2C6-6E3B-4918-B6CD-39D0CA2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972675" y="329565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C48661-F199-490B-83BC-9751DB8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391775" y="3295650"/>
            <a:ext cx="6286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7554B-89C1-47F8-9E4B-86B5B476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경계를 통과한 총 플럭스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F75C57-E0F9-4E01-AAC8-A0A84152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81650"/>
            <a:ext cx="598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이번 주의 답: 조건이 맞으면 같다</a:t>
            </a:r>
          </a:p>
        </p:txBody>
      </p:sp>
    </p:spTree>
    <p:extLst>
      <p:ext uri="{BB962C8B-B14F-4D97-AF65-F5344CB8AC3E}">
        <p14:creationId xmlns:p14="http://schemas.microsoft.com/office/powerpoint/2010/main" val="2128120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18771-B16F-43EC-8D82-6CA63136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 / OPERATOR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EE3DD-67A0-4049-BD57-6CA0B254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델의 세 작용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3907-58C7-472A-8911-0D62B0A1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463B0-64DC-4863-B0B0-51443B7A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0CD28-13EC-4E04-952D-E7DFD190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81BDC-392C-4FE2-AD81-54B97BA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1D36B-ADF0-4D91-87CB-5D782E5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∇T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BF9E7-99F4-45DD-894D-3FF195E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2B3C8-6B96-4FAD-87FB-6BEA4752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16F79-24FB-45B5-A40B-25528865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7CBD5-02D1-4256-924A-0063D7C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그래디언트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5C628-BCF3-4030-AC83-D09C6C1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2C072-4754-49A3-AA69-8808ECA7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최대 증가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B4945-CD8F-4BD5-9D87-1B61A27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7145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7D4A2-C6F8-4930-AD8B-4FD73843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∇·v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73163D-7BA9-4DED-BE45-F73EA3D6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737FC-E506-4877-9C19-7616CA3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A4DFE-1092-41E3-B8E5-58DB325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273C7-423B-4934-86BC-2D3AFFDE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90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발산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15A23-7721-47FE-8216-4976F80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7E871-FF7E-4734-887B-970DB0B3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퍼짐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EEB39-A6CE-4103-8918-206D4559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4F11F-8D1D-4FE0-90D0-F1F1F65B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∇×v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BFD05-2FD4-48F3-8CCA-470F18C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F476A-FCAD-425C-9CD2-959A54F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F13C6-2D1C-4A9B-8331-57F341FE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2BA9C-0B99-4F60-BAC8-2DF5E9C2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FE214-990C-45D4-8270-D40E087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39884F-DA9E-4E62-85F9-25B30FFD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67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회전축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95F63-6207-4EE6-99F2-EFFFB05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계산 전 결과 유형부터 선언</a:t>
            </a:r>
          </a:p>
        </p:txBody>
      </p:sp>
    </p:spTree>
    <p:extLst>
      <p:ext uri="{BB962C8B-B14F-4D97-AF65-F5344CB8AC3E}">
        <p14:creationId xmlns:p14="http://schemas.microsoft.com/office/powerpoint/2010/main" val="1117382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C0996-AD19-40C5-B38B-C17A850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1.2.4 / DIVERGENCE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4C088-D3E4-4A34-ADF9-A509B566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발산: 국소 원천의 밀도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B87D2-E05C-4E3C-A8E2-CC820B7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FF6A3-ADDC-4AFD-9E57-709A6924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344F4-B3FA-45E9-BA1A-03CD8319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92C3E-B1FC-4A20-9096-0BC647F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329B5-A07E-4AFD-A274-3FD66593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0D715-57C4-4A47-8E07-3FD7F5D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A9909-86BA-480E-A492-C2A83DEA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F926E-47A7-474F-8BF0-CEC23E72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C3162-FE1F-4ED1-86D4-1120CBD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7C79E-3A3E-4696-8091-5FA2804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AB37A-1E3B-4AEA-9BCE-CA8B3DEA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802FC-ACE8-4220-B3F4-5B50611E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9C1B5-726D-4B68-BA80-FEB0DFBB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7AD02-470B-43E1-A0E4-9DEBF664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C805A-7972-4D26-B2E1-B4F1F690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스칼라장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f858f56034fd4"/>
          <a:stretch xmlns:a="http://schemas.openxmlformats.org/drawingml/2006/main"/>
        </p:blipFill>
        <p:spPr>
          <a:xfrm xmlns:a="http://schemas.openxmlformats.org/drawingml/2006/main">
            <a:off x="3631064" y="2819400"/>
            <a:ext cx="4929872" cy="1143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4D8EC-4EA4-40BC-8242-95849ABB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34701-8E07-4647-A5C4-D525407A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양수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663F7-6272-4AD8-9E91-54AACBC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67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원천 · 순유출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1EB03-059F-44CA-B2A9-20D05416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86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D2500-E62A-421D-8464-99F447A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국소 균형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087FA-FB15-462E-83BE-EC5908DA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음수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152BF-5683-4E06-8A71-E7FC7384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67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흡수점 · 순유입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70E1E3-D91D-49BD-B371-F202DC6A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발산은 벡터장의 크기가 아니라 ‘순수하게 빠져나가는 정도’를 측정</a:t>
            </a:r>
          </a:p>
        </p:txBody>
      </p:sp>
    </p:spTree>
    <p:extLst>
      <p:ext uri="{BB962C8B-B14F-4D97-AF65-F5344CB8AC3E}">
        <p14:creationId xmlns:p14="http://schemas.microsoft.com/office/powerpoint/2010/main" val="426541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CB8CF3-7EF3-4560-81B1-7B53B02C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1.2.4 / GEOMETRY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8742A-6136-4E0A-B92C-6962C605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발산의 부호를 그림으로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532A7-5C65-4013-BA50-77A6FEE2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1C01A-81DD-43DD-AAA8-2E86D3F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8EAC7-705A-4FB6-83AE-4D207789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CD74C-00C2-41B6-BA15-6830BEE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2ED2E-30DC-49CA-81B1-79F74568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33A9A-85EE-49AF-8E8F-B703DB3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956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47BE1-7640-4E6E-BFBE-6AC674ED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110721" y="3872846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8F479-D1DB-4B89-8773-6E301D59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33550" y="40290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3F128-FA2D-48BD-9D92-4438A65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356379" y="3872846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5122D-8E87-4098-83CD-941B8FB0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0150" y="34956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03E9F-0D24-4046-AC53-7DE06480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00000">
            <a:off x="1356379" y="3118504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B33D4-B3B9-49A4-B432-F1CF8B6A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733550" y="29622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DF0F1-DF90-451E-8999-949771BE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2110721" y="3118504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AECE7-4B5E-4A4A-9EEF-7F07337E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5322A-C5B1-4B34-9059-05BB149B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∇·v &gt;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FC78D-9E71-4B1E-9C19-3562BBA0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원천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AB9E4-1070-42C8-86A3-F04ADAE6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AA4DE0-8F9C-431C-ADFC-7FD7959E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95575"/>
            <a:ext cx="18097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41DA8-BFC5-4468-AB28-39B78611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95625"/>
            <a:ext cx="18097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276AD-25B3-44A7-8807-1D72175B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495675"/>
            <a:ext cx="18097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71C61-1BC2-4EFB-8E6A-AACE303A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95725"/>
            <a:ext cx="18097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33D78-9BEA-4A05-867F-A40D76FB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295775"/>
            <a:ext cx="180975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C8BFEB-257E-4F99-9563-C147A614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000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∇·v =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854E6-0628-4BB7-B669-51F3E3BD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86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평행 흐름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E9D24-6582-4028-BDFB-6EDB480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9070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43741-5E46-408F-8821-64B68EF9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267950" y="34956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A46C4-E5CB-402C-BE8D-59256D2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100000">
            <a:off x="10111721" y="3872846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A59490-560A-4519-A71D-45915AD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734550" y="40290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1838EF-7F64-4FA9-AE00-D691A55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9357379" y="3872846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33537A-C22D-4916-9E66-A024D7E6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956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AAB5BD-C567-471C-9E74-78BC1456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357379" y="3118504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1B8700-E230-4C54-BB98-3961A867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34550" y="2962275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B06FA2-6754-4550-A0B7-F72E6D7D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0111721" y="3118504"/>
            <a:ext cx="6858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FBB6DE-053E-4D78-B793-B75C06B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E8B9E4-D080-4886-A3B3-F20B423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00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∇·v &lt; 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5053B8-573D-4279-9411-F032EC6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86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흡수점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E9C7A0-A1AB-442B-85A5-2F09B0C1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한 점 주변의 아주 작은 상자에서 순유출 − 순유입을 본다</a:t>
            </a:r>
          </a:p>
        </p:txBody>
      </p:sp>
    </p:spTree>
    <p:extLst>
      <p:ext uri="{BB962C8B-B14F-4D97-AF65-F5344CB8AC3E}">
        <p14:creationId xmlns:p14="http://schemas.microsoft.com/office/powerpoint/2010/main" val="1755962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67805-844D-49D6-977B-3C3358BC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1.2.4 / EXAMPLE 1.4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95BF1-3170-41C3-8CFE-EECDC9F8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장을 한 줄씩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BEAD-F083-455B-8B7C-282C4B31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B68CF-30CE-482B-902F-2F97D006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2B5B5-A1C3-43A9-B86F-A511B1F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7F1A5-A2C7-4FD5-BC76-4A7DAB20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08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7c57049444b5c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3369693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F39A0-1D52-4416-A870-3FBBB0A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0" cy="3562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743ED-E080-4E72-9D35-770E0A8B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240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705D9-0C79-4FAD-954A-1CDA3D88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거리와 함께 커짐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C69A6-CEC4-465D-95D3-86D77F1E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240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325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AE5FC-7D0F-46FF-9CA8-A0A1032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6B049-F855-41A7-8CAE-942EEA7F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B88F5-D45D-45F9-88D1-EF42E7F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어디서나 같은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4021D-4B10-4963-A5CC-765FB9C4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28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325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04997-0F7B-4FCD-BE27-B646D6FE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766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C6313-BBDE-4BA5-A25D-FB74DBD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zẑ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B5FCD-CD50-4CF1-A13E-1672C95E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338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z 방향 세기가 증가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7129F-E057-45A4-AEC8-C7676E7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1338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325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2325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91773-D2D6-409A-9A24-D8858F34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성분별 변화율을 더한 결과가 국소 순유출</a:t>
            </a:r>
          </a:p>
        </p:txBody>
      </p:sp>
    </p:spTree>
    <p:extLst>
      <p:ext uri="{BB962C8B-B14F-4D97-AF65-F5344CB8AC3E}">
        <p14:creationId xmlns:p14="http://schemas.microsoft.com/office/powerpoint/2010/main" val="1278389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40BE-6541-47DE-8D71-5980D781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1.2.4 / WORKED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A7801-1363-465B-9C8D-C4167D6F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성분이 커져도 발산은 0일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8B70A-BFFC-4D89-A0EF-D537A309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2410A-C75B-42C5-863C-A76E7379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5BDB8-98CA-4396-8366-57229D16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6C7DD-A59B-4DFD-8502-A9C8C109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5383eea3949a2"/>
          <a:stretch xmlns:a="http://schemas.openxmlformats.org/drawingml/2006/main"/>
        </p:blipFill>
        <p:spPr>
          <a:xfrm xmlns:a="http://schemas.openxmlformats.org/drawingml/2006/main">
            <a:off x="2160008" y="1676400"/>
            <a:ext cx="7871984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17FF1-67B4-469F-8CB5-B7274486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1ABDA-A119-40E4-9469-849C0563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vᵧ는 z에 따라 커지지만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9FF47-77CD-4C1D-A4D9-745A91A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1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발산은 ∂vᵧ/∂y를 본다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8CF65-A2BE-400B-8EB3-D4C00F34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성분과 미분 방향을 짝지어 읽기</a:t>
            </a:r>
          </a:p>
        </p:txBody>
      </p:sp>
    </p:spTree>
    <p:extLst>
      <p:ext uri="{BB962C8B-B14F-4D97-AF65-F5344CB8AC3E}">
        <p14:creationId xmlns:p14="http://schemas.microsoft.com/office/powerpoint/2010/main" val="9953585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6FE6F2-DF77-4EE8-A263-6F3D7FCC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1.2.5 / CURL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BEBF9-9F10-4C46-9E1D-ABC6BD03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컬: 국소 회전축과 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E28B0-A4DD-4729-9268-196DFC5B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0EA4C-BA12-44D5-BEEA-4EF90550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A641F-3D5B-480A-9957-8CFC20E6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AA18F-7683-4B96-B0F0-9797AC5D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CFF2B-F755-4DBF-BACE-20C08947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BAD5F-602F-41D5-90AE-4FA29C58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394B7-2635-4FAD-8398-7509E91D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296DC-E6E3-46DD-A2FD-812B38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BD36A-576F-4C77-960E-FCC0BC3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799DE-DF39-43AE-978F-B2AD67B7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5D078-2282-4A38-9A1E-6001D3C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96EDE-3064-4CC1-B9B4-39519535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F3230-0B20-48AA-9B2F-1CD7EC9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00AF7-09A4-4D62-98A6-D86409DA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5944A-487C-4AF2-B13C-62E54E6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ff4b26e15495d"/>
          <a:stretch xmlns:a="http://schemas.openxmlformats.org/drawingml/2006/main"/>
        </p:blipFill>
        <p:spPr>
          <a:xfrm xmlns:a="http://schemas.openxmlformats.org/drawingml/2006/main">
            <a:off x="609600" y="2891635"/>
            <a:ext cx="4476750" cy="217963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E68D9-150B-45F8-A064-4C82720D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81300"/>
            <a:ext cx="0" cy="2457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aba07b2064865"/>
          <a:stretch xmlns:a="http://schemas.openxmlformats.org/drawingml/2006/main"/>
        </p:blipFill>
        <p:spPr>
          <a:xfrm xmlns:a="http://schemas.openxmlformats.org/drawingml/2006/main">
            <a:off x="6000750" y="3027528"/>
            <a:ext cx="5238750" cy="1907843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C92F4-3F92-4BAD-8DC9-3F5F19F3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오른손 엄지 = 회전축 방향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A5EF3-89B0-4B1A-AC50-BA15ED17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19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결과는 벡터</a:t>
            </a:r>
          </a:p>
        </p:txBody>
      </p:sp>
    </p:spTree>
    <p:extLst>
      <p:ext uri="{BB962C8B-B14F-4D97-AF65-F5344CB8AC3E}">
        <p14:creationId xmlns:p14="http://schemas.microsoft.com/office/powerpoint/2010/main" val="1396031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80C698-D903-4E61-848A-3E463BF2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1.2.5 / PADDLE WHEEL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0548D-2A4D-4F1D-8288-CEF4371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작은 바퀴가 도는가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B5A9B-BB2E-4251-8F91-6407F9E1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00CB4-726F-4DF4-9F4B-E683D38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31E9F-73EC-437D-AFAE-24006B6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260456-97F1-4D90-BFED-5C2EDC5F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A2116-D816-467B-A6BE-E65462E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3E20B-11AF-4757-93D1-B77D4AA6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43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9F3B6-0D1D-4720-B963-5AC2C547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57750" y="3762375"/>
            <a:ext cx="495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483AA-F31E-4D20-86DD-3AE2336F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00000">
            <a:off x="3867150" y="3543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B1005-5670-451C-BD2C-CC1BD97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4024154" y="4710906"/>
            <a:ext cx="495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98E5E-C5D8-4169-8D55-70161E1F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0000">
            <a:off x="3867150" y="3543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19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D90B2-3F90-4362-A387-A21A2C2D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00000">
            <a:off x="2785904" y="4463256"/>
            <a:ext cx="495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CB4CC7-7D1F-44DA-AC1E-7AEDD243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67150" y="3543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19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6A35A-DEF2-43BF-91D8-D69AD8C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381250" y="3267075"/>
            <a:ext cx="495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1B20DB-B0B6-48DB-BAE1-E8EA0D89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400000">
            <a:off x="3867150" y="3543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191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1F7F8-F39A-40E4-9F71-33D5A1DA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0">
            <a:off x="3214846" y="2318544"/>
            <a:ext cx="495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D4BE2-E720-4D08-9EE2-FA2B92EE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3867150" y="35433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19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82FE7-9776-425F-9FDC-36DB97D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">
            <a:off x="4453096" y="2566194"/>
            <a:ext cx="4953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AA9D4-C06A-4DCC-A405-C20D22B8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48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31A78-8859-4735-8929-CD6FBBE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621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시험 입자보다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4B162-D085-4463-B113-9D65B39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시험 바퀴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D9F12-3D26-4DCA-8366-FB957885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CE49E-571A-4081-8220-7ABC16A2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바퀴가 반시계로 돌면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컬은 화면 밖 +z 방향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E11AA-2C7B-4E1C-939D-BE5E613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19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직선 운동이 있어도 회전이 없을 수 있다</a:t>
            </a:r>
          </a:p>
        </p:txBody>
      </p:sp>
    </p:spTree>
    <p:extLst>
      <p:ext uri="{BB962C8B-B14F-4D97-AF65-F5344CB8AC3E}">
        <p14:creationId xmlns:p14="http://schemas.microsoft.com/office/powerpoint/2010/main" val="15188350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02D69-7647-4F18-84B5-4728CE5D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1.2.5 / EXAMPLE 1.5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E6093-E2D3-4B37-A1AF-9BE48B5C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장은 같은 방향으로 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ED8C4-8465-49F6-A609-098B24BD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BD5B9-1D19-4086-96FC-8E912D25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6A38A-415D-4A00-8726-C204358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74D5-C6D1-4ED4-8D78-1AD974F1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6e9b974ac4a18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6433155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67934-193A-4840-8599-496F1CE0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524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EB88-A3A5-4703-9042-72841B28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−y x̂ + x 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DA116-F78B-40DF-84B5-8DC26193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강체 회전처럼 보임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9CB83-EC7A-4F8E-A823-865830B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83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61633-AEB2-401D-85A6-6A7DADDF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x 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7686C-E20A-4470-8246-B889F645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전단 흐름도 바퀴를 돌림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580C9-4BC7-434A-A543-587E0F51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모양이 달라도 컬은 +z 방향</a:t>
            </a:r>
          </a:p>
        </p:txBody>
      </p:sp>
    </p:spTree>
    <p:extLst>
      <p:ext uri="{BB962C8B-B14F-4D97-AF65-F5344CB8AC3E}">
        <p14:creationId xmlns:p14="http://schemas.microsoft.com/office/powerpoint/2010/main" val="9197697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E0265-A850-448B-A7F7-946066AE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1.2.4–1.2.5 / COMPARE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0D2A9-211F-4EEB-B7FB-44A535CB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퍼짐과 회전을 혼동하지 않기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D54F1-CDFA-4A36-BD16-5BDF6C15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BB18-9110-4DDC-8F74-1048B886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67DD4-B4DD-445F-8528-A3FACAD2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37ABD-04D8-4205-B15B-29E4109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2D0B9-6CB7-4FB3-A384-FDF08A61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발산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1095D-9461-4700-90B3-5C241D52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∇·v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2C95F-CD23-444E-B3AF-F1157371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 스칼라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질문  순유출이 있는가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도구  작은 닫힌 상자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6541F-1074-47E9-9D4D-8120EFDA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EC41C-1840-416E-896D-136FC61B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9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146B6-A221-4476-B705-CB823F54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9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∇×v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B39A8-3112-4F98-B03C-E9232E4D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결과  벡터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질문  바퀴가 도는가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도구  작은 패들휠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46AEC-A5D8-45A4-B75D-77C89201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07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둘은 독립적이다: 발산 0이 컬 0을 뜻하지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832700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BD88D-8DCD-4C64-B073-204E5CF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1.2.6 / PRODUCT RULES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19FAA-BEF9-44D3-8AB3-D31FB5C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스칼라가 곱해지면 두 곳을 미분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BA58E-D0E8-45E5-94D4-EC18FB82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49E3E-0A35-4887-9464-527D993E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EC7E8-AF88-43EE-A0AF-AC69026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CA7A4-4D2E-4DBF-8AAE-E5FE46D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33a07560948c0"/>
          <a:stretch xmlns:a="http://schemas.openxmlformats.org/drawingml/2006/main"/>
        </p:blipFill>
        <p:spPr>
          <a:xfrm xmlns:a="http://schemas.openxmlformats.org/drawingml/2006/main">
            <a:off x="1835643" y="1638300"/>
            <a:ext cx="8215915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CF072-4BF8-43DF-8EFC-8525B7FF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DC088-5590-433B-87D7-AFAB3BA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공통 읽기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30FCF-2B24-49DB-9D8A-29E48EDE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625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첫째를 두고 둘째 미분 + 둘째를 두고 첫째 미분</a:t>
            </a:r>
          </a:p>
        </p:txBody>
      </p:sp>
    </p:spTree>
    <p:extLst>
      <p:ext uri="{BB962C8B-B14F-4D97-AF65-F5344CB8AC3E}">
        <p14:creationId xmlns:p14="http://schemas.microsoft.com/office/powerpoint/2010/main" val="1602829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BBA96-9FB9-43AD-94B4-072A984F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1.2.6 / PRODUCT RULES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51A0F-50F5-4809-AFC5-3DC3232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벡터 둘의 곱은 순서까지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30376-9FC2-4BE7-B279-6D3226C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BE819-A939-4A18-8AEB-D87924DF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6E3D4-82A5-41F5-B0D2-699727FB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C13EA-7A2B-4DE6-AE27-1076A8C9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2e8523cb2471b"/>
          <a:stretch xmlns:a="http://schemas.openxmlformats.org/drawingml/2006/main"/>
        </p:blipFill>
        <p:spPr>
          <a:xfrm xmlns:a="http://schemas.openxmlformats.org/drawingml/2006/main">
            <a:off x="590550" y="1714292"/>
            <a:ext cx="11010900" cy="285791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D0425-3943-4C1F-A2A8-9AFFBA7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83F27-0716-41B3-BBCE-45EAAAC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(A·∇)B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A33A8-1D65-401E-9C60-7C30A7D6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7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A 방향으로 이동할 때 B가 얼마나 변하는가</a:t>
            </a:r>
          </a:p>
        </p:txBody>
      </p:sp>
    </p:spTree>
    <p:extLst>
      <p:ext uri="{BB962C8B-B14F-4D97-AF65-F5344CB8AC3E}">
        <p14:creationId xmlns:p14="http://schemas.microsoft.com/office/powerpoint/2010/main" val="8979255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60CF9-BC03-4226-9540-CEEE02B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1.2.6 / ONE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B912F-7C02-47D0-93DB-E833DFB5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곱법칙은 성분별 보통 미분의 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55AE3-8AB0-475E-A3F6-40F82E2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FDC7A-5084-4037-8D15-892F7568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6F0E8-9760-4751-9896-101C7C1C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C2A81-3E96-4159-8063-7F02D86F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cc57d027b49be"/>
          <a:stretch xmlns:a="http://schemas.openxmlformats.org/drawingml/2006/main"/>
        </p:blipFill>
        <p:spPr>
          <a:xfrm xmlns:a="http://schemas.openxmlformats.org/drawingml/2006/main">
            <a:off x="609600" y="1928263"/>
            <a:ext cx="7810500" cy="265857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02AB2-B42A-4B2D-AD6E-F57796CE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24003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37E03-F5FE-481F-8599-04B59818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76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읽는 순서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01026-9A12-42FA-A943-3DAFFB3A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6B396-DFEF-40FE-B70A-06EB61C9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성분으로 쓴다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AB5CA-8CBF-4C5C-8800-8ADE810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337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BA195-5342-44E6-A443-D138633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81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0F7EE-8349-4144-9460-4C959E06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813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항에 곱법칙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B4820-F8D6-4014-94B5-D5D45E4A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290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22E5C-977C-44DB-BD75-3B5B28B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5C477-A263-48DB-B384-CAF59717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766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f 항을 묶는다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37E45-B22B-47EA-82DA-A0054020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243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9A8F2-EE67-4EB8-A837-3675A86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A3D67-85E9-4432-BD2C-8B7A9C0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719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 표기로 되돌린다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B0B821-97D6-4342-A7CA-6E2612DD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한 번 증명하면 다른 항등식의 검산 틀이 된다</a:t>
            </a:r>
          </a:p>
        </p:txBody>
      </p:sp>
    </p:spTree>
    <p:extLst>
      <p:ext uri="{BB962C8B-B14F-4D97-AF65-F5344CB8AC3E}">
        <p14:creationId xmlns:p14="http://schemas.microsoft.com/office/powerpoint/2010/main" val="17848937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2AA19-B76A-4649-A4EF-A8307706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§1.2.7 / COMPOSITION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6312C-ED15-42B0-88B7-DEC9D4EF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델을 두 번 작용시키면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08F90-C9A8-4ABA-9400-65A5EC0B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DE0B3-1752-45C7-ABD7-5BAB554C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3120D-0E0B-42F0-A088-A330A674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D8D8A-4694-47AB-BEF5-2138916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17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b2245330d46dd"/>
          <a:stretch xmlns:a="http://schemas.openxmlformats.org/drawingml/2006/main"/>
        </p:blipFill>
        <p:spPr>
          <a:xfrm xmlns:a="http://schemas.openxmlformats.org/drawingml/2006/main">
            <a:off x="1493499" y="1638300"/>
            <a:ext cx="9205003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6EAA1-2284-4990-9583-487B5AD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276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83844-D674-42E8-A2FD-DA64C206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스칼라 → 스칼라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1F90B-6B4B-4372-8D61-302EE60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∇²T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A9730-FD05-4B4F-96DB-5A23C151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라플라시안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B13DA-82C5-4C03-A335-69E7921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3276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77DD6-885D-4566-AEC4-DF2A6CA4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벡터 → 벡터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D2260-6DBF-4FFD-9C80-E35F86C1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243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∇(∇·v)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4947E-8C8D-4B11-826C-900F1714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672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발산의 그래디언트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FA070-507A-48A1-A855-75D01532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276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F3003-6E3F-4C3C-834B-EB7E17CE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벡터 → 벡터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182A5-2034-48EC-8A33-511E69DF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∇×(∇×v)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40DBAA-3018-4FA6-9F12-3CB58EFC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컬의 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31D92-9DFF-4837-B25C-77A849A9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나머지 두 조합은 항상 0</a:t>
            </a:r>
          </a:p>
        </p:txBody>
      </p:sp>
    </p:spTree>
    <p:extLst>
      <p:ext uri="{BB962C8B-B14F-4D97-AF65-F5344CB8AC3E}">
        <p14:creationId xmlns:p14="http://schemas.microsoft.com/office/powerpoint/2010/main" val="4972310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D01D2-4493-4F64-9CCA-F3B806C4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1.2.7 / LAPLACIAN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93BE4-E1E3-49DC-B04B-F5A8D147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라플라시안은 곡률의 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9B3C-DCFF-4B95-82B0-65FA623A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736D7-48D7-4678-B7AF-5CF96A9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2D60B-512C-4E76-9965-2F12663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738B7-1607-4272-932D-773C976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EEE07-BA31-4DF0-A507-772AF5C5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98A7C-88DE-4940-8E08-31210883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0E424-ACEB-4BC5-BC69-1CEEBF6F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스칼라장 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6270B-64BB-4A18-AA2E-7D432970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BBDC7-560A-418A-8FC1-EBFBD06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F7B9E-7F57-4BBF-8413-FA7FBFFF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61F0F-122E-4EE1-B432-D126FEC1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∇·∇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56F54-3E78-4328-BB53-92E861E8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3709F-C8CC-4E0F-82FA-3C8532D3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AA2EB-9077-4855-AE32-EF707E92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FE7B2-8AE8-48AF-AF07-187454E7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스칼라장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e5944524c42f6"/>
          <a:stretch xmlns:a="http://schemas.openxmlformats.org/drawingml/2006/main"/>
        </p:blipFill>
        <p:spPr>
          <a:xfrm xmlns:a="http://schemas.openxmlformats.org/drawingml/2006/main">
            <a:off x="3349969" y="2895600"/>
            <a:ext cx="5492062" cy="1219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C62FF-3F46-46CA-A42E-FFCD9A4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x 방향 굽음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972F5-BE03-4761-B0E9-D9E620A8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95BB3-44D2-4674-8059-E70D8C7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y 방향 굽음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EA857-55DC-4AE1-B734-F8B062C2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291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34878-603F-46DF-BA53-1AC51947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29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z 방향 굽음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E8D94-E23B-4933-89FF-47A17C0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전자기학의 포아송·라플라스 방정식으로 이어지는 핵심 연산자</a:t>
            </a:r>
          </a:p>
        </p:txBody>
      </p:sp>
    </p:spTree>
    <p:extLst>
      <p:ext uri="{BB962C8B-B14F-4D97-AF65-F5344CB8AC3E}">
        <p14:creationId xmlns:p14="http://schemas.microsoft.com/office/powerpoint/2010/main" val="4442231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996A42-D680-4728-B78B-469C3B4B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1.2.7 / TWO ZEROS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63538-8A68-4412-9E3A-C537246A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혼합편미분이 만드는 두 개의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AA650-4EE8-4BA4-A640-7092F63E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07299-026E-48A4-AFAB-C5049E4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3DBE9-000D-488C-9084-A891FFD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F80FA-CB74-40DB-8097-0850222A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19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b07c918f94425"/>
          <a:stretch xmlns:a="http://schemas.openxmlformats.org/drawingml/2006/main"/>
        </p:blipFill>
        <p:spPr>
          <a:xfrm xmlns:a="http://schemas.openxmlformats.org/drawingml/2006/main">
            <a:off x="762000" y="1831498"/>
            <a:ext cx="10668000" cy="98520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28D35-4383-4BEB-B317-0105982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curl grad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53302-3117-4D8F-9752-F898B9F2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그래디언트장은 국소 순환이 없다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F62F13-A0EA-47E0-812E-DABD203B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E8CFF-73CA-4441-A0EC-270FE42A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4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div curl =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2BF47-626F-4C56-872D-E9D96A1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컬장은 국소 원천이 없다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92A42-BDF0-4FBA-B177-78929F20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92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매끄러운 장에서 ∂x∂y = ∂y∂x</a:t>
            </a:r>
          </a:p>
        </p:txBody>
      </p:sp>
    </p:spTree>
    <p:extLst>
      <p:ext uri="{BB962C8B-B14F-4D97-AF65-F5344CB8AC3E}">
        <p14:creationId xmlns:p14="http://schemas.microsoft.com/office/powerpoint/2010/main" val="56457530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8CD89-9BAB-4EB9-B2B1-7DFD285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1.2.7 / CURL OF CURL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ADCBC-59A2-425B-BCDA-AC72986D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컬의 컬은 두 벡터 2계항으로 분해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DA237-8445-490D-B12B-88E61C59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79956-F26F-4E96-9AF9-F421460F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27F84-D0B7-4B74-A669-FA2B0F4A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6A759-6E7A-45AF-B90A-EDC2E51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94617e7964d6d"/>
          <a:stretch xmlns:a="http://schemas.openxmlformats.org/drawingml/2006/main"/>
        </p:blipFill>
        <p:spPr>
          <a:xfrm xmlns:a="http://schemas.openxmlformats.org/drawingml/2006/main">
            <a:off x="1020192" y="1733550"/>
            <a:ext cx="10151617" cy="1162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6AF46-50B8-4277-8EFF-E1A4190D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4914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CBB7B-C5C5-4D83-B541-E8539244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∇(∇·v)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541F0-518D-4CBC-83C6-A5598D7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압축·팽창의 공간 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9396A-825C-47BA-8419-4B246169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914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3C672-0C34-4204-AAA6-82203A6E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850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2850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− ∇²v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1ACEB-D7BC-421F-879B-A263E2D5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각 성분의 공간적 굽음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A4DA0-6390-4A03-BF59-27267D84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Maxwell 방정식에서 파동방정식으로 갈 때 다시 등장</a:t>
            </a:r>
          </a:p>
        </p:txBody>
      </p:sp>
    </p:spTree>
    <p:extLst>
      <p:ext uri="{BB962C8B-B14F-4D97-AF65-F5344CB8AC3E}">
        <p14:creationId xmlns:p14="http://schemas.microsoft.com/office/powerpoint/2010/main" val="15562961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59710-E405-49BB-B37D-755DFA73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1.3 / INTEGRAL CALCULUS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E76C5-8CDD-4EE8-B089-9E1901CD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미분은 한 점을 묻고, 적분은 전체를 묻는다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EC23D-066C-4EA3-B8D8-012F5D9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1941A-06FE-44AF-8BB1-56CCF2E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∇T  ·  ∇·v  ·  ∇×v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63ED1-FED8-45B6-BF41-86BA46A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2076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4BBBB-6890-4F9E-9F1E-3EB346BB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0515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합한다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D4999-FA8C-4102-B590-E13D99B5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71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22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GLOBAL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B9A6A-B5FC-4944-9169-82A800B7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∫경로  ·  ∫면  ·  ∫부피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689FF-133C-43DF-B2AE-54DDF30F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440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CF230-CF6B-4A72-B43C-FA615584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다음 질문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9B414-ED57-4049-9E67-C39D1B3D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05350"/>
            <a:ext cx="8648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어디를 따라, 무엇을 통과해, 어느 부피에서 더하는가</a:t>
            </a:r>
          </a:p>
        </p:txBody>
      </p:sp>
    </p:spTree>
    <p:extLst>
      <p:ext uri="{BB962C8B-B14F-4D97-AF65-F5344CB8AC3E}">
        <p14:creationId xmlns:p14="http://schemas.microsoft.com/office/powerpoint/2010/main" val="5369261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ACFEFC-A158-4313-9316-46DAFC4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1.3.1 / LINE INTEGRAL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179A6-AB35-4821-837E-38C0B7B9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경로를 따라 접선 성분을 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F509B-3911-4A3E-BE9E-DC1E5EBD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8EC50-2B77-4A97-BAA7-BB98D2A6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6FA2B-C4D1-4BF3-B8C0-CD77FAFA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94803-C6CE-4154-8F16-70949116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CBAEC-C87F-431C-A5B9-FD8E0750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8061F-AED0-4C3F-A5B6-B3AEDF7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017D7-C000-4E34-9C72-0C29119F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F98B8-6C7B-4079-8BB1-66D8B810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8591D-5EE5-4034-AE12-F063B847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D4A35-FC9F-46CA-8495-04EC251B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22780-DAD4-4098-B52E-02C9ABC6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v·dl 적분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40753-B62C-4E5C-9D46-E174A92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E0C0F-A53F-47E4-8063-D02C3FB2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53B66-DA76-447E-AF20-713AE6D8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6AA2B-075A-43BA-9D3A-475BED3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스칼라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6635db6314be5"/>
          <a:stretch xmlns:a="http://schemas.openxmlformats.org/drawingml/2006/main"/>
        </p:blipFill>
        <p:spPr>
          <a:xfrm xmlns:a="http://schemas.openxmlformats.org/drawingml/2006/main">
            <a:off x="3369178" y="2876550"/>
            <a:ext cx="5453643" cy="11430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E1F73-4D5E-4C42-96AA-DEE0722C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51562">
            <a:off x="1147932" y="5157788"/>
            <a:ext cx="1742737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CA98C-E658-4459-8FD0-743B5A11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9904">
            <a:off x="2836359" y="5110163"/>
            <a:ext cx="1737732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1AB79-7D16-4B25-8F25-1B3DACDA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29483">
            <a:off x="4505581" y="5014913"/>
            <a:ext cx="1771138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96EA2E-A746-4A77-B056-78537C25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20689">
            <a:off x="6209308" y="4919663"/>
            <a:ext cx="1830783" cy="666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18224-42A7-4B51-85E0-94D101B9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38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7379A-AE5F-4549-A978-359867FA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98F91-2DAE-4B57-9CB7-BFE409B9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8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4CF181-F640-403C-A083-7E1D9453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71563-28E0-43AA-9F0F-D585DD23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5BCE3-B449-4F57-A662-571F4957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A559E-C007-42D0-935B-6FA4A0CA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720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E098C8-6AC1-4078-A44A-2FBA14F1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5B7ED9-0446-4950-A786-8AC0C96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482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dl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1C03D-CE34-4701-B2E2-BCC0ABA6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경로의 접선 방향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E5DAB-2422-4110-82F3-4EE4FC0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경로가 바뀌면 일반적으로 값도 바뀐다</a:t>
            </a:r>
          </a:p>
        </p:txBody>
      </p:sp>
    </p:spTree>
    <p:extLst>
      <p:ext uri="{BB962C8B-B14F-4D97-AF65-F5344CB8AC3E}">
        <p14:creationId xmlns:p14="http://schemas.microsoft.com/office/powerpoint/2010/main" val="10055187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24B50A-C2FD-4BDB-9061-099438BE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1.3.1 / PATH DEPENDENCE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B8CE6-9777-407D-A74C-88A87C43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같은 출발과 도착, 다른 누적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B4E47-631C-46E2-9850-21F11C8C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52E7F-DE07-44E5-870F-E2D7EDA7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CC8B1-719E-4391-BCA7-D8EDA155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D8CCD-9A3B-4785-8274-1329E876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6C9F1-BC4E-4CBA-AC96-FEBBFD6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67300"/>
            <a:ext cx="44577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7D46A-06FB-4241-B2FA-EFF257B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543425" y="3609975"/>
            <a:ext cx="29146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7425E-DFDF-420E-9AB2-CDE1EF3F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725" y="3609975"/>
            <a:ext cx="29146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3FC89-9125-49F9-B22E-B7EF9998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52650"/>
            <a:ext cx="44577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4EE1E-235E-4843-9E5D-36471A18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EAC4B-355D-4B68-9B83-E2B8A6F1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2A610-1567-4B68-972B-25B297E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6D9FF-12BE-44D7-B3F2-4F0D0565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3F19C-508B-4A69-85F8-D49BAA95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경로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CB920-5700-48CA-9EC9-48B479E9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경로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C50FD-E2BC-4C81-B4C0-E4DC4AF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0C660-411E-43BE-88C6-C592550D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24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판정 질문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D50F5-86D1-4F1C-8DCE-1AC176F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670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144B1-4B96-4665-AE39-51B56653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벡터장이 그래디언트인가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B9B6C-F19A-4E43-8977-BF35ADA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DAD6F-03C8-4A2C-B189-6327525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86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7745F-9049-4BDF-9A6C-EFCDC0ED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8612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영역이 단일연결인가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960FA-ACAA-4CC1-89EC-A2CA0392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02F84-8E7C-489D-8D0D-647F857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FB45F-8983-4DD4-80D6-E64705CF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닫힌 경로 적분이 0인가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4F448B-7C8B-40A9-BD0A-4436C9E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F62C4E-F828-49BD-9296-5720667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2437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DB5BB-0C30-4702-8968-EF06FCCF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2437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경로 계산이 일치하는가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BB7C06-7156-4DA3-A196-16641C93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410200"/>
            <a:ext cx="335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경로 독립성은 특별한 성질</a:t>
            </a:r>
          </a:p>
        </p:txBody>
      </p:sp>
    </p:spTree>
    <p:extLst>
      <p:ext uri="{BB962C8B-B14F-4D97-AF65-F5344CB8AC3E}">
        <p14:creationId xmlns:p14="http://schemas.microsoft.com/office/powerpoint/2010/main" val="7694444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A7035-DC7E-44A8-AE95-3C5DE5C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1.3.1 / SURFACE INTEGRAL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7479B-62BD-4B34-8D1D-5E25C8E5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면을 통과하는 법선 성분을 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216CD-E6E7-4803-831A-99EE583E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5BAF9-86D7-48D5-AB16-01B57D7C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51F92-B0E2-4F55-A04D-C0E9F219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440FA-6393-4E4A-80D3-A3812E3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299D0-B6D4-4333-8A22-45D6510E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6416A-1558-4993-9EB3-CBF938FF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975E1-BDF1-453A-80AA-E6CCEF00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방향 있는 면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8A523-5AB9-44EE-B8DC-40957A1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solidFill>
              <a:srgbClr val="E0F0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63405-3ECC-4240-B32E-BC4BE3D0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0DD7E-CC99-4599-A57A-79F08A48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6F1B1-6562-4796-A10A-FB3EC3ED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v·da 적분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12A86-2721-4332-9D78-AA551E93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solidFill>
              <a:srgbClr val="E0F0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F187F-02F5-448B-9ECD-4CD8E95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A05CE-CABD-42E6-A95A-13DC556F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2BAEF-453E-4923-8233-88AD19A6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플럭스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b6823949f4666"/>
          <a:stretch xmlns:a="http://schemas.openxmlformats.org/drawingml/2006/main"/>
        </p:blipFill>
        <p:spPr>
          <a:xfrm xmlns:a="http://schemas.openxmlformats.org/drawingml/2006/main">
            <a:off x="609600" y="2800350"/>
            <a:ext cx="4011188" cy="11049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80172-C999-4A4C-B223-C1B12FE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848600" y="2933700"/>
            <a:ext cx="2857500" cy="16764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19050">
            <a:solidFill>
              <a:srgbClr val="E0F0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68A41-8FCE-4EA2-9FB0-970CE30C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439150" y="2886075"/>
            <a:ext cx="16764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solidFill>
              <a:srgbClr val="E0F0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6D4D1-7649-4834-9ED2-9B1120AC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71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n̂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FA7860-58CD-42B7-9182-7DA3CADA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76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9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da = n̂ 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9140B-7873-4528-8D48-7664EC89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방향을 바꾸면 플럭스의 부호가 바뀐다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141459-A41E-44EC-B768-2AC248E8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닫힌 면은 바깥쪽 법선을 양의 방향으로 사용</a:t>
            </a:r>
          </a:p>
        </p:txBody>
      </p:sp>
    </p:spTree>
    <p:extLst>
      <p:ext uri="{BB962C8B-B14F-4D97-AF65-F5344CB8AC3E}">
        <p14:creationId xmlns:p14="http://schemas.microsoft.com/office/powerpoint/2010/main" val="15274689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884D40-E19E-4895-84BF-F8A83817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1.3.1 / VOLUME INTEGRAL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607DE-A208-41ED-BB0F-FCD1E83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부피 전체의 밀도를 더한다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A7339-DB24-4DC3-8BBB-8E84E20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79174-167C-4E24-B6E5-6BAF406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D4CBC-70CF-45A2-A4FC-0F1467FC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F69CD-40E3-4C4F-AB91-4D28E891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579EF-2E97-469C-B1E7-DE95D03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9B8C3-6747-4C2C-AF3B-373E921C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E79C7-8203-42CA-B212-C9AA2539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부피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4D529-52B0-4712-994E-1E1B4E87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BC825-CB2B-4F70-AA8F-11BB8A28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2ED16-3226-463F-93A1-1DF1BB53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65EB1-6528-4FCE-8CEF-ACBA312C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 dτ 적분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3D800-5575-4BF2-B3CD-E970169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71F74-2A1C-4FBD-9E35-320EF51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1EC48-5DE2-41E0-B7BC-C32A99E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AB4FC-8DF6-4B17-B8BE-4EA26885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총량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d6278e51c4582"/>
          <a:stretch xmlns:a="http://schemas.openxmlformats.org/drawingml/2006/main"/>
        </p:blipFill>
        <p:spPr>
          <a:xfrm xmlns:a="http://schemas.openxmlformats.org/drawingml/2006/main">
            <a:off x="609600" y="2895600"/>
            <a:ext cx="1558894" cy="10858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8A469-9A22-4D6B-B464-A320E125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2476500" cy="21907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2C872-161E-41D1-ADB2-EA307AE4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5457B6-8F0F-4BA3-9A2E-AD17CB0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91CE0-DDB3-485E-8700-20FC9C15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67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22897E-F55C-4B5E-B364-1CADED9E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C4447-C73D-4B2E-8059-1951833A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E7B60-0342-4665-80E8-44FCBC0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E0F1A-247D-4D6E-8D7F-C9D858D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33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dτ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70C44-B85A-4411-AE8D-25A5A35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밀도 × 작은 부피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46B25-BD55-4703-ACE9-91D9CE85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모든 작은 부피에서 합하면 총량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F5CD1-1BD9-4F2F-A078-0080D6F8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선·면·체적 적분의 차이는 ‘어디에서 더하는가’</a:t>
            </a:r>
          </a:p>
        </p:txBody>
      </p:sp>
    </p:spTree>
    <p:extLst>
      <p:ext uri="{BB962C8B-B14F-4D97-AF65-F5344CB8AC3E}">
        <p14:creationId xmlns:p14="http://schemas.microsoft.com/office/powerpoint/2010/main" val="2682247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EFF2AC-5E7E-4F41-9349-26271220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1.3.2–1.3.5 / THEOREM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7F061-0629-461F-AA7B-D8EAA64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세 기본정리는 내부를 경계로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AF0E4-7E7A-4E2C-8BB4-092C65E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8AD8E-C5B0-4D99-9BAD-24E2F6FF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AD006-639E-4BD3-BDC8-7CA5271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45F21-B3EB-4038-8706-8D02E785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b108768224af5"/>
          <a:stretch xmlns:a="http://schemas.openxmlformats.org/drawingml/2006/main"/>
        </p:blipFill>
        <p:spPr>
          <a:xfrm xmlns:a="http://schemas.openxmlformats.org/drawingml/2006/main">
            <a:off x="4035817" y="1581150"/>
            <a:ext cx="4120365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F7FA8-E368-4F2B-90E6-AF1E191F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DDE5B-FE4B-4DBB-9C76-4FF1753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BA366-44D3-4370-B2CA-B1D029FB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48275"/>
            <a:ext cx="6096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B5EFE-3C73-4334-9079-EF96444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24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끝점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1030F-5A56-4A59-BE02-2DDE0F5D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부피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43123-4490-4FF5-A3C4-AB40327B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48275"/>
            <a:ext cx="6096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0120B-DCAD-4677-904D-F7EB631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24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닫힌 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8C70D-CD34-4DF3-80E1-7F9B286F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07CB3-E78F-44C7-8180-0A0CA448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48275"/>
            <a:ext cx="609600" cy="57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CF93F-1D9F-44EC-BC51-DC89C1DA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24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경계곡선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52EB2-5E7F-4730-9978-66B7E9BF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차원 하나 낮은 경계로 이동</a:t>
            </a:r>
          </a:p>
        </p:txBody>
      </p:sp>
    </p:spTree>
    <p:extLst>
      <p:ext uri="{BB962C8B-B14F-4D97-AF65-F5344CB8AC3E}">
        <p14:creationId xmlns:p14="http://schemas.microsoft.com/office/powerpoint/2010/main" val="15119265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EA5645-C6AB-48F9-B929-1FEC11B7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1.3.3 / GRADIENT THEOREM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9737C-B5F7-46A5-88B7-08AEBC3F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그래디언트의 선적분은 끝점만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E42B2-06E2-47A3-8C55-84B00DE1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136F4-7955-49E3-89EB-B27924D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916AA-9AB7-4EA9-92FD-A931FF1D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72CB8-A68C-47A9-841E-E69C21F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A33EB-E163-411C-866E-65B598F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9E287-2697-4C24-8DD6-CC318DCB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8DE13-C9B6-4257-8EE5-867005F2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P→Q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D3C04-B211-444E-90E9-9B7EADC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CC5D0-0423-4661-82BA-594C443B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251CD-FA1C-4103-A560-8E5E8673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E5240-64EB-4BB9-B711-74899E90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∇T·dl 적분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66C8C-E64D-42F1-9CC3-C395E730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A938B-E7B1-4917-98D6-5D7B3880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80241-CCA1-4E9E-A9C6-C434A7FE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8CAFD-D38B-4AD7-9FBC-1114507E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T(Q)−T(P)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cc55d6fba4fad"/>
          <a:stretch xmlns:a="http://schemas.openxmlformats.org/drawingml/2006/main"/>
        </p:blipFill>
        <p:spPr>
          <a:xfrm xmlns:a="http://schemas.openxmlformats.org/drawingml/2006/main">
            <a:off x="3363951" y="2895600"/>
            <a:ext cx="5464098" cy="1219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AC89F-26D0-45FB-8E7D-C8A6CF70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FF339-6582-413F-A66F-F0B29310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영역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34C99-DD7A-4F12-A34D-C4C33519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79820-0CA3-4504-BA0F-6C386203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14957-70AF-4767-AEC7-542F1FC4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두 끝점 P, 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8EB7A-A362-415A-9A37-05190F95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조건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C2FF7-CA22-41A2-B88A-2DE5BF9C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 = ∇T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B187D-B1E3-4FE0-AB95-2DF91F9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중간 경로의 세부정보가 모두 소거</a:t>
            </a:r>
          </a:p>
        </p:txBody>
      </p:sp>
    </p:spTree>
    <p:extLst>
      <p:ext uri="{BB962C8B-B14F-4D97-AF65-F5344CB8AC3E}">
        <p14:creationId xmlns:p14="http://schemas.microsoft.com/office/powerpoint/2010/main" val="1452293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C7892-DD8F-4129-B100-C871B23F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1.3.3 / COROLLARIES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A633B-467A-40D1-B40B-E16C566C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독립성과 닫힌 적분 0은 같은 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0F27-6519-4C71-A820-90B05AA7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8DA7C-F518-4C31-8DC8-04A7EF76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11A54-D3DE-400A-8B71-FF1F89BA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3D2D-9EC1-408F-87F0-2FEC7A12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28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2cb2b0c6c4de8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2799966" cy="114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38B06-58A0-42FD-8D99-C43F3117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2705100" cy="2705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1F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1327E-557E-4CF0-B476-BA9DA08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85819">
            <a:off x="9505390" y="2571750"/>
            <a:ext cx="64882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94A77-DD5A-4AAE-B70B-2B5BB642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90353">
            <a:off x="9018917" y="4438650"/>
            <a:ext cx="650216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DA6BD-163F-44F2-AB04-F7E071CA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72499">
            <a:off x="7227520" y="4010025"/>
            <a:ext cx="65161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B87C2-D526-46C9-93FD-198C1D23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A3165-D5D3-4F39-8CAA-1063AA4C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v = ∇T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8D65E-FB3E-4FFB-BDD0-504ABD8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그래디언트장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D0471-D7C0-4415-BED2-27F6FA1E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57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F1158-8EBB-45C2-8C78-19D0E598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∮v·dl =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8379E-9524-410B-AB6A-B510DC5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00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닫힌 경로 적분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33447F-42D0-48E5-85F8-4913B7D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BDF4B-C728-4B94-8DE6-5FEB6E0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 독립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0336F-4EF7-4F31-AC34-1823E24A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81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끝점만 중요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34250-B245-4D59-8390-24594934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단일연결 영역과 매끄러움 조건을 확인</a:t>
            </a:r>
          </a:p>
        </p:txBody>
      </p:sp>
    </p:spTree>
    <p:extLst>
      <p:ext uri="{BB962C8B-B14F-4D97-AF65-F5344CB8AC3E}">
        <p14:creationId xmlns:p14="http://schemas.microsoft.com/office/powerpoint/2010/main" val="20621588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C18943-A60C-4085-A69A-00D10766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1.3.4 / DIVERGENCE THEOREM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3D40D-F3CD-424F-891E-7032713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부피 속 원천의 합은 닫힌 면의 순유출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931D2-CDA0-4D4F-9F17-6650F299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A1FEF-66DE-402A-A0A2-31517B61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4D26B-1431-4429-8DB3-BCE3EFE0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C2450-7E3C-4065-9E76-B2E13D0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C8F55-88E0-4771-A064-3D612B83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C0389-1CFE-4711-85B2-3A92C4F9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89200-B06F-46EF-B002-DC862241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부피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A39F1-8EBD-40A3-BB66-2D684095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A5F90-A7E7-422A-BD2B-C9D2A272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BE9B3-23DD-4776-A9D1-BCD412FD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9CD44-241B-4E0B-8C99-3444AB88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div 적분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D1D7C-4A45-4991-AD2C-F4366789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B85CC-6741-4061-AA66-6801CC2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28D71-6425-44EF-B89E-FCE09CE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B49AE-DB0A-470B-A1EF-45F01087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∂V 플럭스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af14192564b9d"/>
          <a:stretch xmlns:a="http://schemas.openxmlformats.org/drawingml/2006/main"/>
        </p:blipFill>
        <p:spPr>
          <a:xfrm xmlns:a="http://schemas.openxmlformats.org/drawingml/2006/main">
            <a:off x="3571089" y="2895600"/>
            <a:ext cx="5049822" cy="1219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7FAD4-4F5F-4752-B5F2-D579929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8FF23-D2C1-42FE-8431-2893603A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영역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89D8A-18EF-4612-808E-DBD68E9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3차원 부피 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FEC03-33AB-4972-BD09-BB64472A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14D23-086B-4A50-91D8-DAA5DF1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62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닫힌 면 ∂V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20711-FB96-4DC6-800F-4D93E32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방향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E4DAB-E59F-4802-8875-D4243F1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바깥쪽 법선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A2134-6E93-4C34-9032-C4B65791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내부 계산과 경계 계산을 서로 검산</a:t>
            </a:r>
          </a:p>
        </p:txBody>
      </p:sp>
    </p:spTree>
    <p:extLst>
      <p:ext uri="{BB962C8B-B14F-4D97-AF65-F5344CB8AC3E}">
        <p14:creationId xmlns:p14="http://schemas.microsoft.com/office/powerpoint/2010/main" val="3236821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A8D385-F6EA-4BA6-8BAA-67EBE28E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1.3.4 / CHECK ON A CUBE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0BFE5-99F3-466B-B21A-6E4924DD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 = r이면 각 양의 면이 a³씩 기여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D0FE4-D8BF-48B0-BE1D-EA2AC78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A2CC0-E5FB-4A63-8D28-5C642835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B4115-2B07-488A-A04B-F8143103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B68F3-75A0-4CEE-AFF5-BC0DD85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db004901a4a5e"/>
          <a:stretch xmlns:a="http://schemas.openxmlformats.org/drawingml/2006/main"/>
        </p:blipFill>
        <p:spPr>
          <a:xfrm xmlns:a="http://schemas.openxmlformats.org/drawingml/2006/main">
            <a:off x="1431422" y="1600200"/>
            <a:ext cx="9329156" cy="1123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B4F4-3858-4FA6-BFCE-51A2B218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667000" cy="21907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E3C45-227B-4E95-BAC8-AAC4E6C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19600"/>
            <a:ext cx="10477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822BE-8CE9-4EE3-929B-9BF349F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990725" y="2847975"/>
            <a:ext cx="9715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19219-29B8-4A32-BC13-1E476164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92777">
            <a:off x="405607" y="5267325"/>
            <a:ext cx="827086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9CA72-D41E-4F38-8A1A-92F05E3A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576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x=a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48214-F048-4946-AC2C-834FB024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574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z=a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EF0DE-DD48-4BFD-881C-EB1BE3C8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B1F3A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0B1F3A"/>
                </a:solidFill>
                <a:latin typeface="AppleGothic"/>
                <a:ea typeface="AppleGothic"/>
                <a:cs typeface="AppleGothic"/>
              </a:rPr>
              <a:t>y=a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27EDE-6B72-4997-BDA0-45280001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00400"/>
            <a:ext cx="0" cy="2419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8CF93-0FC6-44D2-828F-A2BD1702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부피 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C1A9C-EE0F-4AC9-844F-21F03F8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∇·r = 3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부피 = a³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26799-4DBB-4FB3-9644-CAD72CD9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71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경계 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2C3ED-E493-4F44-B1DF-21851538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052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음의 세 면 0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양의 세 면 a³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9C893-C57D-49D5-BCCF-65C7E77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두 경로의 답 3a³</a:t>
            </a:r>
          </a:p>
        </p:txBody>
      </p:sp>
    </p:spTree>
    <p:extLst>
      <p:ext uri="{BB962C8B-B14F-4D97-AF65-F5344CB8AC3E}">
        <p14:creationId xmlns:p14="http://schemas.microsoft.com/office/powerpoint/2010/main" val="20040853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731AE-9F1A-47DA-937E-E3C99EC4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1.3.5 / STOKES' THEOREM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8156D-4056-4F63-BD42-B7F8DC00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면 속 회전의 합은 경계의 순환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B10EA-B334-4FF0-A720-5D7E6DC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F0D85-902D-4E8C-AA8F-BC0B4A91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D3B4F-B983-4C55-84B2-2A566EF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0F72-2AD0-43BD-AF75-D96D0AA6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A9C3B-72C9-4377-849D-1C8C4602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FC8FA-DF1B-410B-9BE7-52967AE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4E0D5-A360-4B09-B199-50A8D0A5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방향 있는 면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FCEB2-4A13-48D9-AD9C-79707A98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2B4EE-21C6-4A1E-B29D-B3BC0313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9386F-DBF1-439F-9B66-17EE534B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연산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E3458-0A91-4DC2-8BE4-5D4E57E8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curl 플럭스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A232A-5D8C-4097-BBFD-2F36AD44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76438"/>
            <a:ext cx="266700" cy="47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335C4-DDFF-4D76-A905-52540FA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276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C73E8-CE38-4F0A-8E50-27E995B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56D9A-51D0-48C4-B690-DD4DB6E3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 ∂S 순환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6ee30fb4d4dc7"/>
          <a:stretch xmlns:a="http://schemas.openxmlformats.org/drawingml/2006/main"/>
        </p:blipFill>
        <p:spPr>
          <a:xfrm xmlns:a="http://schemas.openxmlformats.org/drawingml/2006/main">
            <a:off x="3450376" y="2895600"/>
            <a:ext cx="5291248" cy="1219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8F6A6-DE17-48C1-ABBF-CAE10FC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F2BF6-9BC4-42D0-9F29-C54D2FA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영역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5F118-E530-4232-A9E5-C5636FF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62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2차원 면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EDE72-4DF6-4846-8094-241F11B6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2E0697-C760-4847-9B94-DBE1CA69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닫힌 곡선 ∂S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3D015D-B896-4611-8632-42F76F4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방향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877D59-82A1-4F0E-B138-1F49FD50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62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오른손 규칙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0100D-AB13-41F8-8E5C-69648D09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같은 경계라면 면을 바꾸어도 curl 플럭스는 같다</a:t>
            </a:r>
          </a:p>
        </p:txBody>
      </p:sp>
    </p:spTree>
    <p:extLst>
      <p:ext uri="{BB962C8B-B14F-4D97-AF65-F5344CB8AC3E}">
        <p14:creationId xmlns:p14="http://schemas.microsoft.com/office/powerpoint/2010/main" val="13692427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C802F-2052-4E2A-ABE2-9C18D94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1.3.5 / ORIENTATION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F1BC2-BAB4-45A2-86DB-6B2666D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법선을 고르면 경계 방향이 결정된다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F8525-9B8F-472C-A511-1CDDA34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52B8F-14D5-413A-92D4-2D02A85F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40610-1EEC-4330-8F9D-508374AC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A19F4-F65A-4B29-86C4-E9DDFDF8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9300E-E02E-4004-B384-8630806D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86050"/>
            <a:ext cx="3619500" cy="1981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28575">
            <a:solidFill>
              <a:srgbClr val="E0F0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30DF8-3BDB-4A7B-9137-FDC2669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886075" y="2686050"/>
            <a:ext cx="1885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solidFill>
              <a:srgbClr val="E0F0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72E78-B222-4719-A745-E611A18D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478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+n̂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7A4F1-3ADF-451D-B495-52606A10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76641">
            <a:off x="4946875" y="3200400"/>
            <a:ext cx="71710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AFC5D-A459-4A3B-8F49-65BADBD2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162026">
            <a:off x="4477840" y="4381500"/>
            <a:ext cx="664569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1D705-60AC-4DC8-8B99-4997340A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363922">
            <a:off x="1991885" y="4038600"/>
            <a:ext cx="702529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745E5-6BDC-4C5F-8B88-193BFA64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387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반시계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20861-F393-43E6-B632-6F4CBFCE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F7F34-9C8D-43F4-9BBF-3E07789D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5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오른손 규칙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249A8-5A5D-40F2-A347-D4296CAA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52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1E4EE-6E5E-4EDB-B0E6-16C6DE70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엄지: 면의 법선 +n̂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12BBB-5812-4C77-A3EF-9E44F59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8617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169B8-0DA8-46AD-9B5E-839DB38E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3F652-9696-4F15-AFD1-A7BA1DD5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감긴 손가락: 경계 진행방향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FD77C-EDFB-4921-A9C8-994F125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672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E57A3-62B3-4FFA-83D7-71FFBE5D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76F10-B85F-4823-8AC8-38608D7C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148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법선을 반대로: 두 적분 모두 부호 반대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69D37-3322-4C90-879D-AE2C9910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5054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한쪽만 뒤집으면 정리가 맞지 않는다</a:t>
            </a:r>
          </a:p>
        </p:txBody>
      </p:sp>
    </p:spTree>
    <p:extLst>
      <p:ext uri="{BB962C8B-B14F-4D97-AF65-F5344CB8AC3E}">
        <p14:creationId xmlns:p14="http://schemas.microsoft.com/office/powerpoint/2010/main" val="192782506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067DF-1964-4AAA-9192-02663BB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1.3.6 / INTEGRATION BY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64BE7-93B0-4A56-8CEB-3184FDE5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곱법칙을 적분하고 경계항을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7EC6-61E8-4353-8DDE-084F05E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32333-C0D2-484F-AE22-0EDCFBC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0DD6C-A537-45FA-86C0-2193B31C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5D156-E289-476C-9B8D-91857E9B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ca90c26ac4400"/>
          <a:stretch xmlns:a="http://schemas.openxmlformats.org/drawingml/2006/main"/>
        </p:blipFill>
        <p:spPr>
          <a:xfrm xmlns:a="http://schemas.openxmlformats.org/drawingml/2006/main">
            <a:off x="940240" y="1676400"/>
            <a:ext cx="10311520" cy="1352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1483D-8CB4-435F-8168-18D4709F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출발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8C849-DF54-445D-A4A4-E2B844E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00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∇·(fA)의 곱법칙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73C10-6F28-4C4D-A4C5-3FFE32B6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1162050" cy="76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A8D1A-6076-4615-8D7B-17E92E16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718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적분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D8B68-0D82-44BF-98C5-27389B0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내부 미분 이동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7F3B3-639C-4568-B321-175CBAE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+ 경계항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5EED8-03F8-449F-B31B-B6E34E0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A1693-C703-4A3D-8EF8-0A02511E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핵심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DADA42-DC82-4263-9C12-1D5A4F8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815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미분을 옮길 때 부호가 바뀌고 경계항이 생긴다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02907-6A54-4316-84B7-1349E703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경계조건이 경계항을 없애는지 항상 확인</a:t>
            </a:r>
          </a:p>
        </p:txBody>
      </p:sp>
    </p:spTree>
    <p:extLst>
      <p:ext uri="{BB962C8B-B14F-4D97-AF65-F5344CB8AC3E}">
        <p14:creationId xmlns:p14="http://schemas.microsoft.com/office/powerpoint/2010/main" val="3367000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8D861-4F96-4082-8362-2970EEE1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CHECKPOINT / 90 SEC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43160-3160-481B-9DD2-A2E621E5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식보다 먼저 선언할 네 가지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32845-9F76-457B-A616-6255BDC3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20C7C-CC88-4B26-A19F-F95DD19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F347C-0C62-4C7F-852A-96F3F26F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4877A-702F-48C1-A4D6-BAA7385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348AB-1951-4E31-86E9-125C5FE2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05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F865B-DC94-4A3E-8CA0-8046C8F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CA9D4-788D-48DD-BFE2-937268C8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입력·출력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AEE3E-F389-46B7-9F28-84D1651D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스칼라 ↔ 벡터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03AC9-CA29-47E5-9377-7C15B305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5105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FD5CD-2BB7-44B5-BE2C-A4871997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B6798-971F-4FE4-9D45-BD79EA13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81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영역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7047B-2DA0-4C82-9FD7-CE5D206E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경로 · 면 · 부피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A794E-5BD2-4B13-83D8-D05F91FC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05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1CE63-2B5D-470D-9B27-1F41FD9B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26FE2-798D-41BA-A786-86F06C69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EB35E-0045-432E-A130-B9FACA41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00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끝점 · 닫힌 면 · 폐곡선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DE182-4BDD-40BB-98D2-C217561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105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785CD-373F-4299-B658-65C3EF42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2C5275-97B6-412E-932D-5A72F6D3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방향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4F1A2-8693-4AC0-AA5C-0F84F750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725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접선 · 법선 · 오른손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9952F-3004-4BA4-A0AB-24E08669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정리를 쓸 수 있는가보다, 무엇을 어디에 적용하는가가 먼저</a:t>
            </a:r>
          </a:p>
        </p:txBody>
      </p:sp>
    </p:spTree>
    <p:extLst>
      <p:ext uri="{BB962C8B-B14F-4D97-AF65-F5344CB8AC3E}">
        <p14:creationId xmlns:p14="http://schemas.microsoft.com/office/powerpoint/2010/main" val="83620830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902D86-FBF4-4E12-B389-F525155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9.14 / 180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62F6E-D7D0-4367-87B8-67100A6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세 번의 30분 문제풀이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2DBD5-D58C-494A-9973-1766DC74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0DAE7-D5BC-4C34-97B8-3BB5AAC7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26EE8-94CC-4210-8490-2806CC1D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49CE7-8B92-4311-AD1C-7B09ADD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B872A-D768-481F-B836-21F011F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00:00–01:15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EEA4F-2AB7-4D04-AE88-1F8E386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52600"/>
            <a:ext cx="123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7AEF6-0B72-4426-9B25-B1DC8087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859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출발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61B92-5C6A-495D-B43F-362BDFD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748E0-A77D-4E66-936F-4EE5E0B7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526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5988D-5F01-4F55-810A-35CCAF8E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SET 01 · 미분연산자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D3458-749B-466E-9870-0DAA63D0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2EAB-4CC0-4B1A-8EA3-5D1AECEC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526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AD2F7-0275-4EA6-862E-FE8DD54E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해설 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F3BCB-63BA-48FA-A463-66CAF836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7AAE8-61C2-4B19-A205-46365B0E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EE317-A288-477B-90D5-6CE766BD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859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휴식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AF8DD-2B10-495C-ABF6-934F3121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FCFFF-666E-4EB1-BEC2-678FE093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01:15–02:15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9702E-A7D8-4769-A989-BEA5BB4D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71800"/>
            <a:ext cx="4476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3C88D0-6990-49B9-B6C1-20779E09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SET 02 · 경로적분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865A2-5490-47BB-8353-5C08A2E8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1522C-D266-4BAF-9D35-D1824322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solidFill>
              <a:srgbClr val="0B1F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B24F0-571C-4B79-A0B7-5A66DDC1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해설 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97197-8FDA-46D7-ACE0-BACC651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1344F-78B3-4AE0-8F5C-D229C58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EF5244-6F19-4079-850C-DA486EA4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051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휴식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42F878-F845-4262-8105-2E05841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105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AAFD7-34ED-4A16-8C67-ABEFC383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02:15–03:00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6D052-4669-47F0-AF54-532D6FA6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CA1970-1092-4657-B3C2-8E3C64BB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24350"/>
            <a:ext cx="512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SET 03 · 적분정리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4D5139-189C-4DEA-9A64-3BE4A56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24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30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FFA47-5154-45F4-AB18-7F48077A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23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57AA06-3893-4A77-90F9-20D74978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243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검산 · EXIT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F8BC69-35B9-4F98-B040-268E141B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324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892DFC-9A0F-4751-AA36-70C83B9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58D94B-8E83-49A2-B360-11B9DA8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문제풀이 90분 · 해설 40분 · 도입/휴식/종합 50분 = 180분</a:t>
            </a:r>
          </a:p>
        </p:txBody>
      </p:sp>
    </p:spTree>
    <p:extLst>
      <p:ext uri="{BB962C8B-B14F-4D97-AF65-F5344CB8AC3E}">
        <p14:creationId xmlns:p14="http://schemas.microsoft.com/office/powerpoint/2010/main" val="71909916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46EA50-BF7F-44DF-AFCB-8C5B0872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SET 01 / 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343A4-8D31-44BD-938C-1B712218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발산·컬·라플라시안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C4235-EF23-4249-9F1F-4CB3158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99106-87D6-4D2B-BE64-ED6148F1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0F32D-B863-48D7-8244-A534B7D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737DE-5C49-436B-A11A-061B93C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36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8a8a44ca44075"/>
          <a:stretch xmlns:a="http://schemas.openxmlformats.org/drawingml/2006/main"/>
        </p:blipFill>
        <p:spPr>
          <a:xfrm xmlns:a="http://schemas.openxmlformats.org/drawingml/2006/main">
            <a:off x="609600" y="1581150"/>
            <a:ext cx="4878084" cy="8191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af857a4a64a59"/>
          <a:stretch xmlns:a="http://schemas.openxmlformats.org/drawingml/2006/main"/>
        </p:blipFill>
        <p:spPr>
          <a:xfrm xmlns:a="http://schemas.openxmlformats.org/drawingml/2006/main">
            <a:off x="6457950" y="1581150"/>
            <a:ext cx="5019069" cy="819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36E21-B254-4978-93D3-7E15F407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E8DCA-A2BE-487E-8D66-8DC2C1E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D70A1-7E02-47A5-9008-629DE86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v의 발산과 컬을 계산하라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340C9-2B19-4E83-9B41-3D49CB48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480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9581D-6192-4F94-A8FE-5ADF84DA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C4B5E-BB64-46AC-9E4A-3EFA971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T의 라플라시안을 계산하라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A038A-6B5B-4415-A0A0-2026553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4463F-4AA7-4826-ACC0-F04250BC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7E9AA-C0A2-475B-A686-A21170A3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243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∇·(∇×v)=0을 직접 확인하라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CCE44-97CC-42CA-B69D-48EAA1FE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05375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EDA77-8F92-42DF-84BA-95589773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E4BB0-E1EC-4E83-970C-27F3FF49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∇×(∇T)=0을 혼합편미분으로 설명하라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155D6-A6B9-4035-9874-E4D80D5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A3E61-8D58-4122-96BE-96F709D7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5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제출  성분 계산 + 결과 유형 + 항등식 검산</a:t>
            </a:r>
          </a:p>
        </p:txBody>
      </p:sp>
    </p:spTree>
    <p:extLst>
      <p:ext uri="{BB962C8B-B14F-4D97-AF65-F5344CB8AC3E}">
        <p14:creationId xmlns:p14="http://schemas.microsoft.com/office/powerpoint/2010/main" val="7910321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23482-B6A0-4641-83E3-269A7C3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SET 01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06BF8-ACE2-4E5C-AA97-A53C3C7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풀이 공개 · 미분연산자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1EC54-E7A1-4CB6-ABF0-FF201399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C8865-9C0C-4ABA-83B9-12210DE2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744D1-0331-4E13-8DBE-09E89BE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C5E65-C6E7-4501-ADE1-6C476CC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52c5cda5c443a"/>
          <a:stretch xmlns:a="http://schemas.openxmlformats.org/drawingml/2006/main"/>
        </p:blipFill>
        <p:spPr>
          <a:xfrm xmlns:a="http://schemas.openxmlformats.org/drawingml/2006/main">
            <a:off x="2267221" y="1562100"/>
            <a:ext cx="7657559" cy="2324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9E956-B8A0-45A3-A472-C3C7D94B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e20388a0b4100"/>
          <a:stretch xmlns:a="http://schemas.openxmlformats.org/drawingml/2006/main"/>
        </p:blipFill>
        <p:spPr>
          <a:xfrm xmlns:a="http://schemas.openxmlformats.org/drawingml/2006/main">
            <a:off x="758254" y="4514850"/>
            <a:ext cx="10675492" cy="952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DFA8F-147A-4772-836C-24D0864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4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검산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47C65-6D82-4257-B75D-3F269C89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15000"/>
            <a:ext cx="870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컬의 각 성분을 다시 발산하면 −2y + 2y = 0</a:t>
            </a:r>
          </a:p>
        </p:txBody>
      </p:sp>
    </p:spTree>
    <p:extLst>
      <p:ext uri="{BB962C8B-B14F-4D97-AF65-F5344CB8AC3E}">
        <p14:creationId xmlns:p14="http://schemas.microsoft.com/office/powerpoint/2010/main" val="21283586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6FD8B-A7F4-4C97-8873-73077739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SET 02 / 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2B937-A002-49E0-AA56-D8B027C7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경로의존성과 그래디언트 정리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A0FB1-D9D4-4BE4-9C1B-45056BF2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92BBB-E3A5-4491-B951-843217B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0E6B9-05E2-4B4A-A26D-183A3EAF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85E14-519B-4EC8-AD0D-E9F16EC7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E8D00-1689-436E-B728-1A09B8C5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A · 일반 벡터장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c9782271f4ff9"/>
          <a:stretch xmlns:a="http://schemas.openxmlformats.org/drawingml/2006/main"/>
        </p:blipFill>
        <p:spPr>
          <a:xfrm xmlns:a="http://schemas.openxmlformats.org/drawingml/2006/main">
            <a:off x="609600" y="2145462"/>
            <a:ext cx="7239000" cy="49062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84720-14F9-4814-B6A5-98FE8D91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x→y 경로와 y→x 경로의 선적분을 각각 구하라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7A623-C8DE-4E61-9EF8-C1D86E38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91273-5A91-4227-A32E-99C6F00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B · 그래디언트장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631752a1e4b5a"/>
          <a:stretch xmlns:a="http://schemas.openxmlformats.org/drawingml/2006/main"/>
        </p:blipFill>
        <p:spPr>
          <a:xfrm xmlns:a="http://schemas.openxmlformats.org/drawingml/2006/main">
            <a:off x="609600" y="4442456"/>
            <a:ext cx="7239000" cy="54483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E621A-A0BC-411C-9DC6-5B75BFBE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P=(0,0,0)에서 Q=(1,1,1)까지 꺾은선과 직선을 비교하라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F6698-0F79-4E23-87EF-1635517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설명  왜 A는 다르고 B는 같은가</a:t>
            </a:r>
          </a:p>
        </p:txBody>
      </p:sp>
    </p:spTree>
    <p:extLst>
      <p:ext uri="{BB962C8B-B14F-4D97-AF65-F5344CB8AC3E}">
        <p14:creationId xmlns:p14="http://schemas.microsoft.com/office/powerpoint/2010/main" val="6588853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BEFCA-6FC2-4BF8-AAF7-95BE56F4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SET 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FB6BD-0574-4847-ABD4-7A6AE03C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0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0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풀이 공개 · 경로가 남는 경우와 사라지는 경우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A601A-4F10-4B02-98B5-0AEF0ED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00B6F-5793-4488-A5AC-B5AB167C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1D669-2261-45A2-8DCE-ECD8E699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E1EDC-5275-4A20-8DB1-6B3401D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2585A-6E82-40C9-8183-CD0BC869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A · 경로의존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384ce3d714591"/>
          <a:stretch xmlns:a="http://schemas.openxmlformats.org/drawingml/2006/main"/>
        </p:blipFill>
        <p:spPr>
          <a:xfrm xmlns:a="http://schemas.openxmlformats.org/drawingml/2006/main">
            <a:off x="2446421" y="2038350"/>
            <a:ext cx="7299158" cy="990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462D2-B7CF-4AE6-9047-57BBAF1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1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1 ≠ −1  →  끝점만으로 결정되지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5E54C-9340-4B46-8EBD-87C7290E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3E623-AA2B-4D8C-A846-AEC16CE7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6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B · 경로독립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ac47c249346e3"/>
          <a:stretch xmlns:a="http://schemas.openxmlformats.org/drawingml/2006/main"/>
        </p:blipFill>
        <p:spPr>
          <a:xfrm xmlns:a="http://schemas.openxmlformats.org/drawingml/2006/main">
            <a:off x="3758309" y="4552950"/>
            <a:ext cx="4675381" cy="952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A289E-0519-4744-AE4A-DBBA7D41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72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직선은 ∫₀¹6t dt = 3 · 꺾은선은 1+1+1 = 3</a:t>
            </a:r>
          </a:p>
        </p:txBody>
      </p:sp>
    </p:spTree>
    <p:extLst>
      <p:ext uri="{BB962C8B-B14F-4D97-AF65-F5344CB8AC3E}">
        <p14:creationId xmlns:p14="http://schemas.microsoft.com/office/powerpoint/2010/main" val="72439856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0A33C-5CD5-4FAA-B871-4D5DDAA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SET 03 / 30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7CB3F-5AD9-44F9-AF26-A362A254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발산정리와 스토크스 정리를 양쪽에서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5F0B5-4B2A-4C3C-B4CB-344975DE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8809F-CC41-41F9-835E-CFEF2AA1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519E9-8094-4DE4-B7C0-C0CB00A9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ACF6C-C366-4577-AB77-B15CB4B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31591-15F4-473B-BA6D-2E716BB6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2578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0C5BE-C007-4EF4-B45F-59417A2A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A · 발산정리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47A85-E174-45B5-8B34-DFD5779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v=(x,y,z)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0≤x,y,z≤a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E5F27-CCDF-470F-B01E-777F1BCE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부피 적분과 여섯 면의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플럭스를 각각 구하라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9EAA2-A124-41B6-9E9A-C367D848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52578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E8C52E-0973-4581-AF16-9651C0DD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62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B · 스토크스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FB1E6-1FCF-4936-A31F-BA4A7621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v=(-y,x,0)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2250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xy 원판, 반지름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2D52D-5C28-4DA7-B2FC-9088AF4A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컬의 면적분과 경계의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191919"/>
                </a:solidFill>
                <a:latin typeface="AppleGothic"/>
                <a:ea typeface="AppleGothic"/>
                <a:cs typeface="AppleGothic"/>
              </a:rPr>
              <a:t>선적분을 각각 구하라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AD42B-4B91-4338-91D9-C44095F0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202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방향 선언  원판 법선 +z · 경계 반시계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3DF61-8299-4D93-9A24-40E6879E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344054"/>
                </a:solidFill>
                <a:latin typeface="AppleGothic"/>
                <a:ea typeface="AppleGothic"/>
                <a:cs typeface="AppleGothic"/>
              </a:defRPr>
            </a:pPr>
            <a:r>
              <a:rPr sz="1500" b="0">
                <a:solidFill>
                  <a:srgbClr val="344054"/>
                </a:solidFill>
                <a:latin typeface="AppleGothic"/>
                <a:ea typeface="AppleGothic"/>
                <a:cs typeface="AppleGothic"/>
              </a:rPr>
              <a:t>추가  방향을 모두 반대로 바꾸면 무엇이 변하는가</a:t>
            </a:r>
          </a:p>
        </p:txBody>
      </p:sp>
    </p:spTree>
    <p:extLst>
      <p:ext uri="{BB962C8B-B14F-4D97-AF65-F5344CB8AC3E}">
        <p14:creationId xmlns:p14="http://schemas.microsoft.com/office/powerpoint/2010/main" val="2057241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73B47-057D-4C8C-881A-F421DB08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12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SET 03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564C7-F187-4EF9-965E-9F632FA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3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풀이 공개 · 내부와 경계의 일치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5707F-0D69-4086-B7A0-E4F6AFA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9A72-DC98-4F80-9B64-447B1F3D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전자기학 2026 · VECTOR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2F1E3-81CE-4FB6-A663-448BC59A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24A7B-0E2E-4632-AED2-198DF2EE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34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defRPr>
            </a:pPr>
            <a:r>
              <a:rPr sz="1050" b="1">
                <a:solidFill>
                  <a:srgbClr val="667085"/>
                </a:solidFill>
                <a:latin typeface="AppleGothic"/>
                <a:ea typeface="AppleGothic"/>
                <a:cs typeface="AppleGothic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6DB30-7674-46E6-AC94-56327A34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98cc2fcde4255"/>
          <a:stretch xmlns:a="http://schemas.openxmlformats.org/drawingml/2006/main"/>
        </p:blipFill>
        <p:spPr>
          <a:xfrm xmlns:a="http://schemas.openxmlformats.org/drawingml/2006/main">
            <a:off x="3660618" y="1524000"/>
            <a:ext cx="5175564" cy="1066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38C09-556E-4E14-AD4F-57E24D5E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음의 세 면은 0 · 양의 세 면은 각각 a³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2BF88-B841-4CFD-88BF-EDBA780E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80FB58-CE27-47B5-9337-4929A861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B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99869bc4a43a7"/>
          <a:stretch xmlns:a="http://schemas.openxmlformats.org/drawingml/2006/main"/>
        </p:blipFill>
        <p:spPr>
          <a:xfrm xmlns:a="http://schemas.openxmlformats.org/drawingml/2006/main">
            <a:off x="2492626" y="3638550"/>
            <a:ext cx="7511547" cy="1123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76AC3-0B98-420D-88A4-FE3B982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r(φ)=(R cosφ,R sinφ) · 0≤φ≤2π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8A224-2001-4043-8729-BA6AFFCF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법선과 경계를 함께 반전하면 양변이 모두 −2πR²</a:t>
            </a:r>
          </a:p>
        </p:txBody>
      </p:sp>
    </p:spTree>
    <p:extLst>
      <p:ext uri="{BB962C8B-B14F-4D97-AF65-F5344CB8AC3E}">
        <p14:creationId xmlns:p14="http://schemas.microsoft.com/office/powerpoint/2010/main" val="19119803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ED782-588C-46F0-85FE-6F9F121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8F71E-E4BA-4845-9A8F-BF29642D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350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WEEK 02 /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31F8D-CE11-44CE-B21E-E4EBDDB2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한 점의 정보가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9D8DB-9E92-421B-B05B-C1B9443D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05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405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경계 전체를 말한다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02E53-9775-4084-9C4E-62F13F08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A1E79-612F-4C04-90C0-E3E880AE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국소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A1AE3-E006-49F9-80EA-BEAE660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052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발산 · 컬 · 2계 미분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5B8C6-2433-4EBB-BB2D-081CF2AF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전역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3D3E1-F61C-4787-B2C9-003603AB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72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 · 면 · 체적 적분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35604-A6BB-40A1-BBB9-0BFEBA9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defRPr>
            </a:pPr>
            <a:r>
              <a:rPr sz="1575" b="1">
                <a:solidFill>
                  <a:srgbClr val="E0F0FE"/>
                </a:solidFill>
                <a:latin typeface="AppleGothic"/>
                <a:ea typeface="AppleGothic"/>
                <a:cs typeface="AppleGothic"/>
              </a:rPr>
              <a:t>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7AC4D-BCF8-4E4F-BC01-D253A10A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1875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그래디언트 · 발산 · 스토크스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D5363-CD21-4CE8-B52A-12E7A63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05400"/>
            <a:ext cx="78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345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345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39042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2026-09-06T23:57:44.1170000Z</dcterms:created>
  <dcterms:modified xsi:type="dcterms:W3CDTF">2026-09-06T23:57:44.1170000Z</dcterms:modified>
</coreProperties>
</file>