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932b45a57cdd4e1f" Type="http://schemas.openxmlformats.org/package/2006/relationships/metadata/core-properties" Target="docProps/core.xml"/><Relationship Id="R9c6a78fa5dc24ae2" Type="http://schemas.openxmlformats.org/officeDocument/2006/relationships/extended-properties" Target="docProps/app.xml"/><Relationship Id="Rf8b0f0feab4f416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38901d1114282"/>
  </p:sldMasterIdLst>
  <p:notesMasterIdLst>
    <p:notesMasterId xmlns:r="http://schemas.openxmlformats.org/officeDocument/2006/relationships" r:id="R42bb00d777de4eee"/>
  </p:notesMasterIdLst>
  <p:sldIdLst>
    <p:sldId xmlns:r="http://schemas.openxmlformats.org/officeDocument/2006/relationships" id="256" r:id="R64a2f2a60504438f"/>
    <p:sldId xmlns:r="http://schemas.openxmlformats.org/officeDocument/2006/relationships" id="257" r:id="R8abd90d1ab9749a3"/>
    <p:sldId xmlns:r="http://schemas.openxmlformats.org/officeDocument/2006/relationships" id="258" r:id="R7b451d12a3b541d9"/>
    <p:sldId xmlns:r="http://schemas.openxmlformats.org/officeDocument/2006/relationships" id="259" r:id="R1671d78428394583"/>
    <p:sldId xmlns:r="http://schemas.openxmlformats.org/officeDocument/2006/relationships" id="260" r:id="Rd89cb3c69d494b23"/>
    <p:sldId xmlns:r="http://schemas.openxmlformats.org/officeDocument/2006/relationships" id="261" r:id="R9b57e0b869eb4ca6"/>
    <p:sldId xmlns:r="http://schemas.openxmlformats.org/officeDocument/2006/relationships" id="262" r:id="Ra6f8089ff2b74378"/>
    <p:sldId xmlns:r="http://schemas.openxmlformats.org/officeDocument/2006/relationships" id="263" r:id="R5c5c5642535f4477"/>
    <p:sldId xmlns:r="http://schemas.openxmlformats.org/officeDocument/2006/relationships" id="264" r:id="R700098ef081a4177"/>
    <p:sldId xmlns:r="http://schemas.openxmlformats.org/officeDocument/2006/relationships" id="265" r:id="Rdf757d8a768e4106"/>
    <p:sldId xmlns:r="http://schemas.openxmlformats.org/officeDocument/2006/relationships" id="266" r:id="R3b19548e2cbb4394"/>
    <p:sldId xmlns:r="http://schemas.openxmlformats.org/officeDocument/2006/relationships" id="267" r:id="Rad6411c1a90a4b61"/>
    <p:sldId xmlns:r="http://schemas.openxmlformats.org/officeDocument/2006/relationships" id="268" r:id="R4fd3d66ff1f8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71d78428394583" Type="http://schemas.openxmlformats.org/officeDocument/2006/relationships/slide" Target="slides/slide4.xml"/><Relationship Id="R23338901d1114282" Type="http://schemas.openxmlformats.org/officeDocument/2006/relationships/slideMaster" Target="slideMasters/slideMaster1.xml"/><Relationship Id="R2702687ea7b148f7" Type="http://schemas.openxmlformats.org/officeDocument/2006/relationships/presProps" Target="presProps.xml"/><Relationship Id="R3b19548e2cbb4394" Type="http://schemas.openxmlformats.org/officeDocument/2006/relationships/slide" Target="slides/slide11.xml"/><Relationship Id="R42bb00d777de4eee" Type="http://schemas.openxmlformats.org/officeDocument/2006/relationships/notesMaster" Target="notesMasters/notesMaster1.xml"/><Relationship Id="R4389341b2c31438c" Type="http://schemas.openxmlformats.org/officeDocument/2006/relationships/tableStyles" Target="tableStyles.xml"/><Relationship Id="R4fd3d66ff1f848aa" Type="http://schemas.openxmlformats.org/officeDocument/2006/relationships/slide" Target="slides/slide13.xml"/><Relationship Id="R5c5c5642535f4477" Type="http://schemas.openxmlformats.org/officeDocument/2006/relationships/slide" Target="slides/slide8.xml"/><Relationship Id="R64a2f2a60504438f" Type="http://schemas.openxmlformats.org/officeDocument/2006/relationships/slide" Target="slides/slide1.xml"/><Relationship Id="R700098ef081a4177" Type="http://schemas.openxmlformats.org/officeDocument/2006/relationships/slide" Target="slides/slide9.xml"/><Relationship Id="R7b451d12a3b541d9" Type="http://schemas.openxmlformats.org/officeDocument/2006/relationships/slide" Target="slides/slide3.xml"/><Relationship Id="R8abd90d1ab9749a3" Type="http://schemas.openxmlformats.org/officeDocument/2006/relationships/slide" Target="slides/slide2.xml"/><Relationship Id="R9b57e0b869eb4ca6" Type="http://schemas.openxmlformats.org/officeDocument/2006/relationships/slide" Target="slides/slide6.xml"/><Relationship Id="Ra6f8089ff2b74378" Type="http://schemas.openxmlformats.org/officeDocument/2006/relationships/slide" Target="slides/slide7.xml"/><Relationship Id="Rad6411c1a90a4b61" Type="http://schemas.openxmlformats.org/officeDocument/2006/relationships/slide" Target="slides/slide12.xml"/><Relationship Id="Rd2145cacb7c647ab" Type="http://schemas.openxmlformats.org/officeDocument/2006/relationships/theme" Target="theme/theme1.xml"/><Relationship Id="Rd89cb3c69d494b23" Type="http://schemas.openxmlformats.org/officeDocument/2006/relationships/slide" Target="slides/slide5.xml"/><Relationship Id="Rdf757d8a768e410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13e8d1471d7144a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c6b8529a918472c" Type="http://schemas.openxmlformats.org/officeDocument/2006/relationships/slide" Target="../slides/slide1.xml"/><Relationship Id="Rdc31c183e854451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726142f34d84fbf" Type="http://schemas.openxmlformats.org/officeDocument/2006/relationships/slide" Target="../slides/slide2.xml"/><Relationship Id="Rc8eb930c39684f3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9c3f4f8bd9b4c85" Type="http://schemas.openxmlformats.org/officeDocument/2006/relationships/notesMaster" Target="../notesMasters/notesMaster1.xml"/><Relationship Id="Rc581034b65b341d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518620f61354252" Type="http://schemas.openxmlformats.org/officeDocument/2006/relationships/slide" Target="../slides/slide4.xml"/><Relationship Id="R982535edb8bc4ff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2699e004cd54ab7" Type="http://schemas.openxmlformats.org/officeDocument/2006/relationships/slide" Target="../slides/slide5.xml"/><Relationship Id="Rab5eb11112c5438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96276c7abb34a2d" Type="http://schemas.openxmlformats.org/officeDocument/2006/relationships/notesMaster" Target="../notesMasters/notesMaster1.xml"/><Relationship Id="R9fa6d202838b452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d9ac57082c94ac7" Type="http://schemas.openxmlformats.org/officeDocument/2006/relationships/slide" Target="../slides/slide7.xml"/><Relationship Id="Rabf31a2259f2481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80dc313028f24c77" Type="http://schemas.openxmlformats.org/officeDocument/2006/relationships/notesMaster" Target="../notesMasters/notesMaster1.xml"/><Relationship Id="Rfc4a748e56844fd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3d4b1b4ae944c41" Type="http://schemas.openxmlformats.org/officeDocument/2006/relationships/notesMaster" Target="../notesMasters/notesMaster1.xml"/><Relationship Id="Rd98d961246cb45d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cc6e569ea284d4d" Type="http://schemas.openxmlformats.org/officeDocument/2006/relationships/slide" Target="../slides/slide10.xml"/><Relationship Id="Ra3eaf0624ec94bce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eeceb1bdd594b73" Type="http://schemas.openxmlformats.org/officeDocument/2006/relationships/slide" Target="../slides/slide11.xml"/><Relationship Id="Rcfb3b06d801c49d5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7c816c6f0b34b00" Type="http://schemas.openxmlformats.org/officeDocument/2006/relationships/slide" Target="../slides/slide12.xml"/><Relationship Id="R60052de1e74c482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c6713dbc35b426f" Type="http://schemas.openxmlformats.org/officeDocument/2006/relationships/slide" Target="../slides/slide13.xml"/><Relationship Id="Rf94bc0e1ccb74de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실습 발표자료 표지.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A의 세 문제가 모두 보이는 출제 화면. 풀이시간 표시는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T=x^2+2y^2+z^2-2xy-4z,\qquad P=(2,1,1)</a:t>
            </a:r>
          </a:p>
          <a:p xmlns:a="http://schemas.openxmlformats.org/drawingml/2006/main">
            <a:r>
              <a:t>\mathbf A=(xz+y)\hat{\mathbf x}+(xy-z)\hat{\mathbf y}+(x^2+y^2)\hat{\mathbf z},\quad f=x+y+z</a:t>
            </a:r>
          </a:p>
          <a:p xmlns:a="http://schemas.openxmlformats.org/drawingml/2006/main">
            <a:r>
              <a:t>\mathbf F=(2xy+z)\hat{\mathbf x}+(x^2+2y)\hat{\mathbf y}+x\hat{\mathbf z},\quad O=(0,0,0),\ Q=(1,2,1)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\nabla T=(2x-2y,\,4y-2x,\,2z-4),\qquad \nabla T(P)=(2,0,-2)</a:t>
            </a:r>
          </a:p>
          <a:p xmlns:a="http://schemas.openxmlformats.org/drawingml/2006/main">
            <a:r>
              <a:t>\hat{\mathbf u}_{\max}=\frac{(1,0,-1)}{\sqrt2},\quad D_{\hat{\mathbf u}_{\max}}T=2\sqrt2,\quad P_0=(0,0,2)\text{ is the global minimum}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A2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\nabla\!\cdot\!\mathbf A=x+z,\qquad \nabla\!\times\!\mathbf A=(2y+1,-x,y-1)</a:t>
            </a:r>
          </a:p>
          <a:p xmlns:a="http://schemas.openxmlformats.org/drawingml/2006/main">
            <a:r>
              <a:t>\nabla\!\cdot(f\mathbf A)=f(\nabla\!\cdot\mathbf A)+\mathbf A\!\cdot\nabla f=2x^2+2xy+3xz+y^2+yz+z^2+y-z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A3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\nabla\!\times\!\mathbf F=\mathbf0,\qquad \Phi=x^2y+xz+y^2+C</a:t>
            </a:r>
          </a:p>
          <a:p xmlns:a="http://schemas.openxmlformats.org/drawingml/2006/main">
            <a:r>
              <a:t>\int_{O}^{Q}\mathbf F\!\cdot\mathrm d\mathbf l=7=\Phi(Q)-\Phi(O)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B의 세 문제가 모두 보이는 출제 화면. 풀이시간 표시는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S=e^x\sin y+xyz^2,\qquad \mathbf B=x^2y\hat{\mathbf x}+yz^2\hat{\mathbf y}+zx^2\hat{\mathbf z}</a:t>
            </a:r>
          </a:p>
          <a:p xmlns:a="http://schemas.openxmlformats.org/drawingml/2006/main">
            <a:r>
              <a:t>0\le z\le2,\quad x\ge0,\ y\ge0,\ x+2y\le2,\qquad \rho=x+y+z</a:t>
            </a:r>
          </a:p>
          <a:p xmlns:a="http://schemas.openxmlformats.org/drawingml/2006/main">
            <a:r>
              <a:t>\mathbf V=x^2\hat{\mathbf x}+2y\hat{\mathbf y}+z^2\hat{\mathbf z},\qquad D:\ 0\le z\le2,\ x\ge0,\ y\ge0,\ x+2y\le2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\nabla^2S=2xy,\qquad \nabla\!\times(\nabla S)=\mathbf0,\qquad \nabla\!\cdot(\nabla\!\times\mathbf B)=0</a:t>
            </a:r>
          </a:p>
          <a:p xmlns:a="http://schemas.openxmlformats.org/drawingml/2006/main">
            <a:r>
              <a:t>\nabla^2S=2xy,\qquad \nabla\!\times(\nabla S)=\mathbf0,\qquad \nabla\!\cdot(\nabla\!\times\mathbf B)=0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B2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\int_0^2\!\int_0^{2-z}\!\int_0^{(2-x)/2}(x+y+z)\,\mathrm dy\,\mathrm dx\,\mathrm dz</a:t>
            </a:r>
          </a:p>
          <a:p xmlns:a="http://schemas.openxmlformats.org/drawingml/2006/main">
            <a:r>
              <a:t>M=\iiint_D(x+y+z)\,\mathrm d\tau=4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B3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\iiint_D(\nabla\!\cdot\mathbf V)\,\mathrm d\tau=\frac{32}{3}</a:t>
            </a:r>
          </a:p>
          <a:p xmlns:a="http://schemas.openxmlformats.org/drawingml/2006/main">
            <a:r>
              <a:t>\iint_{\partial D}\mathbf V\!\cdot\mathrm d\mathbf a=4+\frac{20}{3}=\frac{32}{3}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C의 세 문제가 모두 보이는 출제 화면. 풀이시간 표시는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\mathbf W=(x+z)\hat{\mathbf x}+(y-z)\hat{\mathbf y}+(x+y)\hat{\mathbf z},\qquad z=2-x-y</a:t>
            </a:r>
          </a:p>
          <a:p xmlns:a="http://schemas.openxmlformats.org/drawingml/2006/main">
            <a:r>
              <a:t>\mathbf A=z\hat{\mathbf y}+(x^2+y)\hat{\mathbf z},\qquad S:\ y=1,\ 0\le x\le2,\ 0\le z\le1</a:t>
            </a:r>
          </a:p>
          <a:p xmlns:a="http://schemas.openxmlformats.org/drawingml/2006/main">
            <a:r>
              <a:t>\mathbf G=-\frac y2\hat{\mathbf x}+\frac x2\hat{\mathbf y}+z\hat{\mathbf z},\qquad C:\ x^2+y^2=R^2,\ z=0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C1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\mathrm d\mathbf a=(1,1,1)\,\mathrm dx\,\mathrm dy,\qquad D:\ x\ge0,\ y\ge0,\ x+y\le2</a:t>
            </a:r>
          </a:p>
          <a:p xmlns:a="http://schemas.openxmlformats.org/drawingml/2006/main">
            <a:r>
              <a:t>\iint_S\mathbf W\!\cdot\mathrm d\mathbf a=\frac{16}{3}\quad(+\hat{\mathbf z}\text{ orientation})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C2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\nabla\!\times\mathbf A=(0,-2x,0),\qquad \mathrm d\mathbf a=\hat{\mathbf y}\,\mathrm dx\,\mathrm dz</a:t>
            </a:r>
          </a:p>
          <a:p xmlns:a="http://schemas.openxmlformats.org/drawingml/2006/main">
            <a:r>
              <a:t>\iint_S(\nabla\!\times\mathbf A)\!\cdot\mathrm d\mathbf a=-4=\oint_{\partial S}\mathbf A\!\cdot\mathrm d\mathbf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C3 풀이. 화면의 단계에 맞추어 계산을 전개한다.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\nabla\!\times\mathbf G=\hat{\mathbf z}</a:t>
            </a:r>
          </a:p>
          <a:p xmlns:a="http://schemas.openxmlformats.org/drawingml/2006/main">
            <a:r>
              <a:t>\iint_{S_1}(\nabla\!\times\mathbf G)\!\cdot\mathrm d\mathbf a=\iint_{S_2}(\nabla\!\times\mathbf G)\!\cdot\mathrm d\mathbf a=\pi R^2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Sections 1.2-1.3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82f1e2e04b14b3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ed25baf0e584aac" Type="http://schemas.openxmlformats.org/officeDocument/2006/relationships/slideLayout" Target="../slideLayouts/slideLayout1.xml"/><Relationship Id="Ref5c8edecb324fe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d25baf0e584a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44a156a49647c5" Type="http://schemas.openxmlformats.org/officeDocument/2006/relationships/notesSlide" Target="../notesSlides/notesSlide1.xml"/><Relationship Id="R8faa8e4e953e420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3ed19017e15a439b" Type="http://schemas.openxmlformats.org/officeDocument/2006/relationships/image" Target="../media/image3.png"/><Relationship Id="R738fba1b18e54fdb" Type="http://schemas.openxmlformats.org/officeDocument/2006/relationships/notesSlide" Target="../notesSlides/notesSlide2.xml"/><Relationship Id="R79017b66de4a4955" Type="http://schemas.openxmlformats.org/officeDocument/2006/relationships/image" Target="../media/image2.png"/><Relationship Id="Rb5a0cb71cbea4d51" Type="http://schemas.openxmlformats.org/officeDocument/2006/relationships/image" Target="../media/image.png"/><Relationship Id="Rbab6932339d04a8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6ca5c31b7ad40cc" Type="http://schemas.openxmlformats.org/officeDocument/2006/relationships/notesSlide" Target="../notesSlides/notesSlide3.xml"/><Relationship Id="Ra04ea3fd86b14f70" Type="http://schemas.openxmlformats.org/officeDocument/2006/relationships/image" Target="../media/image5.png"/><Relationship Id="Rab9b4f2efce54399" Type="http://schemas.openxmlformats.org/officeDocument/2006/relationships/slideLayout" Target="../slideLayouts/slideLayout1.xml"/><Relationship Id="Rb319cb77e9d74ae8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0ecfb17689914581" Type="http://schemas.openxmlformats.org/officeDocument/2006/relationships/image" Target="../media/image7.png"/><Relationship Id="R24546e1030ed45ee" Type="http://schemas.openxmlformats.org/officeDocument/2006/relationships/image" Target="../media/image6.png"/><Relationship Id="R2cd90029f5194403" Type="http://schemas.openxmlformats.org/officeDocument/2006/relationships/notesSlide" Target="../notesSlides/notesSlide4.xml"/><Relationship Id="Rdc95996b3375415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545743ff8ab4347" Type="http://schemas.openxmlformats.org/officeDocument/2006/relationships/image" Target="../media/image9.png"/><Relationship Id="R4555797085044807" Type="http://schemas.openxmlformats.org/officeDocument/2006/relationships/notesSlide" Target="../notesSlides/notesSlide5.xml"/><Relationship Id="R77f89be488d445b5" Type="http://schemas.openxmlformats.org/officeDocument/2006/relationships/slideLayout" Target="../slideLayouts/slideLayout1.xml"/><Relationship Id="Rf77409dd6713404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4d9186d4e83343fa" Type="http://schemas.openxmlformats.org/officeDocument/2006/relationships/slideLayout" Target="../slideLayouts/slideLayout1.xml"/><Relationship Id="R4dc6d5771e4342d4" Type="http://schemas.openxmlformats.org/officeDocument/2006/relationships/image" Target="../media/image10.png"/><Relationship Id="R643455d0cec74d90" Type="http://schemas.openxmlformats.org/officeDocument/2006/relationships/image" Target="../media/image11.png"/><Relationship Id="R7966dc7da17b4494" Type="http://schemas.openxmlformats.org/officeDocument/2006/relationships/notesSlide" Target="../notesSlides/notesSlide6.xml"/><Relationship Id="R7cf7fa8b96f840e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0fd386ce43d441f9" Type="http://schemas.openxmlformats.org/officeDocument/2006/relationships/slideLayout" Target="../slideLayouts/slideLayout1.xml"/><Relationship Id="R1696551be20742da" Type="http://schemas.openxmlformats.org/officeDocument/2006/relationships/image" Target="../media/image14.png"/><Relationship Id="Re83a80cd1d124e1b" Type="http://schemas.openxmlformats.org/officeDocument/2006/relationships/image" Target="../media/image13.png"/><Relationship Id="Rfa4537391f2c441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0ea76e6323c4e5b" Type="http://schemas.openxmlformats.org/officeDocument/2006/relationships/slideLayout" Target="../slideLayouts/slideLayout1.xml"/><Relationship Id="R36e0e359386246ae" Type="http://schemas.openxmlformats.org/officeDocument/2006/relationships/image" Target="../media/image16.png"/><Relationship Id="Rf25b2a9ddc334fd6" Type="http://schemas.openxmlformats.org/officeDocument/2006/relationships/image" Target="../media/image15.png"/><Relationship Id="Rf9b65bd1162e434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281ad5f7d8f4b2a" Type="http://schemas.openxmlformats.org/officeDocument/2006/relationships/notesSlide" Target="../notesSlides/notesSlide9.xml"/><Relationship Id="Ra833d9c72c7d4cea" Type="http://schemas.openxmlformats.org/officeDocument/2006/relationships/slideLayout" Target="../slideLayouts/slideLayout1.xml"/><Relationship Id="Rc7cd94ec70374278" Type="http://schemas.openxmlformats.org/officeDocument/2006/relationships/image" Target="../media/image17.png"/><Relationship Id="Rdd78e8205c7041ce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0f532f53ed294d64" Type="http://schemas.openxmlformats.org/officeDocument/2006/relationships/slideLayout" Target="../slideLayouts/slideLayout1.xml"/><Relationship Id="R320be5bb97a14d4d" Type="http://schemas.openxmlformats.org/officeDocument/2006/relationships/image" Target="../media/image20.png"/><Relationship Id="R5e3942e8e13e4451" Type="http://schemas.openxmlformats.org/officeDocument/2006/relationships/notesSlide" Target="../notesSlides/notesSlide10.xml"/><Relationship Id="R7bfc661ffc2e483c" Type="http://schemas.openxmlformats.org/officeDocument/2006/relationships/image" Target="../media/image21.png"/><Relationship Id="Rcfe06596011f477d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2345264ae45c40d7" Type="http://schemas.openxmlformats.org/officeDocument/2006/relationships/image" Target="../media/image22.png"/><Relationship Id="R50253e9d3f644243" Type="http://schemas.openxmlformats.org/officeDocument/2006/relationships/image" Target="../media/image23.png"/><Relationship Id="R568f87d5e53b45c6" Type="http://schemas.openxmlformats.org/officeDocument/2006/relationships/slideLayout" Target="../slideLayouts/slideLayout1.xml"/><Relationship Id="Rb0c233261c97495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35f4b2ed0ba4de8" Type="http://schemas.openxmlformats.org/officeDocument/2006/relationships/image" Target="../media/image24.png"/><Relationship Id="R180228d2edca47f1" Type="http://schemas.openxmlformats.org/officeDocument/2006/relationships/slideLayout" Target="../slideLayouts/slideLayout1.xml"/><Relationship Id="R6b2741f9c5024674" Type="http://schemas.openxmlformats.org/officeDocument/2006/relationships/notesSlide" Target="../notesSlides/notesSlide12.xml"/><Relationship Id="R9352bb012ea0443a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198e129111fa411a" Type="http://schemas.openxmlformats.org/officeDocument/2006/relationships/notesSlide" Target="../notesSlides/notesSlide13.xml"/><Relationship Id="R475d45472b9c48bf" Type="http://schemas.openxmlformats.org/officeDocument/2006/relationships/image" Target="../media/image26.png"/><Relationship Id="R7cebd66ff505459c" Type="http://schemas.openxmlformats.org/officeDocument/2006/relationships/image" Target="../media/image27.png"/><Relationship Id="R8bedaf76b82241b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2988F-C233-47A3-8677-9652EAEB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E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9ECDE0"/>
                </a:solidFill>
                <a:latin typeface="Arial Unicode MS"/>
                <a:ea typeface="Arial Unicode MS"/>
                <a:cs typeface="Arial Unicode MS"/>
              </a:rPr>
              <a:t>전자기학 2026 2학기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E0735-830E-4675-A734-E8B4A33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904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벡터해석학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새 실습문제와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9E9C2-BB84-4DCA-AC4C-D4A3A574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7E6E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D7E6EE"/>
                </a:solidFill>
                <a:latin typeface="Arial Unicode MS"/>
                <a:ea typeface="Arial Unicode MS"/>
                <a:cs typeface="Arial Unicode MS"/>
              </a:rPr>
              <a:t>Griffiths 4판 §1.2-§1.3  ·  세트 A, B,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3376-CE76-4FDC-B560-4C0B6518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/>
              <a:t>계산 → 설명 → 전이  ·  조별 토론형 실습</a:t>
            </a:r>
          </a:p>
        </p:txBody>
      </p:sp>
    </p:spTree>
    <p:extLst>
      <p:ext uri="{BB962C8B-B14F-4D97-AF65-F5344CB8AC3E}">
        <p14:creationId xmlns:p14="http://schemas.microsoft.com/office/powerpoint/2010/main" val="481949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20A03-F4A3-4BC7-88AC-FC3F770D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5417"/>
          </a:bodyPr>
          <a:lstStyle xmlns:a="http://schemas.openxmlformats.org/drawingml/2006/main"/>
          <a:p xmlns:a="http://schemas.openxmlformats.org/drawingml/2006/main">
            <a:r>
              <a:rPr sz="1100"/>
              <a:t>gradient, 보존장과 선적분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C3C41-6922-4E64-99E9-C15DD89C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7212B"/>
                </a:solidFill>
                <a:latin typeface="Arial Unicode MS"/>
                <a:ea typeface="Arial Unicode MS"/>
                <a:cs typeface="Arial Unicode MS"/>
              </a:rPr>
              <a:t>세트 A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62D51-5BBA-4F9D-A980-72BA0456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8AB78-4EE5-4323-8A0C-CDFEB15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01D8B-5DEE-4E77-B6E5-E4A10BFC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04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CALCULATE · 방향미분과 등위면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5FD97-8E48-44EC-96B0-245C5F7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T에 대해 P에서 ∇T, 최대 증가 단위방향과 방향미분을 구하고, P를 지나는 등위면의 접평면을 구하라.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62D31-8282-4759-81A9-F508EBA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977E7-2BEA-4D49-98E4-A22F911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EXPLAIN · 보존장 판정: 세 학생의 주장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7C4B9-3BF9-4BB0-A6D0-BE65BAB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432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A: 퍼텐셜을 찾으면 보존장이다. B: 두 경로 적분이 같으면 보존장이다. C: curl=0이면 충분하다. 각 주장을 판정하고, 필요한 영역 조건과 가장 효율적인 방법을 설명하라.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D626A-993C-4556-AC14-E73C123F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270DE-8B80-445F-896C-F2372B40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TRANSFER · curl=0인데 보존장이 아닐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0D93B-1D8D-41FA-AA28-1B874DA8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아래 장을 원점을 제외한 평면에서 생각한다. 장을 스케치하고 curl을 계산한 뒤, 원점 중심 원 C에서 폐곡선 적분을 구하여 ‘curl=0 ⇒ 보존장’의 조건을 설명하라.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1325880" y="2258568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T = x² + 2y² + z² − 2xy − 4z,     P = (2,1,1)</a:t>
            </a:r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1325880" y="3968496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F = (2xy+z)x̂ + (x²+2y)ŷ + xẑ,     Φ = x²y + xz + y²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1325880" y="566928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F = −y/(x²+y²)x̂ + x/(x²+y²)ŷ,     C: x²+y²=R²</a:t>
            </a:r>
          </a:p>
        </p:txBody>
      </p:sp>
    </p:spTree>
    <p:extLst>
      <p:ext uri="{BB962C8B-B14F-4D97-AF65-F5344CB8AC3E}">
        <p14:creationId xmlns:p14="http://schemas.microsoft.com/office/powerpoint/2010/main" val="596483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3A66A-6AAE-4439-8CAF-57668C0B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A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A82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C5CAC-EB9A-4CA9-ADCD-A781E15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A1 풀이  CALCULATE · 방향미분과 등위면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C069D-8FA5-476A-998B-F9C63C3E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95F0-2CEC-4AE7-B03F-6CA3134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∇T=(2x−2y, 4y−2x, 2z−4).</a:t>
            </a:r>
          </a:p>
          <a:p xmlns:a="http://schemas.openxmlformats.org/drawingml/2006/main">
            <a:r>
              <a:rPr sz="1700"/>
              <a:t>② P에서 |∇T|=2√2이므로 최대 방향미분은 2√2이다.</a:t>
            </a:r>
          </a:p>
          <a:p xmlns:a="http://schemas.openxmlformats.org/drawingml/2006/main">
            <a:r>
              <a:rPr sz="1700"/>
              <a:t>③ 등위면의 법선은 ∇T(P)와 평행하다.</a:t>
            </a:r>
          </a:p>
          <a:p xmlns:a="http://schemas.openxmlformats.org/drawingml/2006/main">
            <a:r>
              <a:rPr sz="1700"/>
              <a:t>④ T(P)=−1이므로 접평면은 2(x−2)−2(z−1)=0, 즉 x−z=1.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∇T(P) = (2,0,−2),     ûmax = (1,0,−1)/√2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D_ûmax T = 2√2,     tangent plane: x − z = 1</a:t>
            </a:r>
          </a:p>
        </p:txBody>
      </p:sp>
    </p:spTree>
    <p:extLst>
      <p:ext uri="{BB962C8B-B14F-4D97-AF65-F5344CB8AC3E}">
        <p14:creationId xmlns:p14="http://schemas.microsoft.com/office/powerpoint/2010/main" val="1537960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80094-4F8E-4D0F-A65D-60F57B25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A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A82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1B4D8-B875-4001-9291-A7BEE475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A2 풀이  EXPLAIN · 보존장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B372F-C9D6-4F3E-AC78-DFB0EFCE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54151-391A-4316-B29A-50931CC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A의 퍼텐셜은 실제로 ∇Φ=F이므로 가장 직접적인 증명이다.</a:t>
            </a:r>
          </a:p>
          <a:p xmlns:a="http://schemas.openxmlformats.org/drawingml/2006/main">
            <a:r>
              <a:rPr sz="1700"/>
              <a:t>② 두 특정 경로의 적분이 같다는 사실만으로 모든 경로에 대한 독립성은 증명되지 않는다.</a:t>
            </a:r>
          </a:p>
          <a:p xmlns:a="http://schemas.openxmlformats.org/drawingml/2006/main">
            <a:r>
              <a:rPr sz="1700"/>
              <a:t>③ curl=0은 단순연결 영역에서는 보존장을 보장한다.</a:t>
            </a:r>
          </a:p>
          <a:p xmlns:a="http://schemas.openxmlformats.org/drawingml/2006/main">
            <a:r>
              <a:rPr sz="1700"/>
              <a:t>④ 이 문제에서는 퍼텐셜을 직접 확인하거나 curl과 영역 조건을 함께 쓰는 것이 효율적이다.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∇×F = 0,     Φ = x²y + xz + y² + C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핵심: curl-free + 적절한 영역 조건 ⇒ conservative</a:t>
            </a:r>
          </a:p>
        </p:txBody>
      </p:sp>
    </p:spTree>
    <p:extLst>
      <p:ext uri="{BB962C8B-B14F-4D97-AF65-F5344CB8AC3E}">
        <p14:creationId xmlns:p14="http://schemas.microsoft.com/office/powerpoint/2010/main" val="1093571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907C4-A287-4B8B-9037-9F4098B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A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5A82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AE07C-5FC1-4B6F-99C5-95488C7C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A3 풀이  TRANSFER · curl-free의 함정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3B9B9-261A-4553-93F7-6E62CCE7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EB63E-CDE1-447F-8E38-E97CAED4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장은 원점을 중심으로 원주 방향을 돈다.</a:t>
            </a:r>
          </a:p>
          <a:p xmlns:a="http://schemas.openxmlformats.org/drawingml/2006/main">
            <a:r>
              <a:rPr sz="1700"/>
              <a:t>② 원점을 제외한 모든 점에서 curl은 0이다.</a:t>
            </a:r>
          </a:p>
          <a:p xmlns:a="http://schemas.openxmlformats.org/drawingml/2006/main">
            <a:r>
              <a:rPr sz="1700"/>
              <a:t>③ C에서 dl=R dφ φ̂, F=(1/R)φ̂이므로 ∮F·dl=∫₀²πdφ=2π.</a:t>
            </a:r>
          </a:p>
          <a:p xmlns:a="http://schemas.openxmlformats.org/drawingml/2006/main">
            <a:r>
              <a:rPr sz="1700"/>
              <a:t>④ 영역에 원점이라는 구멍이 있어 단순연결이 아니므로 모순이 아니다.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F = (1/r)φ̂,     ∇×F = 0   (r≠0)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∮_C F·dl = 2π ≠ 0</a:t>
            </a:r>
          </a:p>
        </p:txBody>
      </p:sp>
    </p:spTree>
    <p:extLst>
      <p:ext uri="{BB962C8B-B14F-4D97-AF65-F5344CB8AC3E}">
        <p14:creationId xmlns:p14="http://schemas.microsoft.com/office/powerpoint/2010/main" val="424728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737FD-579B-4FCD-9C98-FE5D3F1E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5417"/>
          </a:bodyPr>
          <a:lstStyle xmlns:a="http://schemas.openxmlformats.org/drawingml/2006/main"/>
          <a:p xmlns:a="http://schemas.openxmlformats.org/drawingml/2006/main">
            <a:r>
              <a:rPr sz="1100"/>
              <a:t>발산과 발산정리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E0D47-DB4D-4001-9C46-3DFA979D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7212B"/>
                </a:solidFill>
                <a:latin typeface="Arial Unicode MS"/>
                <a:ea typeface="Arial Unicode MS"/>
                <a:cs typeface="Arial Unicode MS"/>
              </a:rPr>
              <a:t>세트 B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E9306-FC43-477F-89A5-35EAD524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FA65B-CBE1-476E-8047-21139D1F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0A159-81EB-4723-AB58-1BFB1389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04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CALCULATE · 상자에서 발산정리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1E82E-1ECB-4BCA-852E-788DB8C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직육면체의 여섯 면에서 바깥쪽 플럭스를 직접 계산하라. 이어서 ∭(∇·V)dτ를 계산하여 발산정리를 확인하라.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C9A7C-91D7-4704-88FD-4F64C26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75F70-567D-406D-86CC-4F558828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EXPLAIN · 직접 적분인가, 발산정리인가?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49292-9D41-4D89-A2C7-26C88821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432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구면 S에서 플럭스를 구하려 한다. 구면을 직접 매개화하는 방법과 발산정리를 쓰는 방법을 비교하고, 계산 전에 어느 방법이 더 효율적인지 설명한 뒤 실제 값을 구하라.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382C9-D42D-411A-B44C-465A0CF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23940-8E8D-481C-A7B2-48174FA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TRANSFER · 내부에 구멍이 있는 영역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29434-7E23-446E-A599-D07662C1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a&lt;r&lt;b에서 ∇·F와 두 구면의 플럭스를 구하라. 특히 내부 경계의 ‘바깥쪽 법선’ 방향을 설명하고, a→0일 때 무엇이 달라지는지 토론하라.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1325880" y="2258568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V = x²x̂ + y²ŷ + z²ẑ,     0≤x≤a, 0≤y≤b, 0≤z≤c</a:t>
            </a:r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1325880" y="3968496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A = (x³+yz)x̂ + (y³+zx)ŷ + (z³+xy)ẑ,     S: x²+y²+z²=R²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1325880" y="566928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F = r̂/r²,     a &lt; r &lt; b</a:t>
            </a:r>
          </a:p>
        </p:txBody>
      </p:sp>
    </p:spTree>
    <p:extLst>
      <p:ext uri="{BB962C8B-B14F-4D97-AF65-F5344CB8AC3E}">
        <p14:creationId xmlns:p14="http://schemas.microsoft.com/office/powerpoint/2010/main" val="977027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F25D8-570E-4858-870E-2CFA9B18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97486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26767-4DEA-43FE-8626-E7601C6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B1 풀이  CALCULATE · 상자에서 발산정리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28865-A4AE-407B-BCCD-32625DA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AB8D2-9596-4FBC-A6C7-55E92BDF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x=0, y=0, z=0 면의 플럭스는 0이다.</a:t>
            </a:r>
          </a:p>
          <a:p xmlns:a="http://schemas.openxmlformats.org/drawingml/2006/main">
            <a:r>
              <a:rPr sz="1700"/>
              <a:t>② x=a 면: a²bc, y=b 면: ab²c, z=c 면: abc².</a:t>
            </a:r>
          </a:p>
          <a:p xmlns:a="http://schemas.openxmlformats.org/drawingml/2006/main">
            <a:r>
              <a:rPr sz="1700"/>
              <a:t>③ 따라서 전체 플럭스는 abc(a+b+c).</a:t>
            </a:r>
          </a:p>
          <a:p xmlns:a="http://schemas.openxmlformats.org/drawingml/2006/main">
            <a:r>
              <a:rPr sz="1700"/>
              <a:t>④ 체적분 ∭(2x+2y+2z)dτ도 같은 값을 준다.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∇·V = 2x + 2y + 2z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∯_S V·da = ∭_V(∇·V)dτ = abc(a+b+c)</a:t>
            </a:r>
          </a:p>
        </p:txBody>
      </p:sp>
    </p:spTree>
    <p:extLst>
      <p:ext uri="{BB962C8B-B14F-4D97-AF65-F5344CB8AC3E}">
        <p14:creationId xmlns:p14="http://schemas.microsoft.com/office/powerpoint/2010/main" val="715454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32DEB-14B0-4181-A62F-7D39B52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97486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BFA06-E8F7-4291-A221-403F1BF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B2 풀이  EXPLAIN · 어느 방법이 더 쉬운가?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7B6B0-C0DD-40BE-881A-528F6ED1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8AAA7-7A4C-4CC5-8C82-DF87635D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직접 구면 적분은 각 성분과 법선의 내적을 다루어야 한다.</a:t>
            </a:r>
          </a:p>
          <a:p xmlns:a="http://schemas.openxmlformats.org/drawingml/2006/main">
            <a:r>
              <a:rPr sz="1700"/>
              <a:t>② 발산정리를 쓰면 구 내부에서 3r²만 적분하면 된다.</a:t>
            </a:r>
          </a:p>
          <a:p xmlns:a="http://schemas.openxmlformats.org/drawingml/2006/main">
            <a:r>
              <a:rPr sz="1700"/>
              <a:t>③ 구면대칭으로 dτ=4πr²dr를 사용한다.</a:t>
            </a:r>
          </a:p>
          <a:p xmlns:a="http://schemas.openxmlformats.org/drawingml/2006/main">
            <a:r>
              <a:rPr sz="1700"/>
              <a:t>④ ∫₀ᴿ3r²·4πr²dr = 12πR⁵/5.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∇·A = 3(x²+y²+z²) = 3r²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∯_S A·da = 12πR⁵/5</a:t>
            </a:r>
          </a:p>
        </p:txBody>
      </p:sp>
    </p:spTree>
    <p:extLst>
      <p:ext uri="{BB962C8B-B14F-4D97-AF65-F5344CB8AC3E}">
        <p14:creationId xmlns:p14="http://schemas.microsoft.com/office/powerpoint/2010/main" val="35521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3A5D5-0C92-42DF-92DF-C58EBE2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97486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A0D0A-6459-4659-9734-BB0E3168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B3 풀이  TRANSFER · 내부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B347C-28B4-439B-9EFA-35BA08D2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86289-6EA0-4467-965E-60543307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바깥 구면 r=b의 법선은 +r̂이므로 플럭스는 +4π.</a:t>
            </a:r>
          </a:p>
          <a:p xmlns:a="http://schemas.openxmlformats.org/drawingml/2006/main">
            <a:r>
              <a:rPr sz="1700"/>
              <a:t>② 내부 구면 r=a에서 영역의 바깥쪽 법선은 −r̂이므로 플럭스는 −4π.</a:t>
            </a:r>
          </a:p>
          <a:p xmlns:a="http://schemas.openxmlformats.org/drawingml/2006/main">
            <a:r>
              <a:rPr sz="1700"/>
              <a:t>③ 따라서 닫힌 경계의 총 플럭스는 0으로 체적분과 일치한다.</a:t>
            </a:r>
          </a:p>
          <a:p xmlns:a="http://schemas.openxmlformats.org/drawingml/2006/main">
            <a:r>
              <a:rPr sz="1700"/>
              <a:t>④ a→0에서 원점을 포함시키면 F가 특이해져 보통의 발산 계산만으로는 충분하지 않다.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∇·F = 0   (a&lt;r&lt;b)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Φ_outer = +4π,     Φ_inner = −4π,     Φ_total = 0</a:t>
            </a:r>
          </a:p>
        </p:txBody>
      </p:sp>
    </p:spTree>
    <p:extLst>
      <p:ext uri="{BB962C8B-B14F-4D97-AF65-F5344CB8AC3E}">
        <p14:creationId xmlns:p14="http://schemas.microsoft.com/office/powerpoint/2010/main" val="1288984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DBA20-8403-4E07-AD39-002C088D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5417"/>
          </a:bodyPr>
          <a:lstStyle xmlns:a="http://schemas.openxmlformats.org/drawingml/2006/main"/>
          <a:p xmlns:a="http://schemas.openxmlformats.org/drawingml/2006/main">
            <a:r>
              <a:rPr sz="1100"/>
              <a:t>Stokes 정리, 방향과 면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0522F-41A8-4397-92C2-4D9A91B8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7212B"/>
                </a:solidFill>
                <a:latin typeface="Arial Unicode MS"/>
                <a:ea typeface="Arial Unicode MS"/>
                <a:cs typeface="Arial Unicode MS"/>
              </a:rPr>
              <a:t>세트 C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DB997-21BA-4510-ACBC-5F829FF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F2E38-EBB1-4CE6-B672-7D4A4748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C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2FC98-8F8C-40A1-AAB1-C19B991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04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CALCULATE · Stokes 정리 직접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A001B-724A-417D-A08F-B86E1A1C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주어진 직사각형 면에서 ∬(∇×A)·da와 경계의 ∮A·dl을 각각 계산하여 Stokes 정리를 직접 확인하라.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08D98-5EE6-498F-82FE-A4AC1FA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C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C8D99-9467-45EB-B5FD-30D55D49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EXPLAIN · 방향 오류를 찾아라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A74A3-4FDE-4E5C-992E-1BBB915C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432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“위쪽 반구의 바깥쪽 법선을 택하면 +z에서 본 경계는 시계방향이다.” 이 주장에 포함된 오류를 찾고, 법선과 경계 방향의 관계를 오른손법칙으로 설명하라.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2165A-F7DC-4774-9301-54525476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C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613E5-B7BA-45FB-8490-155D2AB0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1481"/>
          </a:bodyPr>
          <a:lstStyle xmlns:a="http://schemas.openxmlformats.org/drawingml/2006/main"/>
          <a:p xmlns:a="http://schemas.openxmlformats.org/drawingml/2006/main">
            <a:r>
              <a:rPr sz="1800" b="1"/>
              <a:t>TRANSFER · 가장 쉬운 면을 선택하라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528F3-8B16-4DED-8A3B-CE332BF0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/>
              <a:t>원형 경계 C의 선적분을 Stokes 정리로 구하라. 원판·위쪽 반구·같은 경계를 갖는 다른 면 중 가장 쉬운 면을 선택하고, 왜 면을 바꾸어도 되는지 설명하라.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1325880" y="2258568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A = zŷ + (x²+y)ẑ,     S: y=1, 0≤x≤2, 0≤z≤1,     n̂=+ŷ</a:t>
            </a:r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1325880" y="3968496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오류 진단:  n̂ ↔ C의 방향을 오른손법칙으로 연결하라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1325880" y="566928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>
                <a:solidFill>
                  <a:srgbClr val="1E2630"/>
                </a:solidFill>
                <a:latin typeface="Cambria Math"/>
              </a:rPr>
              <a:t>A = −(y/2)x̂ + (x/2)ŷ + zẑ,     C: x²+y²=R², z=0 (CCW)</a:t>
            </a:r>
          </a:p>
        </p:txBody>
      </p:sp>
    </p:spTree>
    <p:extLst>
      <p:ext uri="{BB962C8B-B14F-4D97-AF65-F5344CB8AC3E}">
        <p14:creationId xmlns:p14="http://schemas.microsoft.com/office/powerpoint/2010/main" val="535571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7B5D5-0F5E-46F2-952A-A7DC2E6C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5C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85C26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B8E37-F5BD-4BD4-9308-69196C4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C1 풀이  CALCULATE · Stokes 직접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FB74B-B92B-4F1E-BCFB-D865FF41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86AD2-1016-40C2-95CF-4643F57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면적분은 ∫₀¹∫₀²(−2x) dx dz = −4.</a:t>
            </a:r>
          </a:p>
          <a:p xmlns:a="http://schemas.openxmlformats.org/drawingml/2006/main">
            <a:r>
              <a:rPr sz="1700"/>
              <a:t>② +ŷ에서 보아 경계 방향을 오른손법칙에 맞게 정한다.</a:t>
            </a:r>
          </a:p>
          <a:p xmlns:a="http://schemas.openxmlformats.org/drawingml/2006/main">
            <a:r>
              <a:rPr sz="1700"/>
              <a:t>③ 네 변의 선적분을 방향에 맞추어 더하면 −4가 된다.</a:t>
            </a:r>
          </a:p>
          <a:p xmlns:a="http://schemas.openxmlformats.org/drawingml/2006/main">
            <a:r>
              <a:rPr sz="1700"/>
              <a:t>④ 따라서 선적분과 curl의 면적분이 일치한다.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∇×A = (0,−2x,0),     da = ŷ dx dz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∬_S(∇×A)·da = −4 = ∮_C A·dl</a:t>
            </a:r>
          </a:p>
        </p:txBody>
      </p:sp>
    </p:spTree>
    <p:extLst>
      <p:ext uri="{BB962C8B-B14F-4D97-AF65-F5344CB8AC3E}">
        <p14:creationId xmlns:p14="http://schemas.microsoft.com/office/powerpoint/2010/main" val="349891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7BCC2-7563-4233-BB70-DCA74AA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5C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85C26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AAE74-0C29-4936-B165-1FEEC16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C2 풀이  EXPLAIN · 방향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EFCCA-B24D-4956-95E5-D9514479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38707-0614-40D5-A654-28489BEF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오른손 엄지를 바깥쪽 법선 방향으로 두면 손가락이 경계의 양의 방향을 정한다.</a:t>
            </a:r>
          </a:p>
          <a:p xmlns:a="http://schemas.openxmlformats.org/drawingml/2006/main">
            <a:r>
              <a:rPr sz="1700"/>
              <a:t>② 따라서 ‘시계방향’이라는 주장은 반대이다.</a:t>
            </a:r>
          </a:p>
          <a:p xmlns:a="http://schemas.openxmlformats.org/drawingml/2006/main">
            <a:r>
              <a:rPr sz="1700"/>
              <a:t>③ C만 뒤집으면 선적분의 부호만 바뀌어 Stokes 관계가 깨진다.</a:t>
            </a:r>
          </a:p>
          <a:p xmlns:a="http://schemas.openxmlformats.org/drawingml/2006/main">
            <a:r>
              <a:rPr sz="1700"/>
              <a:t>④ 법선도 함께 뒤집으면 면적분 역시 부호가 바뀌어 정리가 다시 성립한다.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바깥쪽 upper-hemisphere normal ⇒ +z에서 본 C는 반시계방향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orientation은 n̂과 C를 한 쌍으로 정해야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1080464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6CD17-9C03-4AC8-B14A-6D3FAB32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5C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85C26"/>
                </a:solidFill>
                <a:latin typeface="Arial Unicode MS"/>
                <a:ea typeface="Arial Unicode MS"/>
                <a:cs typeface="Arial Unicode MS"/>
              </a:rPr>
              <a:t>문제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52DA7-DC32-4230-BFDD-F0EE8E2B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1"/>
              <a:t>C3 풀이  TRANSFER · 면을 선택하는 자유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F5407-0B16-4B76-83E5-D83A226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A6877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11486-7B90-4241-8B6E-23C86F0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514600"/>
            <a:ext cx="10378440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/>
              <a:t>① 경계가 같은 면 중 평면 원판이 가장 쉽다.</a:t>
            </a:r>
          </a:p>
          <a:p xmlns:a="http://schemas.openxmlformats.org/drawingml/2006/main">
            <a:r>
              <a:rPr sz="1700"/>
              <a:t>② 원판에서 n̂=+ẑ이므로 ∬(∇×A)·da=∬da=πR².</a:t>
            </a:r>
          </a:p>
          <a:p xmlns:a="http://schemas.openxmlformats.org/drawingml/2006/main">
            <a:r>
              <a:rPr sz="1700"/>
              <a:t>③ Stokes 정리는 선적분을 선택한 spanning surface의 curl 플럭스로 바꾼다.</a:t>
            </a:r>
          </a:p>
          <a:p xmlns:a="http://schemas.openxmlformats.org/drawingml/2006/main">
            <a:r>
              <a:rPr sz="1700"/>
              <a:t>④ 장이 필요한 영역에서 매끄럽고 경계·방향이 같다면 더 편한 면으로 바꿀 수 있다.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777240" y="1417320"/>
            <a:ext cx="1065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1E2630"/>
                </a:solidFill>
                <a:latin typeface="Cambria Math"/>
              </a:rPr>
              <a:t>∇×A = ẑ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1E2630"/>
                </a:solidFill>
                <a:latin typeface="Cambria Math"/>
              </a:rPr>
              <a:t>∮_C A·dl = πR²</a:t>
            </a:r>
          </a:p>
        </p:txBody>
      </p:sp>
    </p:spTree>
    <p:extLst>
      <p:ext uri="{BB962C8B-B14F-4D97-AF65-F5344CB8AC3E}">
        <p14:creationId xmlns:p14="http://schemas.microsoft.com/office/powerpoint/2010/main" val="1583000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2026-09-13T02:25:27.4280000Z</dcterms:created>
  <dcterms:modified xsi:type="dcterms:W3CDTF">2026-09-13T02:25:27.4280000Z</dcterms:modified>
</coreProperties>
</file>